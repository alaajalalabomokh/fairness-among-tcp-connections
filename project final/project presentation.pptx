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71" r:id="rId3"/>
    <p:sldId id="257" r:id="rId4"/>
    <p:sldId id="258" r:id="rId5"/>
    <p:sldId id="259" r:id="rId6"/>
    <p:sldId id="260" r:id="rId7"/>
    <p:sldId id="261" r:id="rId8"/>
    <p:sldId id="262" r:id="rId9"/>
    <p:sldId id="265" r:id="rId10"/>
    <p:sldId id="266" r:id="rId11"/>
    <p:sldId id="268" r:id="rId12"/>
    <p:sldId id="269" r:id="rId13"/>
    <p:sldId id="272" r:id="rId14"/>
    <p:sldId id="273" r:id="rId15"/>
    <p:sldId id="274" r:id="rId16"/>
    <p:sldId id="275" r:id="rId17"/>
    <p:sldId id="276" r:id="rId18"/>
    <p:sldId id="277" r:id="rId19"/>
    <p:sldId id="285" r:id="rId20"/>
    <p:sldId id="287" r:id="rId21"/>
    <p:sldId id="286" r:id="rId22"/>
    <p:sldId id="281" r:id="rId23"/>
    <p:sldId id="288" r:id="rId24"/>
  </p:sldIdLst>
  <p:sldSz cx="14630400" cy="8229600"/>
  <p:notesSz cx="8229600" cy="14630400"/>
  <p:embeddedFontLst>
    <p:embeddedFont>
      <p:font typeface="Mukta Light" panose="020B0604020202020204" charset="0"/>
      <p:regular r:id="rId26"/>
    </p:embeddedFont>
    <p:embeddedFont>
      <p:font typeface="Calibri" panose="020F0502020204030204" pitchFamily="34" charset="0"/>
      <p:regular r:id="rId27"/>
      <p:bold r:id="rId28"/>
      <p:italic r:id="rId29"/>
      <p:boldItalic r:id="rId30"/>
    </p:embeddedFont>
    <p:embeddedFont>
      <p:font typeface="Prompt Medium" panose="020B0604020202020204" charset="0"/>
      <p:regular r:id="rId31"/>
    </p:embeddedFont>
  </p:embeddedFontLst>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5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2430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99223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5058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60879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81675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90123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94230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22497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628961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858240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130300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92488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958935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556158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4102677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2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5861252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3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041276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3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782617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3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6063135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3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4464862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40416771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950386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3.xml"/><Relationship Id="rId6" Type="http://schemas.openxmlformats.org/officeDocument/2006/relationships/image" Target="../media/image58.png"/><Relationship Id="rId5" Type="http://schemas.openxmlformats.org/officeDocument/2006/relationships/image" Target="../media/image49.png"/><Relationship Id="rId10" Type="http://schemas.openxmlformats.org/officeDocument/2006/relationships/image" Target="../media/image62.png"/><Relationship Id="rId4" Type="http://schemas.openxmlformats.org/officeDocument/2006/relationships/image" Target="../media/image57.png"/><Relationship Id="rId9" Type="http://schemas.openxmlformats.org/officeDocument/2006/relationships/image" Target="../media/image61.png"/></Relationships>
</file>

<file path=ppt/slides/_rels/slide2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25.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1.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image" Target="../media/image74.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computer-networks/what-is-transmission-control-protocol-tcp/" TargetMode="External"/><Relationship Id="rId7" Type="http://schemas.openxmlformats.org/officeDocument/2006/relationships/hyperlink" Target="https://ieeexplore.ieee.org/document/8549505" TargetMode="External"/><Relationship Id="rId2" Type="http://schemas.openxmlformats.org/officeDocument/2006/relationships/hyperlink" Target="https://github.com/alaajalalabomokh/Fairness-among-TCP-connections.git" TargetMode="External"/><Relationship Id="rId1" Type="http://schemas.openxmlformats.org/officeDocument/2006/relationships/slideLayout" Target="../slideLayouts/slideLayout26.xml"/><Relationship Id="rId6" Type="http://schemas.openxmlformats.org/officeDocument/2006/relationships/hyperlink" Target="https://docs.kernel.org/networking/dctcp.html" TargetMode="External"/><Relationship Id="rId5" Type="http://schemas.openxmlformats.org/officeDocument/2006/relationships/hyperlink" Target="https://www.rfc-editor.org/rfc/rfc6582" TargetMode="External"/><Relationship Id="rId4" Type="http://schemas.openxmlformats.org/officeDocument/2006/relationships/hyperlink" Target="https://web.archive.org/web/20150726051512/http:/www4.ncsu.edu/~rhee/export/bitcp/cubic-paper.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3027878"/>
            <a:ext cx="7415927" cy="1371600"/>
          </a:xfrm>
          <a:prstGeom prst="rect">
            <a:avLst/>
          </a:prstGeom>
          <a:noFill/>
          <a:ln/>
        </p:spPr>
        <p:txBody>
          <a:bodyPr wrap="squar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Fairness among TCP connections</a:t>
            </a:r>
            <a:endParaRPr lang="en-US" sz="4300" dirty="0"/>
          </a:p>
        </p:txBody>
      </p:sp>
      <p:sp>
        <p:nvSpPr>
          <p:cNvPr id="10" name="Text 4"/>
          <p:cNvSpPr/>
          <p:nvPr/>
        </p:nvSpPr>
        <p:spPr>
          <a:xfrm>
            <a:off x="864037" y="4985742"/>
            <a:ext cx="1955363" cy="431959"/>
          </a:xfrm>
          <a:prstGeom prst="rect">
            <a:avLst/>
          </a:prstGeom>
          <a:noFill/>
          <a:ln/>
        </p:spPr>
        <p:txBody>
          <a:bodyPr wrap="none" lIns="0" tIns="0" rIns="0" bIns="0" rtlCol="0" anchor="t"/>
          <a:lstStyle/>
          <a:p>
            <a:pPr marL="0" indent="0" algn="l">
              <a:lnSpc>
                <a:spcPts val="3400"/>
              </a:lnSpc>
              <a:buNone/>
            </a:pPr>
            <a:r>
              <a:rPr lang="en-US" sz="2800" b="1" dirty="0" smtClean="0">
                <a:solidFill>
                  <a:srgbClr val="DAD8E9"/>
                </a:solidFill>
                <a:latin typeface="Mukta Bold" pitchFamily="34" charset="0"/>
                <a:ea typeface="Mukta Bold" pitchFamily="34" charset="-122"/>
                <a:cs typeface="Mukta Bold" pitchFamily="34" charset="-120"/>
              </a:rPr>
              <a:t>Alaa Abo </a:t>
            </a:r>
            <a:r>
              <a:rPr lang="en-US" sz="2800" b="1" dirty="0" err="1">
                <a:solidFill>
                  <a:srgbClr val="DAD8E9"/>
                </a:solidFill>
                <a:latin typeface="Mukta Bold" pitchFamily="34" charset="0"/>
                <a:ea typeface="Mukta Bold" pitchFamily="34" charset="-122"/>
                <a:cs typeface="Mukta Bold" pitchFamily="34" charset="-120"/>
              </a:rPr>
              <a:t>M</a:t>
            </a:r>
            <a:r>
              <a:rPr lang="en-US" sz="2800" b="1" dirty="0" err="1" smtClean="0">
                <a:solidFill>
                  <a:srgbClr val="DAD8E9"/>
                </a:solidFill>
                <a:latin typeface="Mukta Bold" pitchFamily="34" charset="0"/>
                <a:ea typeface="Mukta Bold" pitchFamily="34" charset="-122"/>
                <a:cs typeface="Mukta Bold" pitchFamily="34" charset="-120"/>
              </a:rPr>
              <a:t>okh</a:t>
            </a:r>
            <a:endParaRPr lang="en-US" sz="2800" b="1" dirty="0" smtClean="0">
              <a:solidFill>
                <a:srgbClr val="DAD8E9"/>
              </a:solidFill>
              <a:latin typeface="Mukta Bold" pitchFamily="34" charset="0"/>
              <a:ea typeface="Mukta Bold" pitchFamily="34" charset="-122"/>
              <a:cs typeface="Mukta Bold" pitchFamily="34" charset="-120"/>
            </a:endParaRPr>
          </a:p>
          <a:p>
            <a:pPr marL="0" indent="0" algn="l" rtl="0">
              <a:lnSpc>
                <a:spcPts val="3400"/>
              </a:lnSpc>
              <a:buNone/>
            </a:pPr>
            <a:r>
              <a:rPr lang="en-US" sz="2800" b="1" dirty="0" smtClean="0">
                <a:solidFill>
                  <a:srgbClr val="DAD8E9"/>
                </a:solidFill>
                <a:latin typeface="Mukta Bold" pitchFamily="34" charset="0"/>
                <a:ea typeface="Mukta Bold" pitchFamily="34" charset="-122"/>
              </a:rPr>
              <a:t>Adan </a:t>
            </a:r>
            <a:r>
              <a:rPr lang="en-US" sz="2800" b="1" dirty="0" err="1" smtClean="0">
                <a:solidFill>
                  <a:srgbClr val="DAD8E9"/>
                </a:solidFill>
                <a:latin typeface="Mukta Bold" pitchFamily="34" charset="0"/>
                <a:ea typeface="Mukta Bold" pitchFamily="34" charset="-122"/>
              </a:rPr>
              <a:t>Jbara</a:t>
            </a:r>
            <a:endParaRPr lang="en-US" sz="2800" b="1" dirty="0" smtClean="0">
              <a:solidFill>
                <a:srgbClr val="DAD8E9"/>
              </a:solidFill>
              <a:latin typeface="Mukta Bold" pitchFamily="34" charset="0"/>
              <a:ea typeface="Mukta Bold" pitchFamily="34" charset="-122"/>
            </a:endParaRPr>
          </a:p>
          <a:p>
            <a:pPr marL="0" indent="0" algn="l">
              <a:lnSpc>
                <a:spcPts val="3400"/>
              </a:lnSpc>
              <a:buNone/>
            </a:pPr>
            <a:r>
              <a:rPr lang="en-US" sz="2800" b="1" dirty="0" smtClean="0">
                <a:solidFill>
                  <a:srgbClr val="DAD8E9"/>
                </a:solidFill>
                <a:latin typeface="Mukta Bold" pitchFamily="34" charset="0"/>
                <a:ea typeface="Mukta Bold" pitchFamily="34" charset="-122"/>
              </a:rPr>
              <a:t>Adan Wattad</a:t>
            </a:r>
            <a:endParaRPr 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65021" y="0"/>
            <a:ext cx="5465379" cy="8198069"/>
          </a:xfrm>
          <a:prstGeom prst="rect">
            <a:avLst/>
          </a:prstGeom>
        </p:spPr>
      </p:pic>
      <p:sp>
        <p:nvSpPr>
          <p:cNvPr id="4" name="Text 0"/>
          <p:cNvSpPr/>
          <p:nvPr/>
        </p:nvSpPr>
        <p:spPr>
          <a:xfrm>
            <a:off x="864037" y="1103114"/>
            <a:ext cx="5486400" cy="685800"/>
          </a:xfrm>
          <a:prstGeom prst="rect">
            <a:avLst/>
          </a:prstGeom>
          <a:noFill/>
          <a:ln/>
        </p:spPr>
        <p:txBody>
          <a:bodyPr wrap="none" lIns="0" tIns="0" rIns="0" bIns="0" rtlCol="0" anchor="t"/>
          <a:lstStyle/>
          <a:p>
            <a:pPr marL="0" indent="0" algn="l">
              <a:lnSpc>
                <a:spcPts val="5400"/>
              </a:lnSpc>
              <a:buNone/>
            </a:pPr>
            <a:r>
              <a:rPr lang="en-US" sz="4300" dirty="0" smtClean="0">
                <a:solidFill>
                  <a:srgbClr val="C6BFEE"/>
                </a:solidFill>
                <a:latin typeface="Prompt Medium" pitchFamily="34" charset="0"/>
                <a:cs typeface="Prompt Medium" pitchFamily="34" charset="-120"/>
              </a:rPr>
              <a:t>Project Goals</a:t>
            </a:r>
            <a:endParaRPr lang="en-US" sz="4300" dirty="0"/>
          </a:p>
        </p:txBody>
      </p:sp>
      <p:sp>
        <p:nvSpPr>
          <p:cNvPr id="6" name="Text 2"/>
          <p:cNvSpPr/>
          <p:nvPr/>
        </p:nvSpPr>
        <p:spPr>
          <a:xfrm>
            <a:off x="864037" y="2192154"/>
            <a:ext cx="8098952" cy="2002208"/>
          </a:xfrm>
          <a:prstGeom prst="rect">
            <a:avLst/>
          </a:prstGeom>
          <a:noFill/>
          <a:ln/>
        </p:spPr>
        <p:txBody>
          <a:bodyPr wrap="square" lIns="0" tIns="0" rIns="0" bIns="0" rtlCol="0" anchor="t"/>
          <a:lstStyle/>
          <a:p>
            <a:pPr algn="l">
              <a:lnSpc>
                <a:spcPts val="2700"/>
              </a:lnSpc>
            </a:pPr>
            <a:r>
              <a:rPr lang="en-US" sz="2400" dirty="0" smtClean="0">
                <a:solidFill>
                  <a:schemeClr val="bg1"/>
                </a:solidFill>
              </a:rPr>
              <a:t>The objective of this project is to evaluate and compare the </a:t>
            </a:r>
            <a:r>
              <a:rPr lang="en-US" sz="2400" b="1" dirty="0" smtClean="0">
                <a:solidFill>
                  <a:schemeClr val="bg1"/>
                </a:solidFill>
              </a:rPr>
              <a:t>fairness</a:t>
            </a:r>
            <a:r>
              <a:rPr lang="en-US" sz="2400" dirty="0" smtClean="0">
                <a:solidFill>
                  <a:schemeClr val="bg1"/>
                </a:solidFill>
              </a:rPr>
              <a:t> of different congestion control protocols.</a:t>
            </a:r>
            <a:br>
              <a:rPr lang="en-US" sz="2400" dirty="0" smtClean="0">
                <a:solidFill>
                  <a:schemeClr val="bg1"/>
                </a:solidFill>
              </a:rPr>
            </a:br>
            <a:r>
              <a:rPr lang="en-US" sz="2400" dirty="0" smtClean="0">
                <a:solidFill>
                  <a:schemeClr val="bg1"/>
                </a:solidFill>
              </a:rPr>
              <a:t>The evaluation is performed using a </a:t>
            </a:r>
            <a:r>
              <a:rPr lang="en-US" sz="2400" b="1" dirty="0" smtClean="0">
                <a:solidFill>
                  <a:schemeClr val="bg1"/>
                </a:solidFill>
              </a:rPr>
              <a:t>Dumbbell topology</a:t>
            </a:r>
            <a:r>
              <a:rPr lang="en-US" sz="2400" dirty="0" smtClean="0">
                <a:solidFill>
                  <a:schemeClr val="bg1"/>
                </a:solidFill>
              </a:rPr>
              <a:t> to simulate network conditions.</a:t>
            </a:r>
            <a:br>
              <a:rPr lang="en-US" sz="2400" dirty="0" smtClean="0">
                <a:solidFill>
                  <a:schemeClr val="bg1"/>
                </a:solidFill>
              </a:rPr>
            </a:br>
            <a:r>
              <a:rPr lang="en-US" sz="2400" dirty="0" smtClean="0">
                <a:solidFill>
                  <a:schemeClr val="bg1"/>
                </a:solidFill>
              </a:rPr>
              <a:t>Fairness is assessed according to three key criteria:</a:t>
            </a:r>
            <a:endParaRPr lang="en-US" sz="2150" dirty="0">
              <a:solidFill>
                <a:schemeClr val="bg1"/>
              </a:solidFill>
            </a:endParaRPr>
          </a:p>
        </p:txBody>
      </p:sp>
      <p:sp>
        <p:nvSpPr>
          <p:cNvPr id="9" name="Shape 5"/>
          <p:cNvSpPr/>
          <p:nvPr/>
        </p:nvSpPr>
        <p:spPr>
          <a:xfrm>
            <a:off x="864037" y="4472702"/>
            <a:ext cx="555427" cy="555427"/>
          </a:xfrm>
          <a:prstGeom prst="roundRect">
            <a:avLst>
              <a:gd name="adj" fmla="val 18669"/>
            </a:avLst>
          </a:prstGeom>
          <a:solidFill>
            <a:srgbClr val="542C49"/>
          </a:solidFill>
          <a:ln w="15240">
            <a:solidFill>
              <a:srgbClr val="6D4562"/>
            </a:solidFill>
            <a:prstDash val="solid"/>
          </a:ln>
        </p:spPr>
      </p:sp>
      <p:sp>
        <p:nvSpPr>
          <p:cNvPr id="10" name="Text 6"/>
          <p:cNvSpPr/>
          <p:nvPr/>
        </p:nvSpPr>
        <p:spPr>
          <a:xfrm>
            <a:off x="1666280" y="4557474"/>
            <a:ext cx="4005739" cy="342900"/>
          </a:xfrm>
          <a:prstGeom prst="rect">
            <a:avLst/>
          </a:prstGeom>
          <a:noFill/>
          <a:ln/>
        </p:spPr>
        <p:txBody>
          <a:bodyPr wrap="none" lIns="0" tIns="0" rIns="0" bIns="0" rtlCol="0" anchor="t"/>
          <a:lstStyle/>
          <a:p>
            <a:pPr algn="l">
              <a:lnSpc>
                <a:spcPts val="2700"/>
              </a:lnSpc>
            </a:pPr>
            <a:r>
              <a:rPr lang="en-US" sz="2150" dirty="0" smtClean="0">
                <a:solidFill>
                  <a:srgbClr val="C6BFEE"/>
                </a:solidFill>
                <a:latin typeface="Prompt Medium" pitchFamily="34" charset="0"/>
                <a:ea typeface="Prompt Medium" pitchFamily="34" charset="-122"/>
                <a:cs typeface="Prompt Medium" pitchFamily="34" charset="-120"/>
              </a:rPr>
              <a:t>Jain’s Index</a:t>
            </a:r>
            <a:endParaRPr lang="en-US" sz="2150" dirty="0"/>
          </a:p>
        </p:txBody>
      </p:sp>
      <p:sp>
        <p:nvSpPr>
          <p:cNvPr id="12" name="Text 8"/>
          <p:cNvSpPr/>
          <p:nvPr/>
        </p:nvSpPr>
        <p:spPr>
          <a:xfrm>
            <a:off x="1666280" y="5606653"/>
            <a:ext cx="3524607" cy="342900"/>
          </a:xfrm>
          <a:prstGeom prst="rect">
            <a:avLst/>
          </a:prstGeom>
          <a:noFill/>
          <a:ln/>
        </p:spPr>
        <p:txBody>
          <a:bodyPr wrap="none" lIns="0" tIns="0" rIns="0" bIns="0" rtlCol="0" anchor="t"/>
          <a:lstStyle/>
          <a:p>
            <a:pPr algn="l">
              <a:lnSpc>
                <a:spcPts val="2700"/>
              </a:lnSpc>
            </a:pPr>
            <a:endParaRPr lang="en-US" sz="2150" dirty="0"/>
          </a:p>
        </p:txBody>
      </p:sp>
      <p:pic>
        <p:nvPicPr>
          <p:cNvPr id="1028" name="Picture 4" descr="Project Goals Vector Art, Icons, and Graphics for Free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7052" y="2243971"/>
            <a:ext cx="5061316" cy="3806669"/>
          </a:xfrm>
          <a:prstGeom prst="rect">
            <a:avLst/>
          </a:prstGeom>
          <a:noFill/>
          <a:extLst>
            <a:ext uri="{909E8E84-426E-40DD-AFC4-6F175D3DCCD1}">
              <a14:hiddenFill xmlns:a14="http://schemas.microsoft.com/office/drawing/2010/main">
                <a:solidFill>
                  <a:srgbClr val="FFFFFF"/>
                </a:solidFill>
              </a14:hiddenFill>
            </a:ext>
          </a:extLst>
        </p:spPr>
      </p:pic>
      <p:sp>
        <p:nvSpPr>
          <p:cNvPr id="11" name="Shape 5"/>
          <p:cNvSpPr/>
          <p:nvPr/>
        </p:nvSpPr>
        <p:spPr>
          <a:xfrm>
            <a:off x="864036" y="5328939"/>
            <a:ext cx="555427" cy="555427"/>
          </a:xfrm>
          <a:prstGeom prst="roundRect">
            <a:avLst>
              <a:gd name="adj" fmla="val 18669"/>
            </a:avLst>
          </a:prstGeom>
          <a:solidFill>
            <a:srgbClr val="542C49"/>
          </a:solidFill>
          <a:ln w="15240">
            <a:solidFill>
              <a:srgbClr val="6D4562"/>
            </a:solidFill>
            <a:prstDash val="solid"/>
          </a:ln>
        </p:spPr>
      </p:sp>
      <p:sp>
        <p:nvSpPr>
          <p:cNvPr id="13" name="Text 6"/>
          <p:cNvSpPr/>
          <p:nvPr/>
        </p:nvSpPr>
        <p:spPr>
          <a:xfrm>
            <a:off x="1604367" y="5435202"/>
            <a:ext cx="4005739" cy="342900"/>
          </a:xfrm>
          <a:prstGeom prst="rect">
            <a:avLst/>
          </a:prstGeom>
          <a:noFill/>
          <a:ln/>
        </p:spPr>
        <p:txBody>
          <a:bodyPr wrap="none" lIns="0" tIns="0" rIns="0" bIns="0" rtlCol="0" anchor="t"/>
          <a:lstStyle/>
          <a:p>
            <a:pPr algn="l">
              <a:lnSpc>
                <a:spcPts val="2700"/>
              </a:lnSpc>
            </a:pPr>
            <a:r>
              <a:rPr lang="en-US" sz="2400" dirty="0">
                <a:solidFill>
                  <a:srgbClr val="DAD8E9"/>
                </a:solidFill>
                <a:latin typeface="Mukta Light" pitchFamily="34" charset="0"/>
                <a:ea typeface="Mukta Light" pitchFamily="34" charset="-122"/>
                <a:cs typeface="Mukta Light" pitchFamily="34" charset="-120"/>
              </a:rPr>
              <a:t>Max-Min Fairness</a:t>
            </a:r>
            <a:endParaRPr lang="en-US" sz="2150" dirty="0"/>
          </a:p>
        </p:txBody>
      </p:sp>
    </p:spTree>
    <p:extLst>
      <p:ext uri="{BB962C8B-B14F-4D97-AF65-F5344CB8AC3E}">
        <p14:creationId xmlns:p14="http://schemas.microsoft.com/office/powerpoint/2010/main" val="10317620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52610" y="1749147"/>
            <a:ext cx="4869061" cy="4731187"/>
          </a:xfrm>
          <a:prstGeom prst="rect">
            <a:avLst/>
          </a:prstGeom>
        </p:spPr>
      </p:pic>
      <p:sp>
        <p:nvSpPr>
          <p:cNvPr id="4" name="Text 0"/>
          <p:cNvSpPr/>
          <p:nvPr/>
        </p:nvSpPr>
        <p:spPr>
          <a:xfrm>
            <a:off x="864037" y="2152293"/>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TCP</a:t>
            </a:r>
            <a:endParaRPr lang="en-US" sz="4300" dirty="0"/>
          </a:p>
        </p:txBody>
      </p:sp>
      <p:sp>
        <p:nvSpPr>
          <p:cNvPr id="5" name="Shape 1"/>
          <p:cNvSpPr/>
          <p:nvPr/>
        </p:nvSpPr>
        <p:spPr>
          <a:xfrm>
            <a:off x="864037" y="3208377"/>
            <a:ext cx="555427" cy="555427"/>
          </a:xfrm>
          <a:prstGeom prst="roundRect">
            <a:avLst>
              <a:gd name="adj" fmla="val 18669"/>
            </a:avLst>
          </a:prstGeom>
          <a:solidFill>
            <a:srgbClr val="542C49"/>
          </a:solidFill>
          <a:ln w="15240">
            <a:solidFill>
              <a:srgbClr val="6D4562"/>
            </a:solidFill>
            <a:prstDash val="solid"/>
          </a:ln>
        </p:spPr>
      </p:sp>
      <p:sp>
        <p:nvSpPr>
          <p:cNvPr id="6" name="Text 2"/>
          <p:cNvSpPr/>
          <p:nvPr/>
        </p:nvSpPr>
        <p:spPr>
          <a:xfrm>
            <a:off x="1666280" y="3293150"/>
            <a:ext cx="2743200" cy="342900"/>
          </a:xfrm>
          <a:prstGeom prst="rect">
            <a:avLst/>
          </a:prstGeom>
          <a:noFill/>
          <a:ln/>
        </p:spPr>
        <p:txBody>
          <a:bodyPr wrap="none" lIns="0" tIns="0" rIns="0" bIns="0" rtlCol="0" anchor="t"/>
          <a:lstStyle/>
          <a:p>
            <a:pPr algn="l">
              <a:lnSpc>
                <a:spcPts val="2700"/>
              </a:lnSpc>
            </a:pPr>
            <a:r>
              <a:rPr lang="en-US" sz="2150" dirty="0" smtClean="0">
                <a:solidFill>
                  <a:srgbClr val="DAD8E9"/>
                </a:solidFill>
                <a:latin typeface="Prompt Medium" pitchFamily="34" charset="0"/>
                <a:ea typeface="Prompt Medium" pitchFamily="34" charset="-122"/>
                <a:cs typeface="Prompt Medium" pitchFamily="34" charset="-120"/>
              </a:rPr>
              <a:t>Connection </a:t>
            </a:r>
            <a:r>
              <a:rPr lang="en-US" sz="2150" dirty="0">
                <a:solidFill>
                  <a:srgbClr val="DAD8E9"/>
                </a:solidFill>
                <a:latin typeface="Prompt Medium" pitchFamily="34" charset="0"/>
                <a:ea typeface="Prompt Medium" pitchFamily="34" charset="-122"/>
                <a:cs typeface="Prompt Medium" pitchFamily="34" charset="-120"/>
              </a:rPr>
              <a:t>Oriented</a:t>
            </a:r>
            <a:endParaRPr lang="en-US" sz="2150" dirty="0"/>
          </a:p>
          <a:p>
            <a:pPr marL="0" indent="0" algn="l">
              <a:lnSpc>
                <a:spcPts val="2700"/>
              </a:lnSpc>
              <a:buNone/>
            </a:pPr>
            <a:endParaRPr lang="en-US" sz="2150" dirty="0"/>
          </a:p>
        </p:txBody>
      </p:sp>
      <p:sp>
        <p:nvSpPr>
          <p:cNvPr id="7" name="Shape 3"/>
          <p:cNvSpPr/>
          <p:nvPr/>
        </p:nvSpPr>
        <p:spPr>
          <a:xfrm>
            <a:off x="4726305" y="3208377"/>
            <a:ext cx="555427" cy="555427"/>
          </a:xfrm>
          <a:prstGeom prst="roundRect">
            <a:avLst>
              <a:gd name="adj" fmla="val 18669"/>
            </a:avLst>
          </a:prstGeom>
          <a:solidFill>
            <a:srgbClr val="542C49"/>
          </a:solidFill>
          <a:ln w="15240">
            <a:solidFill>
              <a:srgbClr val="6D4562"/>
            </a:solidFill>
            <a:prstDash val="solid"/>
          </a:ln>
        </p:spPr>
      </p:sp>
      <p:sp>
        <p:nvSpPr>
          <p:cNvPr id="8" name="Text 4"/>
          <p:cNvSpPr/>
          <p:nvPr/>
        </p:nvSpPr>
        <p:spPr>
          <a:xfrm>
            <a:off x="5528548" y="3293150"/>
            <a:ext cx="2751415" cy="685800"/>
          </a:xfrm>
          <a:prstGeom prst="rect">
            <a:avLst/>
          </a:prstGeom>
          <a:noFill/>
          <a:ln/>
        </p:spPr>
        <p:txBody>
          <a:bodyPr wrap="square" lIns="0" tIns="0" rIns="0" bIns="0" rtlCol="0" anchor="t"/>
          <a:lstStyle/>
          <a:p>
            <a:pPr algn="l">
              <a:lnSpc>
                <a:spcPts val="2700"/>
              </a:lnSpc>
            </a:pPr>
            <a:r>
              <a:rPr lang="en-US" sz="2150" dirty="0">
                <a:solidFill>
                  <a:srgbClr val="DAD8E9"/>
                </a:solidFill>
                <a:latin typeface="Prompt Medium" pitchFamily="34" charset="0"/>
                <a:ea typeface="Prompt Medium" pitchFamily="34" charset="-122"/>
                <a:cs typeface="Prompt Medium" pitchFamily="34" charset="-120"/>
              </a:rPr>
              <a:t>Congestion Control</a:t>
            </a:r>
            <a:endParaRPr lang="en-US" sz="2150" dirty="0"/>
          </a:p>
        </p:txBody>
      </p:sp>
      <p:sp>
        <p:nvSpPr>
          <p:cNvPr id="9" name="Shape 5"/>
          <p:cNvSpPr/>
          <p:nvPr/>
        </p:nvSpPr>
        <p:spPr>
          <a:xfrm>
            <a:off x="864037" y="4472702"/>
            <a:ext cx="555427" cy="555427"/>
          </a:xfrm>
          <a:prstGeom prst="roundRect">
            <a:avLst>
              <a:gd name="adj" fmla="val 18669"/>
            </a:avLst>
          </a:prstGeom>
          <a:solidFill>
            <a:srgbClr val="542C49"/>
          </a:solidFill>
          <a:ln w="15240">
            <a:solidFill>
              <a:srgbClr val="6D4562"/>
            </a:solidFill>
            <a:prstDash val="solid"/>
          </a:ln>
        </p:spPr>
      </p:sp>
      <p:sp>
        <p:nvSpPr>
          <p:cNvPr id="10" name="Text 6"/>
          <p:cNvSpPr/>
          <p:nvPr/>
        </p:nvSpPr>
        <p:spPr>
          <a:xfrm>
            <a:off x="1666280" y="4557474"/>
            <a:ext cx="2743200" cy="342900"/>
          </a:xfrm>
          <a:prstGeom prst="rect">
            <a:avLst/>
          </a:prstGeom>
          <a:noFill/>
          <a:ln/>
        </p:spPr>
        <p:txBody>
          <a:bodyPr wrap="none" lIns="0" tIns="0" rIns="0" bIns="0" rtlCol="0" anchor="t"/>
          <a:lstStyle/>
          <a:p>
            <a:pPr algn="l">
              <a:lnSpc>
                <a:spcPts val="2700"/>
              </a:lnSpc>
            </a:pPr>
            <a:r>
              <a:rPr lang="en-US" sz="2150" dirty="0">
                <a:solidFill>
                  <a:srgbClr val="DAD8E9"/>
                </a:solidFill>
                <a:latin typeface="Prompt Medium" pitchFamily="34" charset="0"/>
                <a:ea typeface="Prompt Medium" pitchFamily="34" charset="-122"/>
                <a:cs typeface="Prompt Medium" pitchFamily="34" charset="-120"/>
              </a:rPr>
              <a:t>Reliable</a:t>
            </a:r>
          </a:p>
        </p:txBody>
      </p:sp>
      <p:sp>
        <p:nvSpPr>
          <p:cNvPr id="11" name="Shape 7"/>
          <p:cNvSpPr/>
          <p:nvPr/>
        </p:nvSpPr>
        <p:spPr>
          <a:xfrm>
            <a:off x="4726305" y="4472702"/>
            <a:ext cx="555427" cy="555427"/>
          </a:xfrm>
          <a:prstGeom prst="roundRect">
            <a:avLst>
              <a:gd name="adj" fmla="val 18669"/>
            </a:avLst>
          </a:prstGeom>
          <a:solidFill>
            <a:srgbClr val="542C49"/>
          </a:solidFill>
          <a:ln w="15240">
            <a:solidFill>
              <a:srgbClr val="6D4562"/>
            </a:solidFill>
            <a:prstDash val="solid"/>
          </a:ln>
        </p:spPr>
      </p:sp>
      <p:sp>
        <p:nvSpPr>
          <p:cNvPr id="12" name="Text 8"/>
          <p:cNvSpPr/>
          <p:nvPr/>
        </p:nvSpPr>
        <p:spPr>
          <a:xfrm>
            <a:off x="5528548" y="4557474"/>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Flow Control</a:t>
            </a:r>
            <a:endParaRPr lang="en-US" sz="2150" dirty="0"/>
          </a:p>
        </p:txBody>
      </p:sp>
      <p:sp>
        <p:nvSpPr>
          <p:cNvPr id="13" name="Shape 9"/>
          <p:cNvSpPr/>
          <p:nvPr/>
        </p:nvSpPr>
        <p:spPr>
          <a:xfrm>
            <a:off x="864037" y="5521881"/>
            <a:ext cx="555427" cy="555427"/>
          </a:xfrm>
          <a:prstGeom prst="roundRect">
            <a:avLst>
              <a:gd name="adj" fmla="val 18669"/>
            </a:avLst>
          </a:prstGeom>
          <a:solidFill>
            <a:srgbClr val="542C49"/>
          </a:solidFill>
          <a:ln w="15240">
            <a:solidFill>
              <a:srgbClr val="6D4562"/>
            </a:solidFill>
            <a:prstDash val="solid"/>
          </a:ln>
        </p:spPr>
      </p:sp>
      <p:sp>
        <p:nvSpPr>
          <p:cNvPr id="14" name="Text 10"/>
          <p:cNvSpPr/>
          <p:nvPr/>
        </p:nvSpPr>
        <p:spPr>
          <a:xfrm>
            <a:off x="1666280" y="5606653"/>
            <a:ext cx="2743200" cy="342900"/>
          </a:xfrm>
          <a:prstGeom prst="rect">
            <a:avLst/>
          </a:prstGeom>
          <a:noFill/>
          <a:ln/>
        </p:spPr>
        <p:txBody>
          <a:bodyPr wrap="none" lIns="0" tIns="0" rIns="0" bIns="0" rtlCol="0" anchor="t"/>
          <a:lstStyle/>
          <a:p>
            <a:pPr marL="0" indent="0" algn="l">
              <a:lnSpc>
                <a:spcPts val="2700"/>
              </a:lnSpc>
              <a:buNone/>
            </a:pPr>
            <a:r>
              <a:rPr lang="en-US" sz="2150" dirty="0" smtClean="0">
                <a:solidFill>
                  <a:srgbClr val="DAD8E9"/>
                </a:solidFill>
                <a:latin typeface="Prompt Medium" pitchFamily="34" charset="0"/>
                <a:ea typeface="Prompt Medium" pitchFamily="34" charset="-122"/>
                <a:cs typeface="Prompt Medium" pitchFamily="34" charset="-120"/>
              </a:rPr>
              <a:t>Error Handling</a:t>
            </a:r>
            <a:endParaRPr lang="en-US" sz="21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6331506" y="1965217"/>
            <a:ext cx="8022080" cy="4461805"/>
          </a:xfrm>
          <a:prstGeom prst="rect">
            <a:avLst/>
          </a:prstGeom>
        </p:spPr>
      </p:pic>
      <p:sp>
        <p:nvSpPr>
          <p:cNvPr id="4" name="Text 0"/>
          <p:cNvSpPr/>
          <p:nvPr/>
        </p:nvSpPr>
        <p:spPr>
          <a:xfrm>
            <a:off x="799624" y="628293"/>
            <a:ext cx="5077301" cy="634603"/>
          </a:xfrm>
          <a:prstGeom prst="rect">
            <a:avLst/>
          </a:prstGeom>
          <a:noFill/>
          <a:ln/>
        </p:spPr>
        <p:txBody>
          <a:bodyPr wrap="none" lIns="0" tIns="0" rIns="0" bIns="0" rtlCol="0" anchor="t"/>
          <a:lstStyle/>
          <a:p>
            <a:pPr marL="0" indent="0" algn="l">
              <a:lnSpc>
                <a:spcPts val="4950"/>
              </a:lnSpc>
              <a:buNone/>
            </a:pPr>
            <a:r>
              <a:rPr lang="en-US" sz="3950" dirty="0">
                <a:solidFill>
                  <a:srgbClr val="C6BFEE"/>
                </a:solidFill>
                <a:latin typeface="Prompt Medium" pitchFamily="34" charset="0"/>
                <a:ea typeface="Prompt Medium" pitchFamily="34" charset="-122"/>
                <a:cs typeface="Prompt Medium" pitchFamily="34" charset="-120"/>
              </a:rPr>
              <a:t>TCP New Reno</a:t>
            </a:r>
            <a:endParaRPr lang="en-US" sz="3950" dirty="0"/>
          </a:p>
        </p:txBody>
      </p:sp>
      <p:sp>
        <p:nvSpPr>
          <p:cNvPr id="5" name="Shape 1"/>
          <p:cNvSpPr/>
          <p:nvPr/>
        </p:nvSpPr>
        <p:spPr>
          <a:xfrm>
            <a:off x="799624" y="1605558"/>
            <a:ext cx="228481" cy="1370886"/>
          </a:xfrm>
          <a:prstGeom prst="roundRect">
            <a:avLst>
              <a:gd name="adj" fmla="val 42000"/>
            </a:avLst>
          </a:prstGeom>
          <a:solidFill>
            <a:srgbClr val="542C49"/>
          </a:solidFill>
          <a:ln w="7620">
            <a:solidFill>
              <a:srgbClr val="6D4562"/>
            </a:solidFill>
            <a:prstDash val="solid"/>
          </a:ln>
        </p:spPr>
      </p:sp>
      <p:sp>
        <p:nvSpPr>
          <p:cNvPr id="6" name="Text 2"/>
          <p:cNvSpPr/>
          <p:nvPr/>
        </p:nvSpPr>
        <p:spPr>
          <a:xfrm>
            <a:off x="1256586" y="1834039"/>
            <a:ext cx="4348996" cy="317302"/>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Fast Recovery &amp; Fast Retransmition</a:t>
            </a:r>
            <a:endParaRPr lang="en-US" sz="1950" dirty="0"/>
          </a:p>
        </p:txBody>
      </p:sp>
      <p:sp>
        <p:nvSpPr>
          <p:cNvPr id="7" name="Text 3"/>
          <p:cNvSpPr/>
          <p:nvPr/>
        </p:nvSpPr>
        <p:spPr>
          <a:xfrm>
            <a:off x="1256586" y="2288381"/>
            <a:ext cx="7087791" cy="365522"/>
          </a:xfrm>
          <a:prstGeom prst="rect">
            <a:avLst/>
          </a:prstGeom>
          <a:noFill/>
          <a:ln/>
        </p:spPr>
        <p:txBody>
          <a:bodyPr wrap="none" lIns="0" tIns="0" rIns="0" bIns="0" rtlCol="0" anchor="t"/>
          <a:lstStyle/>
          <a:p>
            <a:pPr marL="0" indent="0" algn="l">
              <a:lnSpc>
                <a:spcPts val="2850"/>
              </a:lnSpc>
              <a:buNone/>
            </a:pPr>
            <a:r>
              <a:rPr lang="en-US" sz="1750" dirty="0">
                <a:solidFill>
                  <a:srgbClr val="DAD8E9"/>
                </a:solidFill>
                <a:latin typeface="Mutka"/>
                <a:ea typeface="Mukta Light" pitchFamily="34" charset="-122"/>
              </a:rPr>
              <a:t>Retransmit lost packets on triple duplicate ACKs</a:t>
            </a:r>
            <a:endParaRPr lang="en-US" sz="1750" dirty="0">
              <a:latin typeface="Mutka"/>
            </a:endParaRPr>
          </a:p>
        </p:txBody>
      </p:sp>
      <p:sp>
        <p:nvSpPr>
          <p:cNvPr id="8" name="Shape 4"/>
          <p:cNvSpPr/>
          <p:nvPr/>
        </p:nvSpPr>
        <p:spPr>
          <a:xfrm>
            <a:off x="1142286" y="3147774"/>
            <a:ext cx="228481" cy="1370886"/>
          </a:xfrm>
          <a:prstGeom prst="roundRect">
            <a:avLst>
              <a:gd name="adj" fmla="val 42000"/>
            </a:avLst>
          </a:prstGeom>
          <a:solidFill>
            <a:srgbClr val="542C49"/>
          </a:solidFill>
          <a:ln w="7620">
            <a:solidFill>
              <a:srgbClr val="6D4562"/>
            </a:solidFill>
            <a:prstDash val="solid"/>
          </a:ln>
        </p:spPr>
      </p:sp>
      <p:sp>
        <p:nvSpPr>
          <p:cNvPr id="9" name="Text 5"/>
          <p:cNvSpPr/>
          <p:nvPr/>
        </p:nvSpPr>
        <p:spPr>
          <a:xfrm>
            <a:off x="1599248" y="3376255"/>
            <a:ext cx="2538651" cy="317302"/>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AIMD</a:t>
            </a:r>
            <a:endParaRPr lang="en-US" sz="1950" dirty="0"/>
          </a:p>
        </p:txBody>
      </p:sp>
      <p:sp>
        <p:nvSpPr>
          <p:cNvPr id="10" name="Text 6"/>
          <p:cNvSpPr/>
          <p:nvPr/>
        </p:nvSpPr>
        <p:spPr>
          <a:xfrm>
            <a:off x="1599248" y="3830598"/>
            <a:ext cx="6745129" cy="365522"/>
          </a:xfrm>
          <a:prstGeom prst="rect">
            <a:avLst/>
          </a:prstGeom>
          <a:noFill/>
          <a:ln/>
        </p:spPr>
        <p:txBody>
          <a:bodyPr wrap="none" lIns="0" tIns="0" rIns="0" bIns="0" rtlCol="0" anchor="t"/>
          <a:lstStyle/>
          <a:p>
            <a:pPr marL="0" indent="0" algn="l">
              <a:lnSpc>
                <a:spcPts val="2850"/>
              </a:lnSpc>
              <a:buNone/>
            </a:pPr>
            <a:r>
              <a:rPr lang="en-US" sz="1750" dirty="0">
                <a:solidFill>
                  <a:srgbClr val="DAD8E9"/>
                </a:solidFill>
                <a:latin typeface="Mukta Light" pitchFamily="34" charset="0"/>
                <a:ea typeface="Mukta Light" pitchFamily="34" charset="-122"/>
              </a:rPr>
              <a:t>Adjusts sending rate dynamically</a:t>
            </a:r>
            <a:endParaRPr lang="en-US" sz="1750" dirty="0"/>
          </a:p>
        </p:txBody>
      </p:sp>
      <p:sp>
        <p:nvSpPr>
          <p:cNvPr id="11" name="Shape 7"/>
          <p:cNvSpPr/>
          <p:nvPr/>
        </p:nvSpPr>
        <p:spPr>
          <a:xfrm>
            <a:off x="1485067" y="4689991"/>
            <a:ext cx="228481" cy="1370886"/>
          </a:xfrm>
          <a:prstGeom prst="roundRect">
            <a:avLst>
              <a:gd name="adj" fmla="val 42000"/>
            </a:avLst>
          </a:prstGeom>
          <a:solidFill>
            <a:srgbClr val="542C49"/>
          </a:solidFill>
          <a:ln w="7620">
            <a:solidFill>
              <a:srgbClr val="6D4562"/>
            </a:solidFill>
            <a:prstDash val="solid"/>
          </a:ln>
        </p:spPr>
      </p:sp>
      <p:sp>
        <p:nvSpPr>
          <p:cNvPr id="12" name="Text 8"/>
          <p:cNvSpPr/>
          <p:nvPr/>
        </p:nvSpPr>
        <p:spPr>
          <a:xfrm>
            <a:off x="1942028" y="4918472"/>
            <a:ext cx="2702481" cy="317302"/>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Supports Partial ACKs</a:t>
            </a:r>
            <a:endParaRPr lang="en-US" sz="1950" dirty="0"/>
          </a:p>
        </p:txBody>
      </p:sp>
      <p:sp>
        <p:nvSpPr>
          <p:cNvPr id="13" name="Text 9"/>
          <p:cNvSpPr/>
          <p:nvPr/>
        </p:nvSpPr>
        <p:spPr>
          <a:xfrm>
            <a:off x="1942028" y="5372814"/>
            <a:ext cx="6402348" cy="365522"/>
          </a:xfrm>
          <a:prstGeom prst="rect">
            <a:avLst/>
          </a:prstGeom>
          <a:noFill/>
          <a:ln/>
        </p:spPr>
        <p:txBody>
          <a:bodyPr wrap="none" lIns="0" tIns="0" rIns="0" bIns="0" rtlCol="0" anchor="t"/>
          <a:lstStyle/>
          <a:p>
            <a:pPr marL="0" indent="0" algn="l">
              <a:lnSpc>
                <a:spcPts val="2850"/>
              </a:lnSpc>
              <a:buNone/>
            </a:pPr>
            <a:r>
              <a:rPr lang="en-US" sz="1750" dirty="0">
                <a:solidFill>
                  <a:srgbClr val="DAD8E9"/>
                </a:solidFill>
                <a:latin typeface="Mukta Light" pitchFamily="34" charset="0"/>
                <a:ea typeface="Mukta Light" pitchFamily="34" charset="-122"/>
              </a:rPr>
              <a:t>Retransmit only missing packets</a:t>
            </a:r>
            <a:endParaRPr lang="en-US" sz="1750" dirty="0"/>
          </a:p>
        </p:txBody>
      </p:sp>
      <p:sp>
        <p:nvSpPr>
          <p:cNvPr id="14" name="Shape 10"/>
          <p:cNvSpPr/>
          <p:nvPr/>
        </p:nvSpPr>
        <p:spPr>
          <a:xfrm>
            <a:off x="1827728" y="6232208"/>
            <a:ext cx="228481" cy="1370886"/>
          </a:xfrm>
          <a:prstGeom prst="roundRect">
            <a:avLst>
              <a:gd name="adj" fmla="val 42000"/>
            </a:avLst>
          </a:prstGeom>
          <a:solidFill>
            <a:srgbClr val="542C49"/>
          </a:solidFill>
          <a:ln w="7620">
            <a:solidFill>
              <a:srgbClr val="6D4562"/>
            </a:solidFill>
            <a:prstDash val="solid"/>
          </a:ln>
        </p:spPr>
      </p:sp>
      <p:sp>
        <p:nvSpPr>
          <p:cNvPr id="15" name="Text 11"/>
          <p:cNvSpPr/>
          <p:nvPr/>
        </p:nvSpPr>
        <p:spPr>
          <a:xfrm>
            <a:off x="2284690" y="6460688"/>
            <a:ext cx="3818334" cy="317302"/>
          </a:xfrm>
          <a:prstGeom prst="rect">
            <a:avLst/>
          </a:prstGeom>
          <a:noFill/>
          <a:ln/>
        </p:spPr>
        <p:txBody>
          <a:bodyPr wrap="none" lIns="0" tIns="0" rIns="0" bIns="0" rtlCol="0" anchor="t"/>
          <a:lstStyle/>
          <a:p>
            <a:pPr marL="0" indent="0" algn="l">
              <a:lnSpc>
                <a:spcPts val="2450"/>
              </a:lnSpc>
              <a:buNone/>
            </a:pPr>
            <a:r>
              <a:rPr lang="en-US" sz="1950" dirty="0">
                <a:solidFill>
                  <a:srgbClr val="DAD8E9"/>
                </a:solidFill>
                <a:latin typeface="Prompt Medium" pitchFamily="34" charset="0"/>
                <a:ea typeface="Prompt Medium" pitchFamily="34" charset="-122"/>
                <a:cs typeface="Prompt Medium" pitchFamily="34" charset="-120"/>
              </a:rPr>
              <a:t>Better throughput and latency</a:t>
            </a:r>
            <a:endParaRPr lang="en-US" sz="1950" dirty="0"/>
          </a:p>
        </p:txBody>
      </p:sp>
      <p:sp>
        <p:nvSpPr>
          <p:cNvPr id="16" name="Text 12"/>
          <p:cNvSpPr/>
          <p:nvPr/>
        </p:nvSpPr>
        <p:spPr>
          <a:xfrm>
            <a:off x="2284690" y="6915031"/>
            <a:ext cx="6059686" cy="365522"/>
          </a:xfrm>
          <a:prstGeom prst="rect">
            <a:avLst/>
          </a:prstGeom>
          <a:noFill/>
          <a:ln/>
        </p:spPr>
        <p:txBody>
          <a:bodyPr wrap="none" lIns="0" tIns="0" rIns="0" bIns="0" rtlCol="0" anchor="t"/>
          <a:lstStyle/>
          <a:p>
            <a:pPr marL="0" indent="0" algn="l">
              <a:lnSpc>
                <a:spcPts val="2850"/>
              </a:lnSpc>
              <a:buNone/>
            </a:pPr>
            <a:r>
              <a:rPr lang="en-US" sz="1750" dirty="0">
                <a:solidFill>
                  <a:srgbClr val="DAD8E9"/>
                </a:solidFill>
                <a:latin typeface="Mukta Light" pitchFamily="34" charset="0"/>
                <a:ea typeface="Mukta Light" pitchFamily="34" charset="-122"/>
              </a:rPr>
              <a:t>Allows for continued transmission during fast recovery</a:t>
            </a:r>
            <a:endParaRPr lang="en-US" sz="17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53853" y="1040764"/>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BBR</a:t>
            </a:r>
            <a:endParaRPr lang="en-US" sz="4300" dirty="0"/>
          </a:p>
        </p:txBody>
      </p:sp>
      <p:sp>
        <p:nvSpPr>
          <p:cNvPr id="3" name="Text 1"/>
          <p:cNvSpPr/>
          <p:nvPr/>
        </p:nvSpPr>
        <p:spPr>
          <a:xfrm>
            <a:off x="853853" y="2223107"/>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C6BFEE"/>
                </a:solidFill>
                <a:latin typeface="Prompt Medium" pitchFamily="34" charset="0"/>
                <a:ea typeface="Prompt Medium" pitchFamily="34" charset="-122"/>
                <a:cs typeface="Prompt Medium" pitchFamily="34" charset="-120"/>
              </a:rPr>
              <a:t>How BBR Works:</a:t>
            </a:r>
            <a:endParaRPr lang="en-US" sz="2150" dirty="0"/>
          </a:p>
        </p:txBody>
      </p:sp>
      <p:sp>
        <p:nvSpPr>
          <p:cNvPr id="4" name="Text 2"/>
          <p:cNvSpPr/>
          <p:nvPr/>
        </p:nvSpPr>
        <p:spPr>
          <a:xfrm>
            <a:off x="853853" y="2851482"/>
            <a:ext cx="6150054" cy="395049"/>
          </a:xfrm>
          <a:prstGeom prst="rect">
            <a:avLst/>
          </a:prstGeom>
          <a:noFill/>
          <a:ln/>
        </p:spPr>
        <p:txBody>
          <a:bodyPr wrap="none" lIns="0" tIns="0" rIns="0" bIns="0" rtlCol="0" anchor="t"/>
          <a:lstStyle/>
          <a:p>
            <a:pPr marL="342900" indent="-342900" algn="l" rtl="0">
              <a:lnSpc>
                <a:spcPts val="3100"/>
              </a:lnSpc>
              <a:buSzPct val="100000"/>
              <a:buChar char="•"/>
            </a:pPr>
            <a:r>
              <a:rPr lang="en-US" sz="1900" dirty="0">
                <a:solidFill>
                  <a:srgbClr val="DAD8E9"/>
                </a:solidFill>
                <a:latin typeface="Mukta Light" pitchFamily="34" charset="0"/>
                <a:ea typeface="Mukta Light" pitchFamily="34" charset="-122"/>
              </a:rPr>
              <a:t>Estimates Bottleneck Bandwidth</a:t>
            </a:r>
            <a:endParaRPr lang="en-US" sz="1900" dirty="0"/>
          </a:p>
        </p:txBody>
      </p:sp>
      <p:sp>
        <p:nvSpPr>
          <p:cNvPr id="5" name="Text 3"/>
          <p:cNvSpPr/>
          <p:nvPr/>
        </p:nvSpPr>
        <p:spPr>
          <a:xfrm>
            <a:off x="864037" y="3351739"/>
            <a:ext cx="6150054" cy="395049"/>
          </a:xfrm>
          <a:prstGeom prst="rect">
            <a:avLst/>
          </a:prstGeom>
          <a:noFill/>
          <a:ln/>
        </p:spPr>
        <p:txBody>
          <a:bodyPr wrap="none" lIns="0" tIns="0" rIns="0" bIns="0" rtlCol="0" anchor="t"/>
          <a:lstStyle/>
          <a:p>
            <a:pPr marL="342900" indent="-342900" algn="l" rtl="0">
              <a:lnSpc>
                <a:spcPts val="3100"/>
              </a:lnSpc>
              <a:buSzPct val="100000"/>
              <a:buChar char="•"/>
            </a:pPr>
            <a:r>
              <a:rPr lang="en-US" sz="1900" dirty="0">
                <a:solidFill>
                  <a:srgbClr val="DAD8E9"/>
                </a:solidFill>
                <a:latin typeface="Mukta Light" pitchFamily="34" charset="0"/>
                <a:ea typeface="Mukta Light" pitchFamily="34" charset="-122"/>
              </a:rPr>
              <a:t>Measures RTT</a:t>
            </a:r>
            <a:endParaRPr lang="en-US" sz="1900" dirty="0"/>
          </a:p>
        </p:txBody>
      </p:sp>
      <p:sp>
        <p:nvSpPr>
          <p:cNvPr id="6" name="Text 4"/>
          <p:cNvSpPr/>
          <p:nvPr/>
        </p:nvSpPr>
        <p:spPr>
          <a:xfrm>
            <a:off x="853853" y="3851996"/>
            <a:ext cx="6150054" cy="395049"/>
          </a:xfrm>
          <a:prstGeom prst="rect">
            <a:avLst/>
          </a:prstGeom>
          <a:noFill/>
          <a:ln/>
        </p:spPr>
        <p:txBody>
          <a:bodyPr wrap="none" lIns="0" tIns="0" rIns="0" bIns="0" rtlCol="0" anchor="t"/>
          <a:lstStyle/>
          <a:p>
            <a:pPr marL="342900" indent="-342900" algn="l" rtl="0">
              <a:lnSpc>
                <a:spcPts val="3100"/>
              </a:lnSpc>
              <a:buSzPct val="100000"/>
              <a:buChar char="•"/>
            </a:pPr>
            <a:r>
              <a:rPr lang="en-US" sz="1900" dirty="0">
                <a:solidFill>
                  <a:srgbClr val="DAD8E9"/>
                </a:solidFill>
                <a:latin typeface="Mukta Light" pitchFamily="34" charset="0"/>
                <a:ea typeface="Mukta Light" pitchFamily="34" charset="-122"/>
              </a:rPr>
              <a:t>Adjusts Congestion Window</a:t>
            </a:r>
            <a:endParaRPr lang="en-US" sz="1900" dirty="0"/>
          </a:p>
        </p:txBody>
      </p:sp>
      <p:sp>
        <p:nvSpPr>
          <p:cNvPr id="7" name="Text 5"/>
          <p:cNvSpPr/>
          <p:nvPr/>
        </p:nvSpPr>
        <p:spPr>
          <a:xfrm>
            <a:off x="7823625" y="2223107"/>
            <a:ext cx="2798088" cy="342900"/>
          </a:xfrm>
          <a:prstGeom prst="rect">
            <a:avLst/>
          </a:prstGeom>
          <a:noFill/>
          <a:ln/>
        </p:spPr>
        <p:txBody>
          <a:bodyPr wrap="none" lIns="0" tIns="0" rIns="0" bIns="0" rtlCol="0" anchor="t"/>
          <a:lstStyle/>
          <a:p>
            <a:pPr marL="0" indent="0" algn="l">
              <a:lnSpc>
                <a:spcPts val="2700"/>
              </a:lnSpc>
              <a:buNone/>
            </a:pPr>
            <a:r>
              <a:rPr lang="en-US" sz="2150" dirty="0">
                <a:solidFill>
                  <a:srgbClr val="C6BFEE"/>
                </a:solidFill>
                <a:latin typeface="Prompt Medium" pitchFamily="34" charset="0"/>
                <a:ea typeface="Prompt Medium" pitchFamily="34" charset="-122"/>
                <a:cs typeface="Prompt Medium" pitchFamily="34" charset="-120"/>
              </a:rPr>
              <a:t>Key Features of BBR:</a:t>
            </a:r>
            <a:endParaRPr lang="en-US" sz="2150" dirty="0"/>
          </a:p>
        </p:txBody>
      </p:sp>
      <p:sp>
        <p:nvSpPr>
          <p:cNvPr id="8" name="Text 6"/>
          <p:cNvSpPr/>
          <p:nvPr/>
        </p:nvSpPr>
        <p:spPr>
          <a:xfrm>
            <a:off x="7823625" y="2849852"/>
            <a:ext cx="6150054" cy="395049"/>
          </a:xfrm>
          <a:prstGeom prst="rect">
            <a:avLst/>
          </a:prstGeom>
          <a:noFill/>
          <a:ln/>
        </p:spPr>
        <p:txBody>
          <a:bodyPr wrap="none" lIns="0" tIns="0" rIns="0" bIns="0" rtlCol="0" anchor="t"/>
          <a:lstStyle/>
          <a:p>
            <a:pPr marL="342900" indent="-342900" algn="l" rtl="0">
              <a:lnSpc>
                <a:spcPts val="3100"/>
              </a:lnSpc>
              <a:buSzPct val="100000"/>
              <a:buChar char="•"/>
            </a:pPr>
            <a:r>
              <a:rPr lang="en-US" sz="1900" dirty="0">
                <a:solidFill>
                  <a:srgbClr val="DAD8E9"/>
                </a:solidFill>
                <a:latin typeface="Mukta Light" pitchFamily="34" charset="0"/>
                <a:ea typeface="Mukta Light" pitchFamily="34" charset="-122"/>
              </a:rPr>
              <a:t>Optimized for high-bandwidth, high-latency</a:t>
            </a:r>
            <a:endParaRPr lang="en-US" sz="1900" dirty="0"/>
          </a:p>
        </p:txBody>
      </p:sp>
      <p:sp>
        <p:nvSpPr>
          <p:cNvPr id="9" name="Text 7"/>
          <p:cNvSpPr/>
          <p:nvPr/>
        </p:nvSpPr>
        <p:spPr>
          <a:xfrm>
            <a:off x="7823625" y="3405649"/>
            <a:ext cx="6150054" cy="395049"/>
          </a:xfrm>
          <a:prstGeom prst="rect">
            <a:avLst/>
          </a:prstGeom>
          <a:noFill/>
          <a:ln/>
        </p:spPr>
        <p:txBody>
          <a:bodyPr wrap="none" lIns="0" tIns="0" rIns="0" bIns="0" rtlCol="0" anchor="t"/>
          <a:lstStyle/>
          <a:p>
            <a:pPr marL="342900" indent="-342900" algn="l" rtl="0">
              <a:lnSpc>
                <a:spcPts val="3100"/>
              </a:lnSpc>
              <a:buSzPct val="100000"/>
              <a:buChar char="•"/>
            </a:pPr>
            <a:r>
              <a:rPr lang="en-US" sz="1900" dirty="0">
                <a:solidFill>
                  <a:srgbClr val="DAD8E9"/>
                </a:solidFill>
                <a:latin typeface="Mukta Light" pitchFamily="34" charset="0"/>
                <a:ea typeface="Mukta Light" pitchFamily="34" charset="-122"/>
              </a:rPr>
              <a:t>Reduces packet loss</a:t>
            </a:r>
            <a:endParaRPr lang="en-US" sz="1900" dirty="0"/>
          </a:p>
        </p:txBody>
      </p:sp>
      <p:sp>
        <p:nvSpPr>
          <p:cNvPr id="10" name="Text 8"/>
          <p:cNvSpPr/>
          <p:nvPr/>
        </p:nvSpPr>
        <p:spPr>
          <a:xfrm>
            <a:off x="7761632" y="3961446"/>
            <a:ext cx="6150054" cy="395049"/>
          </a:xfrm>
          <a:prstGeom prst="rect">
            <a:avLst/>
          </a:prstGeom>
          <a:noFill/>
          <a:ln/>
        </p:spPr>
        <p:txBody>
          <a:bodyPr wrap="none" lIns="0" tIns="0" rIns="0" bIns="0" rtlCol="0" anchor="t"/>
          <a:lstStyle/>
          <a:p>
            <a:pPr marL="342900" indent="-342900" algn="l" rtl="0">
              <a:lnSpc>
                <a:spcPts val="3100"/>
              </a:lnSpc>
              <a:buSzPct val="100000"/>
              <a:buFontTx/>
              <a:buChar char="•"/>
            </a:pPr>
            <a:r>
              <a:rPr lang="en-US" sz="1900" dirty="0">
                <a:solidFill>
                  <a:srgbClr val="DAD8E9"/>
                </a:solidFill>
                <a:latin typeface="Mukta Light" pitchFamily="34" charset="0"/>
                <a:ea typeface="Mukta Light" pitchFamily="34" charset="-122"/>
              </a:rPr>
              <a:t>Minimizes </a:t>
            </a:r>
            <a:r>
              <a:rPr lang="en-US" sz="1900" dirty="0" smtClean="0">
                <a:solidFill>
                  <a:srgbClr val="DAD8E9"/>
                </a:solidFill>
                <a:latin typeface="Mukta Light" pitchFamily="34" charset="0"/>
                <a:ea typeface="Mukta Light" pitchFamily="34" charset="-122"/>
              </a:rPr>
              <a:t>latency &amp; Improves fairness</a:t>
            </a:r>
            <a:endParaRPr lang="en-US" sz="1900" dirty="0" smtClean="0"/>
          </a:p>
          <a:p>
            <a:pPr marL="342900" indent="-342900" algn="l">
              <a:lnSpc>
                <a:spcPts val="3100"/>
              </a:lnSpc>
              <a:buSzPct val="100000"/>
              <a:buChar char="•"/>
            </a:pPr>
            <a:endParaRPr lang="en-US" sz="1900" dirty="0"/>
          </a:p>
        </p:txBody>
      </p:sp>
      <p:pic>
        <p:nvPicPr>
          <p:cNvPr id="12" name="תמונה 11"/>
          <p:cNvPicPr>
            <a:picLocks noChangeAspect="1"/>
          </p:cNvPicPr>
          <p:nvPr/>
        </p:nvPicPr>
        <p:blipFill rotWithShape="1">
          <a:blip r:embed="rId3"/>
          <a:srcRect l="4853" t="5036" r="5123" b="5339"/>
          <a:stretch/>
        </p:blipFill>
        <p:spPr>
          <a:xfrm>
            <a:off x="5674874" y="4606243"/>
            <a:ext cx="5625885" cy="3150496"/>
          </a:xfrm>
          <a:prstGeom prst="rect">
            <a:avLst/>
          </a:prstGeom>
        </p:spPr>
      </p:pic>
      <p:sp>
        <p:nvSpPr>
          <p:cNvPr id="11" name="מלבן 10"/>
          <p:cNvSpPr/>
          <p:nvPr/>
        </p:nvSpPr>
        <p:spPr>
          <a:xfrm>
            <a:off x="991892" y="5393410"/>
            <a:ext cx="4122549" cy="1255363"/>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r>
              <a:rPr lang="en-US" sz="3200" b="1" dirty="0" err="1" smtClean="0"/>
              <a:t>Cwnd</a:t>
            </a:r>
            <a:r>
              <a:rPr lang="en-US" sz="3200" b="1" dirty="0" smtClean="0"/>
              <a:t> = </a:t>
            </a:r>
            <a:r>
              <a:rPr lang="en-US" sz="3200" b="1" dirty="0" err="1" smtClean="0"/>
              <a:t>BtlBw</a:t>
            </a:r>
            <a:r>
              <a:rPr lang="en-US" sz="3200" b="1" dirty="0" smtClean="0"/>
              <a:t> x </a:t>
            </a:r>
            <a:r>
              <a:rPr lang="en-US" sz="3200" b="1" dirty="0" err="1" smtClean="0"/>
              <a:t>Rtprop</a:t>
            </a:r>
            <a:endParaRPr lang="he-IL" sz="32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686276"/>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CUBIC</a:t>
            </a:r>
            <a:endParaRPr lang="en-US" sz="4300" dirty="0"/>
          </a:p>
        </p:txBody>
      </p:sp>
      <p:sp>
        <p:nvSpPr>
          <p:cNvPr id="3" name="Shape 1"/>
          <p:cNvSpPr/>
          <p:nvPr/>
        </p:nvSpPr>
        <p:spPr>
          <a:xfrm>
            <a:off x="864037" y="1742361"/>
            <a:ext cx="555427" cy="555427"/>
          </a:xfrm>
          <a:prstGeom prst="roundRect">
            <a:avLst>
              <a:gd name="adj" fmla="val 18669"/>
            </a:avLst>
          </a:prstGeom>
          <a:solidFill>
            <a:srgbClr val="542C49"/>
          </a:solidFill>
          <a:ln w="15240">
            <a:solidFill>
              <a:srgbClr val="6D4562"/>
            </a:solidFill>
            <a:prstDash val="solid"/>
          </a:ln>
        </p:spPr>
      </p:sp>
      <p:sp>
        <p:nvSpPr>
          <p:cNvPr id="4" name="Text 2"/>
          <p:cNvSpPr/>
          <p:nvPr/>
        </p:nvSpPr>
        <p:spPr>
          <a:xfrm>
            <a:off x="1666280" y="1827133"/>
            <a:ext cx="5375077" cy="342900"/>
          </a:xfrm>
          <a:prstGeom prst="rect">
            <a:avLst/>
          </a:prstGeom>
          <a:noFill/>
          <a:ln/>
        </p:spPr>
        <p:txBody>
          <a:bodyPr wrap="none" lIns="0" tIns="0" rIns="0" bIns="0" rtlCol="0" anchor="t"/>
          <a:lstStyle/>
          <a:p>
            <a:pPr marL="0" indent="0" algn="l">
              <a:lnSpc>
                <a:spcPts val="2700"/>
              </a:lnSpc>
              <a:buNone/>
            </a:pPr>
            <a:r>
              <a:rPr lang="en-US" sz="2150" b="1" dirty="0">
                <a:solidFill>
                  <a:srgbClr val="DAD8E9"/>
                </a:solidFill>
                <a:latin typeface="Prompt Medium" pitchFamily="34" charset="0"/>
                <a:ea typeface="Prompt Medium" pitchFamily="34" charset="-122"/>
                <a:cs typeface="Prompt Medium" pitchFamily="34" charset="-120"/>
              </a:rPr>
              <a:t>high-bandwidth, high-latency networks</a:t>
            </a:r>
            <a:endParaRPr lang="en-US" sz="2150" b="1" dirty="0"/>
          </a:p>
        </p:txBody>
      </p:sp>
      <p:sp>
        <p:nvSpPr>
          <p:cNvPr id="5" name="Shape 3"/>
          <p:cNvSpPr/>
          <p:nvPr/>
        </p:nvSpPr>
        <p:spPr>
          <a:xfrm>
            <a:off x="7469505" y="1742361"/>
            <a:ext cx="555427" cy="555427"/>
          </a:xfrm>
          <a:prstGeom prst="roundRect">
            <a:avLst>
              <a:gd name="adj" fmla="val 18669"/>
            </a:avLst>
          </a:prstGeom>
          <a:solidFill>
            <a:srgbClr val="542C49"/>
          </a:solidFill>
          <a:ln w="15240">
            <a:solidFill>
              <a:srgbClr val="6D4562"/>
            </a:solidFill>
            <a:prstDash val="solid"/>
          </a:ln>
        </p:spPr>
      </p:sp>
      <p:sp>
        <p:nvSpPr>
          <p:cNvPr id="6" name="Text 4"/>
          <p:cNvSpPr/>
          <p:nvPr/>
        </p:nvSpPr>
        <p:spPr>
          <a:xfrm>
            <a:off x="8271748" y="1827133"/>
            <a:ext cx="4502706" cy="342900"/>
          </a:xfrm>
          <a:prstGeom prst="rect">
            <a:avLst/>
          </a:prstGeom>
          <a:noFill/>
          <a:ln/>
        </p:spPr>
        <p:txBody>
          <a:bodyPr wrap="none" lIns="0" tIns="0" rIns="0" bIns="0" rtlCol="0" anchor="t"/>
          <a:lstStyle/>
          <a:p>
            <a:pPr marL="0" indent="0" algn="l">
              <a:lnSpc>
                <a:spcPts val="2700"/>
              </a:lnSpc>
              <a:buNone/>
            </a:pPr>
            <a:r>
              <a:rPr lang="en-US" sz="2150" b="1" dirty="0">
                <a:solidFill>
                  <a:srgbClr val="DAD8E9"/>
                </a:solidFill>
                <a:latin typeface="Prompt Medium" pitchFamily="34" charset="0"/>
                <a:ea typeface="Prompt Medium" pitchFamily="34" charset="-122"/>
                <a:cs typeface="Prompt Medium" pitchFamily="34" charset="-120"/>
              </a:rPr>
              <a:t>Cubic window growth (not linear)</a:t>
            </a:r>
            <a:endParaRPr lang="en-US" sz="2150" b="1" dirty="0"/>
          </a:p>
        </p:txBody>
      </p:sp>
      <p:sp>
        <p:nvSpPr>
          <p:cNvPr id="7" name="Shape 5"/>
          <p:cNvSpPr/>
          <p:nvPr/>
        </p:nvSpPr>
        <p:spPr>
          <a:xfrm>
            <a:off x="864037" y="2791539"/>
            <a:ext cx="555427" cy="555427"/>
          </a:xfrm>
          <a:prstGeom prst="roundRect">
            <a:avLst>
              <a:gd name="adj" fmla="val 18669"/>
            </a:avLst>
          </a:prstGeom>
          <a:solidFill>
            <a:srgbClr val="542C49"/>
          </a:solidFill>
          <a:ln w="15240">
            <a:solidFill>
              <a:srgbClr val="6D4562"/>
            </a:solidFill>
            <a:prstDash val="solid"/>
          </a:ln>
        </p:spPr>
      </p:sp>
      <p:sp>
        <p:nvSpPr>
          <p:cNvPr id="8" name="Text 6"/>
          <p:cNvSpPr/>
          <p:nvPr/>
        </p:nvSpPr>
        <p:spPr>
          <a:xfrm>
            <a:off x="1666280" y="2876312"/>
            <a:ext cx="5395436" cy="342900"/>
          </a:xfrm>
          <a:prstGeom prst="rect">
            <a:avLst/>
          </a:prstGeom>
          <a:noFill/>
          <a:ln/>
        </p:spPr>
        <p:txBody>
          <a:bodyPr wrap="none" lIns="0" tIns="0" rIns="0" bIns="0" rtlCol="0" anchor="t"/>
          <a:lstStyle/>
          <a:p>
            <a:pPr marL="0" indent="0" algn="l">
              <a:lnSpc>
                <a:spcPts val="2700"/>
              </a:lnSpc>
              <a:buNone/>
            </a:pPr>
            <a:r>
              <a:rPr lang="en-US" sz="2150" b="1" dirty="0">
                <a:solidFill>
                  <a:srgbClr val="DAD8E9"/>
                </a:solidFill>
                <a:latin typeface="Prompt Medium" pitchFamily="34" charset="0"/>
                <a:ea typeface="Prompt Medium" pitchFamily="34" charset="-122"/>
                <a:cs typeface="Prompt Medium" pitchFamily="34" charset="-120"/>
              </a:rPr>
              <a:t>Detects congestion through packet loss</a:t>
            </a:r>
            <a:endParaRPr lang="en-US" sz="2150" b="1" dirty="0"/>
          </a:p>
        </p:txBody>
      </p:sp>
      <p:sp>
        <p:nvSpPr>
          <p:cNvPr id="9" name="Shape 7"/>
          <p:cNvSpPr/>
          <p:nvPr/>
        </p:nvSpPr>
        <p:spPr>
          <a:xfrm>
            <a:off x="7469505" y="2791539"/>
            <a:ext cx="555427" cy="555427"/>
          </a:xfrm>
          <a:prstGeom prst="roundRect">
            <a:avLst>
              <a:gd name="adj" fmla="val 18669"/>
            </a:avLst>
          </a:prstGeom>
          <a:solidFill>
            <a:srgbClr val="542C49"/>
          </a:solidFill>
          <a:ln w="15240">
            <a:solidFill>
              <a:srgbClr val="6D4562"/>
            </a:solidFill>
            <a:prstDash val="solid"/>
          </a:ln>
        </p:spPr>
      </p:sp>
      <p:sp>
        <p:nvSpPr>
          <p:cNvPr id="10" name="Text 8"/>
          <p:cNvSpPr/>
          <p:nvPr/>
        </p:nvSpPr>
        <p:spPr>
          <a:xfrm>
            <a:off x="8271748" y="2876312"/>
            <a:ext cx="4153853" cy="342900"/>
          </a:xfrm>
          <a:prstGeom prst="rect">
            <a:avLst/>
          </a:prstGeom>
          <a:noFill/>
          <a:ln/>
        </p:spPr>
        <p:txBody>
          <a:bodyPr wrap="none" lIns="0" tIns="0" rIns="0" bIns="0" rtlCol="0" anchor="t"/>
          <a:lstStyle/>
          <a:p>
            <a:pPr marL="0" indent="0" algn="l">
              <a:lnSpc>
                <a:spcPts val="2700"/>
              </a:lnSpc>
              <a:buNone/>
            </a:pPr>
            <a:r>
              <a:rPr lang="en-US" sz="2150" b="1" dirty="0">
                <a:solidFill>
                  <a:srgbClr val="DAD8E9"/>
                </a:solidFill>
                <a:latin typeface="Prompt Medium" pitchFamily="34" charset="0"/>
                <a:ea typeface="Prompt Medium" pitchFamily="34" charset="-122"/>
                <a:cs typeface="Prompt Medium" pitchFamily="34" charset="-120"/>
              </a:rPr>
              <a:t>RTT-independent performance</a:t>
            </a:r>
            <a:endParaRPr lang="en-US" sz="2150" b="1" dirty="0"/>
          </a:p>
        </p:txBody>
      </p:sp>
      <p:pic>
        <p:nvPicPr>
          <p:cNvPr id="13" name="תמונה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6627" y="4473390"/>
            <a:ext cx="4650138" cy="904695"/>
          </a:xfrm>
          <a:prstGeom prst="rect">
            <a:avLst/>
          </a:prstGeom>
        </p:spPr>
      </p:pic>
      <p:pic>
        <p:nvPicPr>
          <p:cNvPr id="14" name="תמונה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9464" y="4114799"/>
            <a:ext cx="6930278" cy="3355384"/>
          </a:xfrm>
          <a:prstGeom prst="rect">
            <a:avLst/>
          </a:prstGeom>
        </p:spPr>
      </p:pic>
      <p:pic>
        <p:nvPicPr>
          <p:cNvPr id="15" name="תמונה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96627" y="5806052"/>
            <a:ext cx="4718985" cy="964770"/>
          </a:xfrm>
          <a:prstGeom prst="rect">
            <a:avLst/>
          </a:prstGeom>
        </p:spPr>
      </p:pic>
      <p:sp>
        <p:nvSpPr>
          <p:cNvPr id="16" name="Text 8"/>
          <p:cNvSpPr/>
          <p:nvPr/>
        </p:nvSpPr>
        <p:spPr>
          <a:xfrm>
            <a:off x="8349742" y="3456833"/>
            <a:ext cx="4916807" cy="607077"/>
          </a:xfrm>
          <a:prstGeom prst="rect">
            <a:avLst/>
          </a:prstGeom>
          <a:noFill/>
          <a:ln>
            <a:solidFill>
              <a:schemeClr val="tx1"/>
            </a:solidFill>
          </a:ln>
        </p:spPr>
        <p:txBody>
          <a:bodyPr wrap="none" lIns="0" tIns="0" rIns="0" bIns="0" rtlCol="0" anchor="t"/>
          <a:lstStyle/>
          <a:p>
            <a:pPr marL="0" indent="0" algn="l">
              <a:lnSpc>
                <a:spcPts val="2700"/>
              </a:lnSpc>
              <a:buNone/>
            </a:pPr>
            <a:r>
              <a:rPr lang="en-US" sz="2150" b="1" dirty="0" smtClean="0">
                <a:solidFill>
                  <a:srgbClr val="DAD8E9"/>
                </a:solidFill>
                <a:latin typeface="Prompt Medium" pitchFamily="34" charset="0"/>
                <a:ea typeface="Prompt Medium" pitchFamily="34" charset="-122"/>
                <a:cs typeface="Prompt Medium" pitchFamily="34" charset="-120"/>
              </a:rPr>
              <a:t>In theory CUBIC is RTT-independent</a:t>
            </a:r>
            <a:endParaRPr lang="en-US" sz="215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26780" y="0"/>
            <a:ext cx="6103620" cy="8229600"/>
          </a:xfrm>
          <a:prstGeom prst="rect">
            <a:avLst/>
          </a:prstGeom>
        </p:spPr>
      </p:pic>
      <p:pic>
        <p:nvPicPr>
          <p:cNvPr id="3" name="Image 1" descr="preencoded.png"/>
          <p:cNvPicPr>
            <a:picLocks noChangeAspect="1"/>
          </p:cNvPicPr>
          <p:nvPr/>
        </p:nvPicPr>
        <p:blipFill>
          <a:blip r:embed="rId4"/>
          <a:stretch>
            <a:fillRect/>
          </a:stretch>
        </p:blipFill>
        <p:spPr>
          <a:xfrm>
            <a:off x="8848791" y="2542342"/>
            <a:ext cx="5534132" cy="3574485"/>
          </a:xfrm>
          <a:prstGeom prst="rect">
            <a:avLst/>
          </a:prstGeom>
        </p:spPr>
      </p:pic>
      <p:sp>
        <p:nvSpPr>
          <p:cNvPr id="4" name="Text 0"/>
          <p:cNvSpPr/>
          <p:nvPr/>
        </p:nvSpPr>
        <p:spPr>
          <a:xfrm>
            <a:off x="864037" y="1103114"/>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DCTCP</a:t>
            </a:r>
            <a:endParaRPr lang="en-US" sz="4300" dirty="0"/>
          </a:p>
        </p:txBody>
      </p:sp>
      <p:sp>
        <p:nvSpPr>
          <p:cNvPr id="5" name="Shape 1"/>
          <p:cNvSpPr/>
          <p:nvPr/>
        </p:nvSpPr>
        <p:spPr>
          <a:xfrm>
            <a:off x="864037" y="2159198"/>
            <a:ext cx="555427" cy="555427"/>
          </a:xfrm>
          <a:prstGeom prst="roundRect">
            <a:avLst>
              <a:gd name="adj" fmla="val 18669"/>
            </a:avLst>
          </a:prstGeom>
          <a:solidFill>
            <a:srgbClr val="542C49"/>
          </a:solidFill>
          <a:ln w="15240">
            <a:solidFill>
              <a:srgbClr val="6D4562"/>
            </a:solidFill>
            <a:prstDash val="solid"/>
          </a:ln>
        </p:spPr>
      </p:sp>
      <p:sp>
        <p:nvSpPr>
          <p:cNvPr id="6" name="Text 2"/>
          <p:cNvSpPr/>
          <p:nvPr/>
        </p:nvSpPr>
        <p:spPr>
          <a:xfrm>
            <a:off x="1666280" y="2243971"/>
            <a:ext cx="6613684" cy="685800"/>
          </a:xfrm>
          <a:prstGeom prst="rect">
            <a:avLst/>
          </a:prstGeom>
          <a:noFill/>
          <a:ln/>
        </p:spPr>
        <p:txBody>
          <a:bodyPr wrap="squar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Optimized for high-speed, low-latency </a:t>
            </a:r>
            <a:r>
              <a:rPr lang="en-US" sz="2150" b="1" dirty="0">
                <a:solidFill>
                  <a:srgbClr val="DAD8E9"/>
                </a:solidFill>
                <a:latin typeface="Prompt Medium" pitchFamily="34" charset="0"/>
                <a:ea typeface="Prompt Medium" pitchFamily="34" charset="-122"/>
                <a:cs typeface="Prompt Medium" pitchFamily="34" charset="-120"/>
              </a:rPr>
              <a:t>data centers</a:t>
            </a:r>
            <a:endParaRPr lang="en-US" sz="2150" dirty="0"/>
          </a:p>
        </p:txBody>
      </p:sp>
      <p:sp>
        <p:nvSpPr>
          <p:cNvPr id="7" name="Shape 3"/>
          <p:cNvSpPr/>
          <p:nvPr/>
        </p:nvSpPr>
        <p:spPr>
          <a:xfrm>
            <a:off x="864037" y="3423523"/>
            <a:ext cx="555427" cy="555427"/>
          </a:xfrm>
          <a:prstGeom prst="roundRect">
            <a:avLst>
              <a:gd name="adj" fmla="val 18669"/>
            </a:avLst>
          </a:prstGeom>
          <a:solidFill>
            <a:srgbClr val="542C49"/>
          </a:solidFill>
          <a:ln w="15240">
            <a:solidFill>
              <a:srgbClr val="6D4562"/>
            </a:solidFill>
            <a:prstDash val="solid"/>
          </a:ln>
        </p:spPr>
      </p:sp>
      <p:sp>
        <p:nvSpPr>
          <p:cNvPr id="8" name="Text 4"/>
          <p:cNvSpPr/>
          <p:nvPr/>
        </p:nvSpPr>
        <p:spPr>
          <a:xfrm>
            <a:off x="1666280" y="3508296"/>
            <a:ext cx="5485567"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Uses </a:t>
            </a:r>
            <a:r>
              <a:rPr lang="en-US" sz="2150" b="1" dirty="0">
                <a:solidFill>
                  <a:srgbClr val="DAD8E9"/>
                </a:solidFill>
                <a:latin typeface="Prompt Medium" pitchFamily="34" charset="0"/>
                <a:ea typeface="Prompt Medium" pitchFamily="34" charset="-122"/>
                <a:cs typeface="Prompt Medium" pitchFamily="34" charset="-120"/>
              </a:rPr>
              <a:t>ECN</a:t>
            </a:r>
            <a:r>
              <a:rPr lang="en-US" sz="2150" dirty="0">
                <a:solidFill>
                  <a:srgbClr val="DAD8E9"/>
                </a:solidFill>
                <a:latin typeface="Prompt Medium" pitchFamily="34" charset="0"/>
                <a:ea typeface="Prompt Medium" pitchFamily="34" charset="-122"/>
                <a:cs typeface="Prompt Medium" pitchFamily="34" charset="-120"/>
              </a:rPr>
              <a:t> for early congestion detection</a:t>
            </a:r>
            <a:endParaRPr lang="en-US" sz="2150" dirty="0"/>
          </a:p>
        </p:txBody>
      </p:sp>
      <p:sp>
        <p:nvSpPr>
          <p:cNvPr id="9" name="Shape 5"/>
          <p:cNvSpPr/>
          <p:nvPr/>
        </p:nvSpPr>
        <p:spPr>
          <a:xfrm>
            <a:off x="864037" y="4472702"/>
            <a:ext cx="555427" cy="555427"/>
          </a:xfrm>
          <a:prstGeom prst="roundRect">
            <a:avLst>
              <a:gd name="adj" fmla="val 18669"/>
            </a:avLst>
          </a:prstGeom>
          <a:solidFill>
            <a:srgbClr val="542C49"/>
          </a:solidFill>
          <a:ln w="15240">
            <a:solidFill>
              <a:srgbClr val="6D4562"/>
            </a:solidFill>
            <a:prstDash val="solid"/>
          </a:ln>
        </p:spPr>
      </p:sp>
      <p:sp>
        <p:nvSpPr>
          <p:cNvPr id="10" name="Text 6"/>
          <p:cNvSpPr/>
          <p:nvPr/>
        </p:nvSpPr>
        <p:spPr>
          <a:xfrm>
            <a:off x="1666280" y="4557474"/>
            <a:ext cx="4005739"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Maintains </a:t>
            </a:r>
            <a:r>
              <a:rPr lang="en-US" sz="2150" b="1" dirty="0">
                <a:solidFill>
                  <a:srgbClr val="DAD8E9"/>
                </a:solidFill>
                <a:latin typeface="Prompt Medium" pitchFamily="34" charset="0"/>
                <a:ea typeface="Prompt Medium" pitchFamily="34" charset="-122"/>
                <a:cs typeface="Prompt Medium" pitchFamily="34" charset="-120"/>
              </a:rPr>
              <a:t>minimal packet loss</a:t>
            </a:r>
            <a:endParaRPr lang="en-US" sz="2150" dirty="0"/>
          </a:p>
        </p:txBody>
      </p:sp>
      <p:sp>
        <p:nvSpPr>
          <p:cNvPr id="11" name="Shape 7"/>
          <p:cNvSpPr/>
          <p:nvPr/>
        </p:nvSpPr>
        <p:spPr>
          <a:xfrm>
            <a:off x="864037" y="5521881"/>
            <a:ext cx="555427" cy="555427"/>
          </a:xfrm>
          <a:prstGeom prst="roundRect">
            <a:avLst>
              <a:gd name="adj" fmla="val 18669"/>
            </a:avLst>
          </a:prstGeom>
          <a:solidFill>
            <a:srgbClr val="542C49"/>
          </a:solidFill>
          <a:ln w="15240">
            <a:solidFill>
              <a:srgbClr val="6D4562"/>
            </a:solidFill>
            <a:prstDash val="solid"/>
          </a:ln>
        </p:spPr>
      </p:sp>
      <p:sp>
        <p:nvSpPr>
          <p:cNvPr id="12" name="Text 8"/>
          <p:cNvSpPr/>
          <p:nvPr/>
        </p:nvSpPr>
        <p:spPr>
          <a:xfrm>
            <a:off x="1666280" y="5606653"/>
            <a:ext cx="3524607"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Achieves </a:t>
            </a:r>
            <a:r>
              <a:rPr lang="en-US" sz="2150" b="1" dirty="0">
                <a:solidFill>
                  <a:srgbClr val="DAD8E9"/>
                </a:solidFill>
                <a:latin typeface="Prompt Medium" pitchFamily="34" charset="0"/>
                <a:ea typeface="Prompt Medium" pitchFamily="34" charset="-122"/>
                <a:cs typeface="Prompt Medium" pitchFamily="34" charset="-120"/>
              </a:rPr>
              <a:t>high throughput</a:t>
            </a:r>
            <a:endParaRPr lang="en-US" sz="2150" dirty="0"/>
          </a:p>
        </p:txBody>
      </p:sp>
      <p:sp>
        <p:nvSpPr>
          <p:cNvPr id="13" name="Shape 9"/>
          <p:cNvSpPr/>
          <p:nvPr/>
        </p:nvSpPr>
        <p:spPr>
          <a:xfrm>
            <a:off x="864037" y="6571059"/>
            <a:ext cx="555427" cy="555427"/>
          </a:xfrm>
          <a:prstGeom prst="roundRect">
            <a:avLst>
              <a:gd name="adj" fmla="val 18669"/>
            </a:avLst>
          </a:prstGeom>
          <a:solidFill>
            <a:srgbClr val="542C49"/>
          </a:solidFill>
          <a:ln w="15240">
            <a:solidFill>
              <a:srgbClr val="6D4562"/>
            </a:solidFill>
            <a:prstDash val="solid"/>
          </a:ln>
        </p:spPr>
      </p:sp>
      <p:sp>
        <p:nvSpPr>
          <p:cNvPr id="14" name="Text 10"/>
          <p:cNvSpPr/>
          <p:nvPr/>
        </p:nvSpPr>
        <p:spPr>
          <a:xfrm>
            <a:off x="1666280" y="6655832"/>
            <a:ext cx="4803815" cy="342900"/>
          </a:xfrm>
          <a:prstGeom prst="rect">
            <a:avLst/>
          </a:prstGeom>
          <a:noFill/>
          <a:ln/>
        </p:spPr>
        <p:txBody>
          <a:bodyPr wrap="none" lIns="0" tIns="0" rIns="0" bIns="0" rtlCol="0" anchor="t"/>
          <a:lstStyle/>
          <a:p>
            <a:pPr marL="0" indent="0" algn="l">
              <a:lnSpc>
                <a:spcPts val="2700"/>
              </a:lnSpc>
              <a:buNone/>
            </a:pPr>
            <a:r>
              <a:rPr lang="en-US" sz="2150" dirty="0" smtClean="0">
                <a:solidFill>
                  <a:srgbClr val="DAD8E9"/>
                </a:solidFill>
                <a:latin typeface="Prompt Medium" pitchFamily="34" charset="0"/>
                <a:ea typeface="Prompt Medium" pitchFamily="34" charset="-122"/>
                <a:cs typeface="Prompt Medium" pitchFamily="34" charset="-120"/>
              </a:rPr>
              <a:t>Ensures </a:t>
            </a:r>
            <a:r>
              <a:rPr lang="en-US" sz="2150" b="1" dirty="0" smtClean="0">
                <a:solidFill>
                  <a:srgbClr val="DAD8E9"/>
                </a:solidFill>
                <a:latin typeface="Prompt Medium" pitchFamily="34" charset="0"/>
                <a:ea typeface="Prompt Medium" pitchFamily="34" charset="-122"/>
                <a:cs typeface="Prompt Medium" pitchFamily="34" charset="-120"/>
              </a:rPr>
              <a:t>low latency</a:t>
            </a:r>
            <a:r>
              <a:rPr lang="en-US" sz="2150" dirty="0" smtClean="0">
                <a:solidFill>
                  <a:srgbClr val="DAD8E9"/>
                </a:solidFill>
                <a:latin typeface="Prompt Medium" pitchFamily="34" charset="0"/>
                <a:ea typeface="Prompt Medium" pitchFamily="34" charset="-122"/>
                <a:cs typeface="Prompt Medium" pitchFamily="34" charset="-120"/>
              </a:rPr>
              <a:t> communication</a:t>
            </a:r>
            <a:endParaRPr lang="en-US" sz="21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4037" y="1220867"/>
            <a:ext cx="5486400" cy="685800"/>
          </a:xfrm>
          <a:prstGeom prst="rect">
            <a:avLst/>
          </a:prstGeom>
          <a:noFill/>
          <a:ln/>
        </p:spPr>
        <p:txBody>
          <a:bodyPr wrap="none" lIns="0" tIns="0" rIns="0" bIns="0" rtlCol="0" anchor="t"/>
          <a:lstStyle/>
          <a:p>
            <a:pPr marL="0" indent="0" algn="l">
              <a:lnSpc>
                <a:spcPts val="5400"/>
              </a:lnSpc>
              <a:buNone/>
            </a:pPr>
            <a:endParaRPr lang="en-US" sz="4300" dirty="0"/>
          </a:p>
        </p:txBody>
      </p:sp>
      <p:sp>
        <p:nvSpPr>
          <p:cNvPr id="4" name="Text 1"/>
          <p:cNvSpPr/>
          <p:nvPr/>
        </p:nvSpPr>
        <p:spPr>
          <a:xfrm>
            <a:off x="2366486" y="5510927"/>
            <a:ext cx="3291840" cy="411480"/>
          </a:xfrm>
          <a:prstGeom prst="rect">
            <a:avLst/>
          </a:prstGeom>
          <a:noFill/>
          <a:ln/>
        </p:spPr>
        <p:txBody>
          <a:bodyPr wrap="none" lIns="0" tIns="0" rIns="0" bIns="0" rtlCol="0" anchor="t"/>
          <a:lstStyle/>
          <a:p>
            <a:pPr marL="0" indent="0" algn="ctr">
              <a:lnSpc>
                <a:spcPts val="3200"/>
              </a:lnSpc>
              <a:buNone/>
            </a:pPr>
            <a:r>
              <a:rPr lang="en-US" sz="2550" dirty="0">
                <a:solidFill>
                  <a:srgbClr val="DAD8E9"/>
                </a:solidFill>
                <a:latin typeface="Prompt Medium" pitchFamily="34" charset="0"/>
                <a:ea typeface="Prompt Medium" pitchFamily="34" charset="-122"/>
                <a:cs typeface="Prompt Medium" pitchFamily="34" charset="-120"/>
              </a:rPr>
              <a:t>Dumbbell </a:t>
            </a:r>
            <a:r>
              <a:rPr lang="en-US" sz="2550" dirty="0" smtClean="0">
                <a:solidFill>
                  <a:srgbClr val="DAD8E9"/>
                </a:solidFill>
                <a:latin typeface="Prompt Medium" pitchFamily="34" charset="0"/>
                <a:ea typeface="Prompt Medium" pitchFamily="34" charset="-122"/>
                <a:cs typeface="Prompt Medium" pitchFamily="34" charset="-120"/>
              </a:rPr>
              <a:t>Topology-</a:t>
            </a:r>
            <a:endParaRPr lang="en-US" sz="2550" dirty="0"/>
          </a:p>
        </p:txBody>
      </p:sp>
      <p:sp>
        <p:nvSpPr>
          <p:cNvPr id="5" name="Text 2"/>
          <p:cNvSpPr/>
          <p:nvPr/>
        </p:nvSpPr>
        <p:spPr>
          <a:xfrm>
            <a:off x="864037" y="6070521"/>
            <a:ext cx="6296858" cy="395049"/>
          </a:xfrm>
          <a:prstGeom prst="rect">
            <a:avLst/>
          </a:prstGeom>
          <a:noFill/>
          <a:ln/>
        </p:spPr>
        <p:txBody>
          <a:bodyPr wrap="non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rPr>
              <a:t>•High-capacity center link</a:t>
            </a:r>
            <a:endParaRPr lang="en-US" sz="1900" dirty="0"/>
          </a:p>
        </p:txBody>
      </p:sp>
      <p:sp>
        <p:nvSpPr>
          <p:cNvPr id="6" name="Text 3"/>
          <p:cNvSpPr/>
          <p:nvPr/>
        </p:nvSpPr>
        <p:spPr>
          <a:xfrm>
            <a:off x="864037" y="6613684"/>
            <a:ext cx="6296858" cy="395049"/>
          </a:xfrm>
          <a:prstGeom prst="rect">
            <a:avLst/>
          </a:prstGeom>
          <a:noFill/>
          <a:ln/>
        </p:spPr>
        <p:txBody>
          <a:bodyPr wrap="non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rPr>
              <a:t>•Simulates bottlenecks</a:t>
            </a:r>
            <a:endParaRPr lang="en-US" sz="1900" dirty="0"/>
          </a:p>
        </p:txBody>
      </p:sp>
      <p:pic>
        <p:nvPicPr>
          <p:cNvPr id="7" name="Image 1" descr="preencoded.png"/>
          <p:cNvPicPr>
            <a:picLocks noChangeAspect="1"/>
          </p:cNvPicPr>
          <p:nvPr/>
        </p:nvPicPr>
        <p:blipFill>
          <a:blip r:embed="rId3"/>
          <a:stretch>
            <a:fillRect/>
          </a:stretch>
        </p:blipFill>
        <p:spPr>
          <a:xfrm>
            <a:off x="8351044" y="2400419"/>
            <a:ext cx="4533662" cy="2801898"/>
          </a:xfrm>
          <a:prstGeom prst="rect">
            <a:avLst/>
          </a:prstGeom>
        </p:spPr>
      </p:pic>
      <p:sp>
        <p:nvSpPr>
          <p:cNvPr id="8" name="Text 4"/>
          <p:cNvSpPr/>
          <p:nvPr/>
        </p:nvSpPr>
        <p:spPr>
          <a:xfrm>
            <a:off x="8773716" y="5510927"/>
            <a:ext cx="3688437" cy="411480"/>
          </a:xfrm>
          <a:prstGeom prst="rect">
            <a:avLst/>
          </a:prstGeom>
          <a:noFill/>
          <a:ln/>
        </p:spPr>
        <p:txBody>
          <a:bodyPr wrap="none" lIns="0" tIns="0" rIns="0" bIns="0" rtlCol="0" anchor="t"/>
          <a:lstStyle/>
          <a:p>
            <a:pPr marL="0" indent="0" algn="ctr">
              <a:lnSpc>
                <a:spcPts val="3200"/>
              </a:lnSpc>
              <a:buNone/>
            </a:pPr>
            <a:r>
              <a:rPr lang="en-US" sz="2550" dirty="0" smtClean="0">
                <a:solidFill>
                  <a:srgbClr val="DAD8E9"/>
                </a:solidFill>
                <a:latin typeface="Prompt Medium" pitchFamily="34" charset="0"/>
                <a:ea typeface="Prompt Medium" pitchFamily="34" charset="-122"/>
                <a:cs typeface="Prompt Medium" pitchFamily="34" charset="-120"/>
              </a:rPr>
              <a:t>Bottleneck</a:t>
            </a:r>
            <a:endParaRPr lang="en-US" sz="2550" dirty="0"/>
          </a:p>
        </p:txBody>
      </p:sp>
      <p:sp>
        <p:nvSpPr>
          <p:cNvPr id="9" name="Text 5"/>
          <p:cNvSpPr/>
          <p:nvPr/>
        </p:nvSpPr>
        <p:spPr>
          <a:xfrm>
            <a:off x="7469505" y="6070521"/>
            <a:ext cx="6296858" cy="395049"/>
          </a:xfrm>
          <a:prstGeom prst="rect">
            <a:avLst/>
          </a:prstGeom>
          <a:noFill/>
          <a:ln/>
        </p:spPr>
        <p:txBody>
          <a:bodyPr wrap="non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rPr>
              <a:t>•Bottlenecks occur in high-traffic zones</a:t>
            </a:r>
            <a:endParaRPr lang="en-US" sz="1900" dirty="0"/>
          </a:p>
        </p:txBody>
      </p:sp>
      <p:sp>
        <p:nvSpPr>
          <p:cNvPr id="10" name="Text 6"/>
          <p:cNvSpPr/>
          <p:nvPr/>
        </p:nvSpPr>
        <p:spPr>
          <a:xfrm>
            <a:off x="7469505" y="6613684"/>
            <a:ext cx="6296858" cy="395049"/>
          </a:xfrm>
          <a:prstGeom prst="rect">
            <a:avLst/>
          </a:prstGeom>
          <a:noFill/>
          <a:ln/>
        </p:spPr>
        <p:txBody>
          <a:bodyPr wrap="none" lIns="0" tIns="0" rIns="0" bIns="0" rtlCol="0" anchor="t"/>
          <a:lstStyle/>
          <a:p>
            <a:pPr marL="0" indent="0" algn="ctr">
              <a:lnSpc>
                <a:spcPts val="3100"/>
              </a:lnSpc>
              <a:buNone/>
            </a:pPr>
            <a:r>
              <a:rPr lang="en-US" sz="1900" dirty="0">
                <a:solidFill>
                  <a:srgbClr val="DAD8E9"/>
                </a:solidFill>
                <a:latin typeface="Mukta Light" pitchFamily="34" charset="0"/>
                <a:ea typeface="Mukta Light" pitchFamily="34" charset="-122"/>
              </a:rPr>
              <a:t>•Often found at the center link</a:t>
            </a:r>
            <a:endParaRPr lang="en-US" sz="1900" dirty="0"/>
          </a:p>
        </p:txBody>
      </p:sp>
      <p:pic>
        <p:nvPicPr>
          <p:cNvPr id="12" name="תמונה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0472" y="2400419"/>
            <a:ext cx="4533662" cy="2737723"/>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52610" y="1680210"/>
            <a:ext cx="4869180" cy="4869180"/>
          </a:xfrm>
          <a:prstGeom prst="rect">
            <a:avLst/>
          </a:prstGeom>
        </p:spPr>
      </p:pic>
      <p:sp>
        <p:nvSpPr>
          <p:cNvPr id="4" name="Text 0"/>
          <p:cNvSpPr/>
          <p:nvPr/>
        </p:nvSpPr>
        <p:spPr>
          <a:xfrm>
            <a:off x="864037" y="1503283"/>
            <a:ext cx="5970865"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Fairness Computation </a:t>
            </a:r>
            <a:endParaRPr lang="en-US" sz="4300" dirty="0"/>
          </a:p>
        </p:txBody>
      </p:sp>
      <p:sp>
        <p:nvSpPr>
          <p:cNvPr id="5" name="Text 1"/>
          <p:cNvSpPr/>
          <p:nvPr/>
        </p:nvSpPr>
        <p:spPr>
          <a:xfrm>
            <a:off x="864037" y="2806184"/>
            <a:ext cx="2070140" cy="685800"/>
          </a:xfrm>
          <a:prstGeom prst="rect">
            <a:avLst/>
          </a:prstGeom>
          <a:noFill/>
          <a:ln/>
        </p:spPr>
        <p:txBody>
          <a:bodyPr wrap="square" lIns="0" tIns="0" rIns="0" bIns="0" rtlCol="0" anchor="t"/>
          <a:lstStyle/>
          <a:p>
            <a:pPr marL="0" indent="0" algn="l">
              <a:lnSpc>
                <a:spcPts val="2700"/>
              </a:lnSpc>
              <a:buNone/>
            </a:pPr>
            <a:r>
              <a:rPr lang="en-US" sz="2150" dirty="0" smtClean="0">
                <a:solidFill>
                  <a:srgbClr val="C6BFEE"/>
                </a:solidFill>
                <a:latin typeface="Prompt Medium" pitchFamily="34" charset="0"/>
                <a:ea typeface="Prompt Medium" pitchFamily="34" charset="-122"/>
                <a:cs typeface="Prompt Medium" pitchFamily="34" charset="-120"/>
              </a:rPr>
              <a:t>Max-Min </a:t>
            </a:r>
            <a:r>
              <a:rPr lang="en-US" sz="2150" dirty="0">
                <a:solidFill>
                  <a:srgbClr val="C6BFEE"/>
                </a:solidFill>
                <a:latin typeface="Prompt Medium" pitchFamily="34" charset="0"/>
                <a:ea typeface="Prompt Medium" pitchFamily="34" charset="-122"/>
                <a:cs typeface="Prompt Medium" pitchFamily="34" charset="-120"/>
              </a:rPr>
              <a:t>Fairness</a:t>
            </a:r>
            <a:endParaRPr lang="en-US" sz="2150" dirty="0"/>
          </a:p>
        </p:txBody>
      </p:sp>
      <p:sp>
        <p:nvSpPr>
          <p:cNvPr id="6" name="Text 2"/>
          <p:cNvSpPr/>
          <p:nvPr/>
        </p:nvSpPr>
        <p:spPr>
          <a:xfrm>
            <a:off x="864037" y="3738801"/>
            <a:ext cx="2070140" cy="2765346"/>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One can not increase the rate of a flow, without decreasing the rate of another flow having equal or lesser rate</a:t>
            </a:r>
            <a:endParaRPr lang="en-US" sz="1900" dirty="0"/>
          </a:p>
        </p:txBody>
      </p:sp>
      <p:sp>
        <p:nvSpPr>
          <p:cNvPr id="7" name="Text 3"/>
          <p:cNvSpPr/>
          <p:nvPr/>
        </p:nvSpPr>
        <p:spPr>
          <a:xfrm>
            <a:off x="3544014" y="2806184"/>
            <a:ext cx="2070973" cy="342900"/>
          </a:xfrm>
          <a:prstGeom prst="rect">
            <a:avLst/>
          </a:prstGeom>
          <a:noFill/>
          <a:ln/>
        </p:spPr>
        <p:txBody>
          <a:bodyPr wrap="none" lIns="0" tIns="0" rIns="0" bIns="0" rtlCol="0" anchor="t"/>
          <a:lstStyle/>
          <a:p>
            <a:pPr marL="0" indent="0" algn="l">
              <a:lnSpc>
                <a:spcPts val="2700"/>
              </a:lnSpc>
              <a:buNone/>
            </a:pPr>
            <a:r>
              <a:rPr lang="en-US" sz="2150" dirty="0">
                <a:solidFill>
                  <a:srgbClr val="C6BFEE"/>
                </a:solidFill>
                <a:latin typeface="Prompt Medium" pitchFamily="34" charset="0"/>
                <a:ea typeface="Prompt Medium" pitchFamily="34" charset="-122"/>
                <a:cs typeface="Prompt Medium" pitchFamily="34" charset="-120"/>
              </a:rPr>
              <a:t>Jain’s Index</a:t>
            </a:r>
            <a:endParaRPr lang="en-US" sz="2150" dirty="0"/>
          </a:p>
        </p:txBody>
      </p:sp>
      <p:sp>
        <p:nvSpPr>
          <p:cNvPr id="8" name="Text 4"/>
          <p:cNvSpPr/>
          <p:nvPr/>
        </p:nvSpPr>
        <p:spPr>
          <a:xfrm>
            <a:off x="3544014" y="3395901"/>
            <a:ext cx="2070973" cy="158019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measures the equality of resource distribution among users</a:t>
            </a:r>
            <a:endParaRPr lang="en-US" sz="1900" dirty="0"/>
          </a:p>
        </p:txBody>
      </p:sp>
      <p:pic>
        <p:nvPicPr>
          <p:cNvPr id="9" name="Image 2" descr="preencoded.png"/>
          <p:cNvPicPr>
            <a:picLocks noChangeAspect="1"/>
          </p:cNvPicPr>
          <p:nvPr/>
        </p:nvPicPr>
        <p:blipFill>
          <a:blip r:embed="rId5"/>
          <a:stretch>
            <a:fillRect/>
          </a:stretch>
        </p:blipFill>
        <p:spPr>
          <a:xfrm>
            <a:off x="3544014" y="5253752"/>
            <a:ext cx="2070973" cy="65127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308729" y="2923461"/>
            <a:ext cx="4868942" cy="2382679"/>
          </a:xfrm>
          <a:prstGeom prst="rect">
            <a:avLst/>
          </a:prstGeom>
        </p:spPr>
      </p:pic>
      <p:sp>
        <p:nvSpPr>
          <p:cNvPr id="4" name="Text 0"/>
          <p:cNvSpPr/>
          <p:nvPr/>
        </p:nvSpPr>
        <p:spPr>
          <a:xfrm>
            <a:off x="6350437" y="1658064"/>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ns3</a:t>
            </a:r>
            <a:endParaRPr lang="en-US" sz="4300" dirty="0"/>
          </a:p>
        </p:txBody>
      </p:sp>
      <p:sp>
        <p:nvSpPr>
          <p:cNvPr id="5" name="Shape 1"/>
          <p:cNvSpPr/>
          <p:nvPr/>
        </p:nvSpPr>
        <p:spPr>
          <a:xfrm>
            <a:off x="6350437" y="2714149"/>
            <a:ext cx="3584615" cy="2200275"/>
          </a:xfrm>
          <a:prstGeom prst="roundRect">
            <a:avLst>
              <a:gd name="adj" fmla="val 4713"/>
            </a:avLst>
          </a:prstGeom>
          <a:solidFill>
            <a:srgbClr val="542C49"/>
          </a:solidFill>
          <a:ln w="15240">
            <a:solidFill>
              <a:srgbClr val="6D4562"/>
            </a:solidFill>
            <a:prstDash val="solid"/>
          </a:ln>
        </p:spPr>
      </p:sp>
      <p:sp>
        <p:nvSpPr>
          <p:cNvPr id="6" name="Text 2"/>
          <p:cNvSpPr/>
          <p:nvPr/>
        </p:nvSpPr>
        <p:spPr>
          <a:xfrm>
            <a:off x="6612493" y="2976205"/>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Purpose</a:t>
            </a:r>
            <a:endParaRPr lang="en-US" sz="2150" dirty="0"/>
          </a:p>
        </p:txBody>
      </p:sp>
      <p:sp>
        <p:nvSpPr>
          <p:cNvPr id="7" name="Text 3"/>
          <p:cNvSpPr/>
          <p:nvPr/>
        </p:nvSpPr>
        <p:spPr>
          <a:xfrm>
            <a:off x="6612493" y="3467219"/>
            <a:ext cx="3060502" cy="118514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a discrete-event network simulator, used for research and educational purposes.</a:t>
            </a:r>
            <a:endParaRPr lang="en-US" sz="1900" dirty="0"/>
          </a:p>
        </p:txBody>
      </p:sp>
      <p:sp>
        <p:nvSpPr>
          <p:cNvPr id="8" name="Shape 4"/>
          <p:cNvSpPr/>
          <p:nvPr/>
        </p:nvSpPr>
        <p:spPr>
          <a:xfrm>
            <a:off x="10181868" y="2714149"/>
            <a:ext cx="3584615" cy="2200275"/>
          </a:xfrm>
          <a:prstGeom prst="roundRect">
            <a:avLst>
              <a:gd name="adj" fmla="val 4713"/>
            </a:avLst>
          </a:prstGeom>
          <a:solidFill>
            <a:srgbClr val="542C49"/>
          </a:solidFill>
          <a:ln w="15240">
            <a:solidFill>
              <a:srgbClr val="6D4562"/>
            </a:solidFill>
            <a:prstDash val="solid"/>
          </a:ln>
        </p:spPr>
      </p:sp>
      <p:sp>
        <p:nvSpPr>
          <p:cNvPr id="9" name="Text 5"/>
          <p:cNvSpPr/>
          <p:nvPr/>
        </p:nvSpPr>
        <p:spPr>
          <a:xfrm>
            <a:off x="10443924" y="2976205"/>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Benefit</a:t>
            </a:r>
            <a:endParaRPr lang="en-US" sz="2150" dirty="0"/>
          </a:p>
        </p:txBody>
      </p:sp>
      <p:sp>
        <p:nvSpPr>
          <p:cNvPr id="10" name="Text 6"/>
          <p:cNvSpPr/>
          <p:nvPr/>
        </p:nvSpPr>
        <p:spPr>
          <a:xfrm>
            <a:off x="10443924" y="3467219"/>
            <a:ext cx="3060502" cy="118514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provides a realistic simulation environment for internet protocols</a:t>
            </a:r>
            <a:endParaRPr lang="en-US" sz="1900" dirty="0"/>
          </a:p>
        </p:txBody>
      </p:sp>
      <p:sp>
        <p:nvSpPr>
          <p:cNvPr id="11" name="Shape 7"/>
          <p:cNvSpPr/>
          <p:nvPr/>
        </p:nvSpPr>
        <p:spPr>
          <a:xfrm>
            <a:off x="6350437" y="5161240"/>
            <a:ext cx="7415927" cy="1410176"/>
          </a:xfrm>
          <a:prstGeom prst="roundRect">
            <a:avLst>
              <a:gd name="adj" fmla="val 7353"/>
            </a:avLst>
          </a:prstGeom>
          <a:solidFill>
            <a:srgbClr val="542C49"/>
          </a:solidFill>
          <a:ln w="15240">
            <a:solidFill>
              <a:srgbClr val="6D4562"/>
            </a:solidFill>
            <a:prstDash val="solid"/>
          </a:ln>
        </p:spPr>
      </p:sp>
      <p:sp>
        <p:nvSpPr>
          <p:cNvPr id="12" name="Text 8"/>
          <p:cNvSpPr/>
          <p:nvPr/>
        </p:nvSpPr>
        <p:spPr>
          <a:xfrm>
            <a:off x="6612493" y="5423297"/>
            <a:ext cx="2743200" cy="342900"/>
          </a:xfrm>
          <a:prstGeom prst="rect">
            <a:avLst/>
          </a:prstGeom>
          <a:noFill/>
          <a:ln/>
        </p:spPr>
        <p:txBody>
          <a:bodyPr wrap="non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Key Feature</a:t>
            </a:r>
            <a:endParaRPr lang="en-US" sz="2150" dirty="0"/>
          </a:p>
        </p:txBody>
      </p:sp>
      <p:sp>
        <p:nvSpPr>
          <p:cNvPr id="13" name="Text 9"/>
          <p:cNvSpPr/>
          <p:nvPr/>
        </p:nvSpPr>
        <p:spPr>
          <a:xfrm>
            <a:off x="6612493" y="5914311"/>
            <a:ext cx="6891814" cy="395049"/>
          </a:xfrm>
          <a:prstGeom prst="rect">
            <a:avLst/>
          </a:prstGeom>
          <a:noFill/>
          <a:ln/>
        </p:spPr>
        <p:txBody>
          <a:bodyPr wrap="non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NS-3 supports modular design</a:t>
            </a:r>
            <a:endParaRPr lang="en-US" sz="1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6400" y="571619"/>
            <a:ext cx="4984432" cy="576501"/>
          </a:xfrm>
          <a:prstGeom prst="rect">
            <a:avLst/>
          </a:prstGeom>
          <a:noFill/>
          <a:ln/>
        </p:spPr>
        <p:txBody>
          <a:bodyPr wrap="none" lIns="0" tIns="0" rIns="0" bIns="0" rtlCol="0" anchor="t"/>
          <a:lstStyle/>
          <a:p>
            <a:pPr marL="0" indent="0" algn="l">
              <a:lnSpc>
                <a:spcPts val="4500"/>
              </a:lnSpc>
              <a:buNone/>
            </a:pPr>
            <a:r>
              <a:rPr lang="en-US" sz="3600" dirty="0">
                <a:solidFill>
                  <a:srgbClr val="C6BFEE"/>
                </a:solidFill>
                <a:latin typeface="Prompt Medium" pitchFamily="34" charset="0"/>
                <a:ea typeface="Prompt Medium" pitchFamily="34" charset="-122"/>
                <a:cs typeface="Prompt Medium" pitchFamily="34" charset="-120"/>
              </a:rPr>
              <a:t>Experiment Variations</a:t>
            </a:r>
            <a:endParaRPr lang="en-US" sz="3600" dirty="0"/>
          </a:p>
        </p:txBody>
      </p:sp>
      <p:sp>
        <p:nvSpPr>
          <p:cNvPr id="4" name="Shape 1"/>
          <p:cNvSpPr/>
          <p:nvPr/>
        </p:nvSpPr>
        <p:spPr>
          <a:xfrm>
            <a:off x="726400" y="1948577"/>
            <a:ext cx="466963" cy="466963"/>
          </a:xfrm>
          <a:prstGeom prst="roundRect">
            <a:avLst>
              <a:gd name="adj" fmla="val 18669"/>
            </a:avLst>
          </a:prstGeom>
          <a:solidFill>
            <a:srgbClr val="542C49"/>
          </a:solidFill>
          <a:ln w="7620">
            <a:solidFill>
              <a:srgbClr val="6D4562"/>
            </a:solidFill>
            <a:prstDash val="solid"/>
          </a:ln>
        </p:spPr>
      </p:sp>
      <p:sp>
        <p:nvSpPr>
          <p:cNvPr id="5" name="Text 2"/>
          <p:cNvSpPr/>
          <p:nvPr/>
        </p:nvSpPr>
        <p:spPr>
          <a:xfrm>
            <a:off x="835481" y="2043648"/>
            <a:ext cx="276701" cy="345877"/>
          </a:xfrm>
          <a:prstGeom prst="rect">
            <a:avLst/>
          </a:prstGeom>
          <a:noFill/>
          <a:ln/>
        </p:spPr>
        <p:txBody>
          <a:bodyPr wrap="none" lIns="0" tIns="0" rIns="0" bIns="0" rtlCol="0" anchor="t"/>
          <a:lstStyle/>
          <a:p>
            <a:pPr marL="0" indent="0" algn="ctr">
              <a:lnSpc>
                <a:spcPts val="2150"/>
              </a:lnSpc>
              <a:buNone/>
            </a:pPr>
            <a:r>
              <a:rPr lang="en-US" sz="2150" dirty="0">
                <a:solidFill>
                  <a:srgbClr val="DAD8E9"/>
                </a:solidFill>
                <a:latin typeface="Prompt Medium" pitchFamily="34" charset="0"/>
                <a:ea typeface="Prompt Medium" pitchFamily="34" charset="-122"/>
                <a:cs typeface="Prompt Medium" pitchFamily="34" charset="-120"/>
              </a:rPr>
              <a:t>1</a:t>
            </a:r>
            <a:endParaRPr lang="en-US" sz="2150" dirty="0"/>
          </a:p>
        </p:txBody>
      </p:sp>
      <p:sp>
        <p:nvSpPr>
          <p:cNvPr id="6" name="Text 3"/>
          <p:cNvSpPr/>
          <p:nvPr/>
        </p:nvSpPr>
        <p:spPr>
          <a:xfrm>
            <a:off x="1400889" y="2001374"/>
            <a:ext cx="7016710" cy="663893"/>
          </a:xfrm>
          <a:prstGeom prst="rect">
            <a:avLst/>
          </a:prstGeom>
          <a:noFill/>
          <a:ln/>
        </p:spPr>
        <p:txBody>
          <a:bodyPr wrap="square" lIns="0" tIns="0" rIns="0" bIns="0" rtlCol="0" anchor="t"/>
          <a:lstStyle/>
          <a:p>
            <a:pPr marL="0" indent="0" algn="l">
              <a:lnSpc>
                <a:spcPts val="2600"/>
              </a:lnSpc>
              <a:buNone/>
            </a:pPr>
            <a:r>
              <a:rPr lang="en-US" sz="1600" dirty="0">
                <a:solidFill>
                  <a:srgbClr val="DAD8E9"/>
                </a:solidFill>
                <a:latin typeface="Mukta Light" pitchFamily="34" charset="0"/>
                <a:ea typeface="Mukta Light" pitchFamily="34" charset="-122"/>
              </a:rPr>
              <a:t>Vary the RTT uniformly across simulations, keeping all flows within each simulation run assigned the </a:t>
            </a:r>
            <a:r>
              <a:rPr lang="en-US" sz="1600" i="1" dirty="0">
                <a:solidFill>
                  <a:srgbClr val="DAD8E9"/>
                </a:solidFill>
                <a:latin typeface="Mukta Light" pitchFamily="34" charset="0"/>
                <a:ea typeface="Mukta Light" pitchFamily="34" charset="-122"/>
              </a:rPr>
              <a:t>same</a:t>
            </a:r>
            <a:r>
              <a:rPr lang="en-US" sz="1600" dirty="0">
                <a:solidFill>
                  <a:srgbClr val="DAD8E9"/>
                </a:solidFill>
                <a:latin typeface="Mukta Light" pitchFamily="34" charset="0"/>
                <a:ea typeface="Mukta Light" pitchFamily="34" charset="-122"/>
              </a:rPr>
              <a:t> RTT value.</a:t>
            </a:r>
            <a:endParaRPr lang="en-US" sz="1600" dirty="0"/>
          </a:p>
        </p:txBody>
      </p:sp>
      <p:sp>
        <p:nvSpPr>
          <p:cNvPr id="7" name="Shape 4"/>
          <p:cNvSpPr/>
          <p:nvPr/>
        </p:nvSpPr>
        <p:spPr>
          <a:xfrm>
            <a:off x="798853" y="3285054"/>
            <a:ext cx="466963" cy="466963"/>
          </a:xfrm>
          <a:prstGeom prst="roundRect">
            <a:avLst>
              <a:gd name="adj" fmla="val 18669"/>
            </a:avLst>
          </a:prstGeom>
          <a:solidFill>
            <a:srgbClr val="542C49"/>
          </a:solidFill>
          <a:ln w="7620">
            <a:solidFill>
              <a:srgbClr val="6D4562"/>
            </a:solidFill>
            <a:prstDash val="solid"/>
          </a:ln>
        </p:spPr>
      </p:sp>
      <p:sp>
        <p:nvSpPr>
          <p:cNvPr id="8" name="Text 5"/>
          <p:cNvSpPr/>
          <p:nvPr/>
        </p:nvSpPr>
        <p:spPr>
          <a:xfrm>
            <a:off x="905323" y="3389233"/>
            <a:ext cx="276701" cy="345877"/>
          </a:xfrm>
          <a:prstGeom prst="rect">
            <a:avLst/>
          </a:prstGeom>
          <a:noFill/>
          <a:ln/>
        </p:spPr>
        <p:txBody>
          <a:bodyPr wrap="none" lIns="0" tIns="0" rIns="0" bIns="0" rtlCol="0" anchor="t"/>
          <a:lstStyle/>
          <a:p>
            <a:pPr marL="0" indent="0" algn="ctr">
              <a:lnSpc>
                <a:spcPts val="2150"/>
              </a:lnSpc>
              <a:buNone/>
            </a:pPr>
            <a:r>
              <a:rPr lang="en-US" sz="2150" dirty="0">
                <a:solidFill>
                  <a:srgbClr val="DAD8E9"/>
                </a:solidFill>
                <a:latin typeface="Prompt Medium" pitchFamily="34" charset="0"/>
                <a:ea typeface="Prompt Medium" pitchFamily="34" charset="-122"/>
                <a:cs typeface="Prompt Medium" pitchFamily="34" charset="-120"/>
              </a:rPr>
              <a:t>2</a:t>
            </a:r>
            <a:endParaRPr lang="en-US" sz="2150" dirty="0"/>
          </a:p>
        </p:txBody>
      </p:sp>
      <p:sp>
        <p:nvSpPr>
          <p:cNvPr id="9" name="Text 6"/>
          <p:cNvSpPr/>
          <p:nvPr/>
        </p:nvSpPr>
        <p:spPr>
          <a:xfrm>
            <a:off x="1400889" y="3389233"/>
            <a:ext cx="7016710" cy="331946"/>
          </a:xfrm>
          <a:prstGeom prst="rect">
            <a:avLst/>
          </a:prstGeom>
          <a:noFill/>
          <a:ln/>
        </p:spPr>
        <p:txBody>
          <a:bodyPr wrap="none" lIns="0" tIns="0" rIns="0" bIns="0" rtlCol="0" anchor="t"/>
          <a:lstStyle/>
          <a:p>
            <a:pPr algn="l">
              <a:lnSpc>
                <a:spcPts val="2600"/>
              </a:lnSpc>
            </a:pPr>
            <a:r>
              <a:rPr lang="en-US" sz="1600" dirty="0" smtClean="0">
                <a:solidFill>
                  <a:srgbClr val="DAD8E9"/>
                </a:solidFill>
                <a:latin typeface="Mukta Light" pitchFamily="34" charset="0"/>
                <a:ea typeface="Mukta Light" pitchFamily="34" charset="-122"/>
              </a:rPr>
              <a:t>In each simulation, one flow has fixed RTT of 100 </a:t>
            </a:r>
            <a:r>
              <a:rPr lang="en-US" sz="1600" dirty="0" err="1" smtClean="0">
                <a:solidFill>
                  <a:srgbClr val="DAD8E9"/>
                </a:solidFill>
                <a:latin typeface="Mukta Light" pitchFamily="34" charset="0"/>
                <a:ea typeface="Mukta Light" pitchFamily="34" charset="-122"/>
              </a:rPr>
              <a:t>ms</a:t>
            </a:r>
            <a:r>
              <a:rPr lang="en-US" sz="1600" dirty="0" smtClean="0">
                <a:solidFill>
                  <a:srgbClr val="DAD8E9"/>
                </a:solidFill>
                <a:latin typeface="Mukta Light" pitchFamily="34" charset="0"/>
                <a:ea typeface="Mukta Light" pitchFamily="34" charset="-122"/>
              </a:rPr>
              <a:t>, while the other flow’s RTT is scaled</a:t>
            </a:r>
          </a:p>
          <a:p>
            <a:pPr algn="l">
              <a:lnSpc>
                <a:spcPts val="2600"/>
              </a:lnSpc>
            </a:pPr>
            <a:r>
              <a:rPr lang="en-US" sz="1600" dirty="0" smtClean="0">
                <a:solidFill>
                  <a:srgbClr val="DAD8E9"/>
                </a:solidFill>
                <a:latin typeface="Mukta Light" pitchFamily="34" charset="0"/>
                <a:ea typeface="Mukta Light" pitchFamily="34" charset="-122"/>
              </a:rPr>
              <a:t> by a factor k to create RTT asymmetry.</a:t>
            </a:r>
            <a:endParaRPr lang="he-IL" sz="1600" dirty="0" smtClean="0">
              <a:solidFill>
                <a:srgbClr val="DAD8E9"/>
              </a:solidFill>
              <a:latin typeface="Mukta Light" pitchFamily="34" charset="0"/>
              <a:ea typeface="Mukta Light" pitchFamily="34" charset="-122"/>
            </a:endParaRPr>
          </a:p>
          <a:p>
            <a:pPr marL="0" indent="0" algn="l">
              <a:lnSpc>
                <a:spcPts val="2600"/>
              </a:lnSpc>
              <a:buNone/>
            </a:pPr>
            <a:endParaRPr lang="en-US" sz="1600" dirty="0"/>
          </a:p>
        </p:txBody>
      </p:sp>
      <p:sp>
        <p:nvSpPr>
          <p:cNvPr id="11" name="Text 8"/>
          <p:cNvSpPr/>
          <p:nvPr/>
        </p:nvSpPr>
        <p:spPr>
          <a:xfrm>
            <a:off x="821531" y="3548241"/>
            <a:ext cx="276701" cy="345877"/>
          </a:xfrm>
          <a:prstGeom prst="rect">
            <a:avLst/>
          </a:prstGeom>
          <a:noFill/>
          <a:ln/>
        </p:spPr>
        <p:txBody>
          <a:bodyPr wrap="none" lIns="0" tIns="0" rIns="0" bIns="0" rtlCol="0" anchor="t"/>
          <a:lstStyle/>
          <a:p>
            <a:pPr marL="0" indent="0" algn="ctr">
              <a:lnSpc>
                <a:spcPts val="2150"/>
              </a:lnSpc>
              <a:buNone/>
            </a:pPr>
            <a:endParaRPr lang="en-US" sz="2150" dirty="0"/>
          </a:p>
        </p:txBody>
      </p:sp>
      <p:sp>
        <p:nvSpPr>
          <p:cNvPr id="12" name="Text 9"/>
          <p:cNvSpPr/>
          <p:nvPr/>
        </p:nvSpPr>
        <p:spPr>
          <a:xfrm>
            <a:off x="1400889" y="3555087"/>
            <a:ext cx="7016710" cy="663893"/>
          </a:xfrm>
          <a:prstGeom prst="rect">
            <a:avLst/>
          </a:prstGeom>
          <a:noFill/>
          <a:ln/>
        </p:spPr>
        <p:txBody>
          <a:bodyPr wrap="square" lIns="0" tIns="0" rIns="0" bIns="0" rtlCol="0" anchor="t"/>
          <a:lstStyle/>
          <a:p>
            <a:pPr algn="l">
              <a:lnSpc>
                <a:spcPts val="2600"/>
              </a:lnSpc>
            </a:pPr>
            <a:endParaRPr lang="he-IL" sz="1600" dirty="0">
              <a:solidFill>
                <a:srgbClr val="DAD8E9"/>
              </a:solidFill>
              <a:latin typeface="Mukta Light" pitchFamily="34" charset="0"/>
              <a:ea typeface="Mukta Light" pitchFamily="34" charset="-122"/>
              <a:cs typeface="Mukta Light" pitchFamily="34" charset="-120"/>
            </a:endParaRPr>
          </a:p>
        </p:txBody>
      </p:sp>
      <p:sp>
        <p:nvSpPr>
          <p:cNvPr id="14" name="Text 11"/>
          <p:cNvSpPr/>
          <p:nvPr/>
        </p:nvSpPr>
        <p:spPr>
          <a:xfrm>
            <a:off x="821531" y="4694575"/>
            <a:ext cx="276701" cy="345877"/>
          </a:xfrm>
          <a:prstGeom prst="rect">
            <a:avLst/>
          </a:prstGeom>
          <a:noFill/>
          <a:ln/>
        </p:spPr>
        <p:txBody>
          <a:bodyPr wrap="none" lIns="0" tIns="0" rIns="0" bIns="0" rtlCol="0" anchor="t"/>
          <a:lstStyle/>
          <a:p>
            <a:pPr marL="0" indent="0" algn="ctr">
              <a:lnSpc>
                <a:spcPts val="2150"/>
              </a:lnSpc>
              <a:buNone/>
            </a:pPr>
            <a:endParaRPr lang="en-US" sz="2150" dirty="0"/>
          </a:p>
        </p:txBody>
      </p:sp>
      <p:sp>
        <p:nvSpPr>
          <p:cNvPr id="17" name="Text 14"/>
          <p:cNvSpPr/>
          <p:nvPr/>
        </p:nvSpPr>
        <p:spPr>
          <a:xfrm>
            <a:off x="821531" y="5840909"/>
            <a:ext cx="276701" cy="345877"/>
          </a:xfrm>
          <a:prstGeom prst="rect">
            <a:avLst/>
          </a:prstGeom>
          <a:noFill/>
          <a:ln/>
        </p:spPr>
        <p:txBody>
          <a:bodyPr wrap="none" lIns="0" tIns="0" rIns="0" bIns="0" rtlCol="0" anchor="t"/>
          <a:lstStyle/>
          <a:p>
            <a:pPr marL="0" indent="0" algn="ctr">
              <a:lnSpc>
                <a:spcPts val="2150"/>
              </a:lnSpc>
              <a:buNone/>
            </a:pPr>
            <a:endParaRPr lang="en-US" sz="21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80000"/>
            </a:srgbClr>
          </a:solidFill>
          <a:ln/>
        </p:spPr>
      </p:sp>
      <p:sp>
        <p:nvSpPr>
          <p:cNvPr id="4" name="Text 1"/>
          <p:cNvSpPr/>
          <p:nvPr/>
        </p:nvSpPr>
        <p:spPr>
          <a:xfrm>
            <a:off x="864037" y="688046"/>
            <a:ext cx="11289149" cy="411480"/>
          </a:xfrm>
          <a:prstGeom prst="rect">
            <a:avLst/>
          </a:prstGeom>
          <a:noFill/>
          <a:ln/>
        </p:spPr>
        <p:txBody>
          <a:bodyPr wrap="none" lIns="0" tIns="0" rIns="0" bIns="0" rtlCol="0" anchor="t"/>
          <a:lstStyle/>
          <a:p>
            <a:pPr marL="0" indent="0" algn="l">
              <a:lnSpc>
                <a:spcPts val="3200"/>
              </a:lnSpc>
              <a:buNone/>
            </a:pPr>
            <a:r>
              <a:rPr lang="en-US" sz="2550" b="1" dirty="0">
                <a:solidFill>
                  <a:srgbClr val="C6BFEE"/>
                </a:solidFill>
                <a:latin typeface="Prompt Medium" pitchFamily="34" charset="0"/>
                <a:ea typeface="Prompt Medium" pitchFamily="34" charset="-122"/>
                <a:cs typeface="Prompt Medium" pitchFamily="34" charset="-120"/>
              </a:rPr>
              <a:t>Protocol Environment Types (What Protocols Are Used in Each Setup)</a:t>
            </a:r>
            <a:endParaRPr lang="en-US" sz="2550" dirty="0"/>
          </a:p>
        </p:txBody>
      </p:sp>
      <p:sp>
        <p:nvSpPr>
          <p:cNvPr id="5" name="Shape 2"/>
          <p:cNvSpPr/>
          <p:nvPr/>
        </p:nvSpPr>
        <p:spPr>
          <a:xfrm>
            <a:off x="1952383" y="1521556"/>
            <a:ext cx="4136231" cy="2938224"/>
          </a:xfrm>
          <a:prstGeom prst="roundRect">
            <a:avLst>
              <a:gd name="adj" fmla="val 3529"/>
            </a:avLst>
          </a:prstGeom>
          <a:solidFill>
            <a:srgbClr val="542C49"/>
          </a:solidFill>
          <a:ln w="15240">
            <a:solidFill>
              <a:srgbClr val="6D4562"/>
            </a:solidFill>
            <a:prstDash val="solid"/>
          </a:ln>
        </p:spPr>
      </p:sp>
      <p:sp>
        <p:nvSpPr>
          <p:cNvPr id="6" name="Text 3"/>
          <p:cNvSpPr/>
          <p:nvPr/>
        </p:nvSpPr>
        <p:spPr>
          <a:xfrm>
            <a:off x="2214439" y="1961479"/>
            <a:ext cx="3612118" cy="685800"/>
          </a:xfrm>
          <a:prstGeom prst="rect">
            <a:avLst/>
          </a:prstGeom>
          <a:noFill/>
          <a:ln/>
        </p:spPr>
        <p:txBody>
          <a:bodyPr wrap="squar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Environment Type 1 – Single Protocol</a:t>
            </a:r>
            <a:endParaRPr lang="en-US" sz="2150" dirty="0"/>
          </a:p>
        </p:txBody>
      </p:sp>
      <p:sp>
        <p:nvSpPr>
          <p:cNvPr id="7" name="Text 4"/>
          <p:cNvSpPr/>
          <p:nvPr/>
        </p:nvSpPr>
        <p:spPr>
          <a:xfrm>
            <a:off x="2214439" y="2901616"/>
            <a:ext cx="3612118" cy="118514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All senders use the </a:t>
            </a:r>
            <a:r>
              <a:rPr lang="en-US" sz="1900" b="1" dirty="0">
                <a:solidFill>
                  <a:srgbClr val="DAD8E9"/>
                </a:solidFill>
                <a:latin typeface="Mukta Light" pitchFamily="34" charset="0"/>
                <a:ea typeface="Mukta Light" pitchFamily="34" charset="-122"/>
              </a:rPr>
              <a:t>same TCP variant</a:t>
            </a:r>
            <a:r>
              <a:rPr lang="en-US" sz="1900" dirty="0">
                <a:solidFill>
                  <a:srgbClr val="DAD8E9"/>
                </a:solidFill>
                <a:latin typeface="Mukta Light" pitchFamily="34" charset="0"/>
                <a:ea typeface="Mukta Light" pitchFamily="34" charset="-122"/>
              </a:rPr>
              <a:t>, varied across runs: NewReno BBR, CUBIC, DCTCP</a:t>
            </a:r>
            <a:endParaRPr lang="en-US" sz="1900" dirty="0"/>
          </a:p>
        </p:txBody>
      </p:sp>
      <p:sp>
        <p:nvSpPr>
          <p:cNvPr id="8" name="Shape 5"/>
          <p:cNvSpPr/>
          <p:nvPr/>
        </p:nvSpPr>
        <p:spPr>
          <a:xfrm>
            <a:off x="8680490" y="1521556"/>
            <a:ext cx="4136231" cy="2938224"/>
          </a:xfrm>
          <a:prstGeom prst="roundRect">
            <a:avLst>
              <a:gd name="adj" fmla="val 3529"/>
            </a:avLst>
          </a:prstGeom>
          <a:solidFill>
            <a:srgbClr val="542C49"/>
          </a:solidFill>
          <a:ln w="15240">
            <a:solidFill>
              <a:srgbClr val="6D4562"/>
            </a:solidFill>
            <a:prstDash val="solid"/>
          </a:ln>
        </p:spPr>
      </p:sp>
      <p:sp>
        <p:nvSpPr>
          <p:cNvPr id="9" name="Text 6"/>
          <p:cNvSpPr/>
          <p:nvPr/>
        </p:nvSpPr>
        <p:spPr>
          <a:xfrm>
            <a:off x="8942546" y="1961479"/>
            <a:ext cx="3612118" cy="685800"/>
          </a:xfrm>
          <a:prstGeom prst="rect">
            <a:avLst/>
          </a:prstGeom>
          <a:noFill/>
          <a:ln/>
        </p:spPr>
        <p:txBody>
          <a:bodyPr wrap="square" lIns="0" tIns="0" rIns="0" bIns="0" rtlCol="0" anchor="t"/>
          <a:lstStyle/>
          <a:p>
            <a:pPr marL="0" indent="0" algn="l">
              <a:lnSpc>
                <a:spcPts val="2700"/>
              </a:lnSpc>
              <a:buNone/>
            </a:pPr>
            <a:r>
              <a:rPr lang="en-US" sz="2150" dirty="0">
                <a:solidFill>
                  <a:srgbClr val="DAD8E9"/>
                </a:solidFill>
                <a:latin typeface="Prompt Medium" pitchFamily="34" charset="0"/>
                <a:ea typeface="Prompt Medium" pitchFamily="34" charset="-122"/>
                <a:cs typeface="Prompt Medium" pitchFamily="34" charset="-120"/>
              </a:rPr>
              <a:t>Environment Type 2 – Two Protocols (Split Senders)</a:t>
            </a:r>
            <a:endParaRPr lang="en-US" sz="2150" dirty="0"/>
          </a:p>
        </p:txBody>
      </p:sp>
      <p:sp>
        <p:nvSpPr>
          <p:cNvPr id="10" name="Text 7"/>
          <p:cNvSpPr/>
          <p:nvPr/>
        </p:nvSpPr>
        <p:spPr>
          <a:xfrm>
            <a:off x="8942546" y="2870864"/>
            <a:ext cx="3612118" cy="158019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The sender population is split evenly between two protocols: NewReno &amp; CUBIC, BBR &amp; CUBIC, NewReno &amp; BBR</a:t>
            </a:r>
            <a:endParaRPr lang="en-US" sz="1900" dirty="0"/>
          </a:p>
        </p:txBody>
      </p:sp>
      <p:sp>
        <p:nvSpPr>
          <p:cNvPr id="14" name="Text 11"/>
          <p:cNvSpPr/>
          <p:nvPr/>
        </p:nvSpPr>
        <p:spPr>
          <a:xfrm>
            <a:off x="864037" y="5869781"/>
            <a:ext cx="12902327" cy="395049"/>
          </a:xfrm>
          <a:prstGeom prst="rect">
            <a:avLst/>
          </a:prstGeom>
          <a:noFill/>
          <a:ln/>
        </p:spPr>
        <p:txBody>
          <a:bodyPr wrap="none" lIns="0" tIns="0" rIns="0" bIns="0" rtlCol="0" anchor="t"/>
          <a:lstStyle/>
          <a:p>
            <a:pPr marL="0" indent="0" algn="l">
              <a:lnSpc>
                <a:spcPts val="3100"/>
              </a:lnSpc>
              <a:buNone/>
            </a:pPr>
            <a:endParaRPr lang="en-US" sz="1900" dirty="0"/>
          </a:p>
        </p:txBody>
      </p:sp>
      <p:sp>
        <p:nvSpPr>
          <p:cNvPr id="16" name="Text 7"/>
          <p:cNvSpPr/>
          <p:nvPr/>
        </p:nvSpPr>
        <p:spPr>
          <a:xfrm>
            <a:off x="1345324" y="4965251"/>
            <a:ext cx="11981793" cy="1580198"/>
          </a:xfrm>
          <a:prstGeom prst="rect">
            <a:avLst/>
          </a:prstGeom>
          <a:noFill/>
          <a:ln/>
        </p:spPr>
        <p:txBody>
          <a:bodyPr wrap="square" lIns="0" tIns="0" rIns="0" bIns="0" rtlCol="0" anchor="t"/>
          <a:lstStyle/>
          <a:p>
            <a:pPr marL="0" indent="0" algn="l">
              <a:lnSpc>
                <a:spcPts val="3100"/>
              </a:lnSpc>
              <a:buNone/>
            </a:pPr>
            <a:endParaRPr lang="en-US" sz="1900" dirty="0"/>
          </a:p>
        </p:txBody>
      </p:sp>
      <p:sp>
        <p:nvSpPr>
          <p:cNvPr id="21" name="Shape 2"/>
          <p:cNvSpPr/>
          <p:nvPr/>
        </p:nvSpPr>
        <p:spPr>
          <a:xfrm>
            <a:off x="864037" y="5166785"/>
            <a:ext cx="12944367" cy="1405992"/>
          </a:xfrm>
          <a:prstGeom prst="roundRect">
            <a:avLst>
              <a:gd name="adj" fmla="val 3529"/>
            </a:avLst>
          </a:prstGeom>
          <a:solidFill>
            <a:srgbClr val="542C49"/>
          </a:solidFill>
          <a:ln w="15240">
            <a:solidFill>
              <a:srgbClr val="6D4562"/>
            </a:solidFill>
            <a:prstDash val="solid"/>
          </a:ln>
        </p:spPr>
      </p:sp>
      <p:sp>
        <p:nvSpPr>
          <p:cNvPr id="23" name="Text 4"/>
          <p:cNvSpPr/>
          <p:nvPr/>
        </p:nvSpPr>
        <p:spPr>
          <a:xfrm>
            <a:off x="1345324" y="5573504"/>
            <a:ext cx="11577411" cy="815664"/>
          </a:xfrm>
          <a:prstGeom prst="rect">
            <a:avLst/>
          </a:prstGeom>
          <a:noFill/>
          <a:ln/>
        </p:spPr>
        <p:txBody>
          <a:bodyPr wrap="square" lIns="0" tIns="0" rIns="0" bIns="0" rtlCol="0" anchor="t"/>
          <a:lstStyle/>
          <a:p>
            <a:pPr marL="342900" indent="-342900" algn="l" rtl="0">
              <a:lnSpc>
                <a:spcPts val="3100"/>
              </a:lnSpc>
              <a:buFont typeface="Arial" panose="020B0604020202020204" pitchFamily="34" charset="0"/>
              <a:buChar char="•"/>
            </a:pPr>
            <a:r>
              <a:rPr lang="en-US" sz="1900" dirty="0" smtClean="0">
                <a:solidFill>
                  <a:srgbClr val="DAD8E9"/>
                </a:solidFill>
                <a:latin typeface="Mukta Light" pitchFamily="34" charset="0"/>
                <a:ea typeface="Mukta Light" pitchFamily="34" charset="-122"/>
              </a:rPr>
              <a:t>All simulations were conducted using two concurrent TCP flows  to evaluate performance and fairness.</a:t>
            </a:r>
          </a:p>
          <a:p>
            <a:pPr algn="l" rtl="0">
              <a:lnSpc>
                <a:spcPts val="3100"/>
              </a:lnSpc>
            </a:pPr>
            <a:endParaRPr lang="ar-SA" sz="1900" dirty="0" smtClean="0">
              <a:solidFill>
                <a:srgbClr val="DAD8E9"/>
              </a:solidFill>
              <a:latin typeface="Mukta Light" pitchFamily="34" charset="0"/>
              <a:ea typeface="Mukta Light" pitchFamily="34" charset="-122"/>
              <a:cs typeface="Mukta Light" pitchFamily="34" charset="-120"/>
            </a:endParaRPr>
          </a:p>
          <a:p>
            <a:pPr marL="0" indent="0" algn="l">
              <a:lnSpc>
                <a:spcPts val="3100"/>
              </a:lnSpc>
              <a:buNone/>
            </a:pPr>
            <a:r>
              <a:rPr lang="ar-SA" sz="1900" dirty="0" smtClean="0">
                <a:solidFill>
                  <a:srgbClr val="DAD8E9"/>
                </a:solidFill>
                <a:latin typeface="Mukta Light" pitchFamily="34" charset="0"/>
                <a:ea typeface="Mukta Light" pitchFamily="34" charset="-122"/>
                <a:cs typeface="Mukta Light" pitchFamily="34" charset="-120"/>
              </a:rPr>
              <a:t> </a:t>
            </a:r>
            <a:endParaRPr lang="en-US" sz="1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2463403"/>
            <a:ext cx="5486400" cy="685800"/>
          </a:xfrm>
          <a:prstGeom prst="rect">
            <a:avLst/>
          </a:prstGeom>
          <a:noFill/>
          <a:ln/>
        </p:spPr>
        <p:txBody>
          <a:bodyPr wrap="none" lIns="0" tIns="0" rIns="0" bIns="0" rtlCol="0" anchor="t"/>
          <a:lstStyle/>
          <a:p>
            <a:pPr marL="0" indent="0" algn="l">
              <a:lnSpc>
                <a:spcPts val="5400"/>
              </a:lnSpc>
              <a:buNone/>
            </a:pPr>
            <a:r>
              <a:rPr lang="en-US" sz="4300" dirty="0">
                <a:solidFill>
                  <a:srgbClr val="C6BFEE"/>
                </a:solidFill>
                <a:latin typeface="Prompt Medium" pitchFamily="34" charset="0"/>
                <a:ea typeface="Prompt Medium" pitchFamily="34" charset="-122"/>
                <a:cs typeface="Prompt Medium" pitchFamily="34" charset="-120"/>
              </a:rPr>
              <a:t>The project's stages</a:t>
            </a:r>
            <a:endParaRPr lang="en-US" sz="4300" dirty="0"/>
          </a:p>
        </p:txBody>
      </p:sp>
      <p:sp>
        <p:nvSpPr>
          <p:cNvPr id="3" name="Text 1"/>
          <p:cNvSpPr/>
          <p:nvPr/>
        </p:nvSpPr>
        <p:spPr>
          <a:xfrm>
            <a:off x="864037" y="3741658"/>
            <a:ext cx="2773918" cy="395049"/>
          </a:xfrm>
          <a:prstGeom prst="rect">
            <a:avLst/>
          </a:prstGeom>
          <a:noFill/>
          <a:ln/>
        </p:spPr>
        <p:txBody>
          <a:bodyPr wrap="none" lIns="0" tIns="0" rIns="0" bIns="0" rtlCol="0" anchor="t"/>
          <a:lstStyle/>
          <a:p>
            <a:pPr marL="0" indent="0" algn="l">
              <a:lnSpc>
                <a:spcPts val="3100"/>
              </a:lnSpc>
              <a:buNone/>
            </a:pPr>
            <a:r>
              <a:rPr lang="en-US" sz="1900" b="1" dirty="0">
                <a:solidFill>
                  <a:srgbClr val="DAD8E9"/>
                </a:solidFill>
                <a:latin typeface="Mukta Light" pitchFamily="34" charset="0"/>
                <a:ea typeface="Mukta Light" pitchFamily="34" charset="-122"/>
              </a:rPr>
              <a:t>1</a:t>
            </a:r>
            <a:r>
              <a:rPr lang="en-US" sz="1900" b="1" dirty="0" smtClean="0">
                <a:solidFill>
                  <a:srgbClr val="DAD8E9"/>
                </a:solidFill>
                <a:latin typeface="Mukta Light" pitchFamily="34" charset="0"/>
                <a:ea typeface="Mukta Light" pitchFamily="34" charset="-122"/>
              </a:rPr>
              <a:t>. Learning </a:t>
            </a:r>
            <a:r>
              <a:rPr lang="en-US" sz="1900" b="1" dirty="0">
                <a:solidFill>
                  <a:srgbClr val="DAD8E9"/>
                </a:solidFill>
                <a:latin typeface="Mukta Light" pitchFamily="34" charset="0"/>
                <a:ea typeface="Mukta Light" pitchFamily="34" charset="-122"/>
              </a:rPr>
              <a:t>stage</a:t>
            </a:r>
            <a:endParaRPr lang="en-US" sz="1900" dirty="0"/>
          </a:p>
        </p:txBody>
      </p:sp>
      <p:sp>
        <p:nvSpPr>
          <p:cNvPr id="4" name="Text 2"/>
          <p:cNvSpPr/>
          <p:nvPr/>
        </p:nvSpPr>
        <p:spPr>
          <a:xfrm>
            <a:off x="864037" y="4358878"/>
            <a:ext cx="2773918" cy="1185148"/>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Studied the theoretical background and Learned how to use NS-3</a:t>
            </a:r>
            <a:endParaRPr lang="en-US" sz="1900" dirty="0"/>
          </a:p>
        </p:txBody>
      </p:sp>
      <p:sp>
        <p:nvSpPr>
          <p:cNvPr id="5" name="Text 3"/>
          <p:cNvSpPr/>
          <p:nvPr/>
        </p:nvSpPr>
        <p:spPr>
          <a:xfrm>
            <a:off x="4247793" y="3741658"/>
            <a:ext cx="2773918" cy="790099"/>
          </a:xfrm>
          <a:prstGeom prst="rect">
            <a:avLst/>
          </a:prstGeom>
          <a:noFill/>
          <a:ln/>
        </p:spPr>
        <p:txBody>
          <a:bodyPr wrap="square" lIns="0" tIns="0" rIns="0" bIns="0" rtlCol="0" anchor="t"/>
          <a:lstStyle/>
          <a:p>
            <a:pPr marL="0" indent="0" algn="l">
              <a:lnSpc>
                <a:spcPts val="3100"/>
              </a:lnSpc>
              <a:buNone/>
            </a:pPr>
            <a:r>
              <a:rPr lang="en-US" sz="1900" b="1" dirty="0">
                <a:solidFill>
                  <a:srgbClr val="DAD8E9"/>
                </a:solidFill>
                <a:latin typeface="Mukta Light" pitchFamily="34" charset="0"/>
                <a:ea typeface="Mukta Light" pitchFamily="34" charset="-122"/>
              </a:rPr>
              <a:t>2</a:t>
            </a:r>
            <a:r>
              <a:rPr lang="en-US" sz="1900" b="1" dirty="0" smtClean="0">
                <a:solidFill>
                  <a:srgbClr val="DAD8E9"/>
                </a:solidFill>
                <a:latin typeface="Mukta Light" pitchFamily="34" charset="0"/>
                <a:ea typeface="Mukta Light" pitchFamily="34" charset="-122"/>
              </a:rPr>
              <a:t>. Building </a:t>
            </a:r>
            <a:r>
              <a:rPr lang="en-US" sz="1900" b="1" dirty="0">
                <a:solidFill>
                  <a:srgbClr val="DAD8E9"/>
                </a:solidFill>
                <a:latin typeface="Mukta Light" pitchFamily="34" charset="0"/>
                <a:ea typeface="Mukta Light" pitchFamily="34" charset="-122"/>
              </a:rPr>
              <a:t>the topology using NS-3</a:t>
            </a:r>
            <a:endParaRPr lang="en-US" sz="1900" dirty="0"/>
          </a:p>
        </p:txBody>
      </p:sp>
      <p:sp>
        <p:nvSpPr>
          <p:cNvPr id="6" name="Text 4"/>
          <p:cNvSpPr/>
          <p:nvPr/>
        </p:nvSpPr>
        <p:spPr>
          <a:xfrm>
            <a:off x="4247793" y="4753928"/>
            <a:ext cx="2773918" cy="790099"/>
          </a:xfrm>
          <a:prstGeom prst="rect">
            <a:avLst/>
          </a:prstGeom>
          <a:noFill/>
          <a:ln/>
        </p:spPr>
        <p:txBody>
          <a:bodyPr wrap="square" lIns="0" tIns="0" rIns="0" bIns="0" rtlCol="0" anchor="t"/>
          <a:lstStyle/>
          <a:p>
            <a:pPr marL="0" indent="0" algn="l">
              <a:lnSpc>
                <a:spcPts val="3100"/>
              </a:lnSpc>
              <a:buNone/>
            </a:pPr>
            <a:r>
              <a:rPr lang="en-US" sz="1900" dirty="0">
                <a:solidFill>
                  <a:srgbClr val="DAD8E9"/>
                </a:solidFill>
                <a:latin typeface="Mukta Light" pitchFamily="34" charset="0"/>
                <a:ea typeface="Mukta Light" pitchFamily="34" charset="-122"/>
              </a:rPr>
              <a:t>Dumbbell topology with 2–4 flows</a:t>
            </a:r>
            <a:endParaRPr lang="en-US" sz="1900" dirty="0"/>
          </a:p>
        </p:txBody>
      </p:sp>
      <p:sp>
        <p:nvSpPr>
          <p:cNvPr id="7" name="Text 5"/>
          <p:cNvSpPr/>
          <p:nvPr/>
        </p:nvSpPr>
        <p:spPr>
          <a:xfrm>
            <a:off x="7631549" y="3741658"/>
            <a:ext cx="2773918" cy="1185148"/>
          </a:xfrm>
          <a:prstGeom prst="rect">
            <a:avLst/>
          </a:prstGeom>
          <a:noFill/>
          <a:ln/>
        </p:spPr>
        <p:txBody>
          <a:bodyPr wrap="square" lIns="0" tIns="0" rIns="0" bIns="0" rtlCol="0" anchor="t"/>
          <a:lstStyle/>
          <a:p>
            <a:pPr marL="0" indent="0" algn="l">
              <a:lnSpc>
                <a:spcPts val="3100"/>
              </a:lnSpc>
              <a:buNone/>
            </a:pPr>
            <a:r>
              <a:rPr lang="en-US" sz="1900" b="1" dirty="0">
                <a:solidFill>
                  <a:srgbClr val="DAD8E9"/>
                </a:solidFill>
                <a:latin typeface="Mukta Light" pitchFamily="34" charset="0"/>
                <a:ea typeface="Mukta Light" pitchFamily="34" charset="-122"/>
              </a:rPr>
              <a:t>3</a:t>
            </a:r>
            <a:r>
              <a:rPr lang="en-US" sz="1900" b="1" dirty="0" smtClean="0">
                <a:solidFill>
                  <a:srgbClr val="DAD8E9"/>
                </a:solidFill>
                <a:latin typeface="Mukta Light" pitchFamily="34" charset="0"/>
                <a:ea typeface="Mukta Light" pitchFamily="34" charset="-122"/>
              </a:rPr>
              <a:t>. Setting </a:t>
            </a:r>
            <a:r>
              <a:rPr lang="en-US" sz="1900" b="1" dirty="0">
                <a:solidFill>
                  <a:srgbClr val="DAD8E9"/>
                </a:solidFill>
                <a:latin typeface="Mukta Light" pitchFamily="34" charset="0"/>
                <a:ea typeface="Mukta Light" pitchFamily="34" charset="-122"/>
              </a:rPr>
              <a:t>the bandwidth and other constants (e.g., delay) in the simulation</a:t>
            </a:r>
            <a:endParaRPr lang="en-US" sz="1900" dirty="0"/>
          </a:p>
        </p:txBody>
      </p:sp>
      <p:sp>
        <p:nvSpPr>
          <p:cNvPr id="8" name="Text 6"/>
          <p:cNvSpPr/>
          <p:nvPr/>
        </p:nvSpPr>
        <p:spPr>
          <a:xfrm>
            <a:off x="11015305" y="3741658"/>
            <a:ext cx="2773918" cy="790099"/>
          </a:xfrm>
          <a:prstGeom prst="rect">
            <a:avLst/>
          </a:prstGeom>
          <a:noFill/>
          <a:ln/>
        </p:spPr>
        <p:txBody>
          <a:bodyPr wrap="square" lIns="0" tIns="0" rIns="0" bIns="0" rtlCol="0" anchor="t"/>
          <a:lstStyle/>
          <a:p>
            <a:pPr marL="0" indent="0" algn="l">
              <a:lnSpc>
                <a:spcPts val="3100"/>
              </a:lnSpc>
              <a:buNone/>
            </a:pPr>
            <a:r>
              <a:rPr lang="en-US" sz="1900" b="1" dirty="0">
                <a:solidFill>
                  <a:srgbClr val="DAD8E9"/>
                </a:solidFill>
                <a:latin typeface="Mukta Light" pitchFamily="34" charset="0"/>
                <a:ea typeface="Mukta Light" pitchFamily="34" charset="-122"/>
              </a:rPr>
              <a:t>4</a:t>
            </a:r>
            <a:r>
              <a:rPr lang="en-US" sz="1900" b="1" dirty="0" smtClean="0">
                <a:solidFill>
                  <a:srgbClr val="DAD8E9"/>
                </a:solidFill>
                <a:latin typeface="Mukta Light" pitchFamily="34" charset="0"/>
                <a:ea typeface="Mukta Light" pitchFamily="34" charset="-122"/>
              </a:rPr>
              <a:t>. Defining </a:t>
            </a:r>
            <a:r>
              <a:rPr lang="en-US" sz="1900" b="1" dirty="0">
                <a:solidFill>
                  <a:srgbClr val="DAD8E9"/>
                </a:solidFill>
                <a:latin typeface="Mukta Light" pitchFamily="34" charset="0"/>
                <a:ea typeface="Mukta Light" pitchFamily="34" charset="-122"/>
              </a:rPr>
              <a:t>the variables and their values</a:t>
            </a:r>
            <a:endParaRPr lang="en-US" sz="1900" dirty="0"/>
          </a:p>
        </p:txBody>
      </p:sp>
      <p:sp>
        <p:nvSpPr>
          <p:cNvPr id="9" name="Text 7"/>
          <p:cNvSpPr/>
          <p:nvPr/>
        </p:nvSpPr>
        <p:spPr>
          <a:xfrm>
            <a:off x="11015305" y="4753928"/>
            <a:ext cx="2773918" cy="790099"/>
          </a:xfrm>
          <a:prstGeom prst="rect">
            <a:avLst/>
          </a:prstGeom>
          <a:noFill/>
          <a:ln/>
        </p:spPr>
        <p:txBody>
          <a:bodyPr wrap="square" lIns="0" tIns="0" rIns="0" bIns="0" rtlCol="0" anchor="t"/>
          <a:lstStyle/>
          <a:p>
            <a:pPr marL="0" indent="0" algn="l">
              <a:lnSpc>
                <a:spcPts val="3100"/>
              </a:lnSpc>
              <a:buNone/>
            </a:pPr>
            <a:r>
              <a:rPr lang="en-US" sz="1900" b="1" dirty="0">
                <a:solidFill>
                  <a:srgbClr val="DAD8E9"/>
                </a:solidFill>
                <a:latin typeface="Mukta Light" pitchFamily="34" charset="0"/>
                <a:ea typeface="Mukta Light" pitchFamily="34" charset="-122"/>
              </a:rPr>
              <a:t>e.g. rtt=0,20,40,60,100 (Ms)</a:t>
            </a:r>
            <a:endParaRPr lang="en-US" sz="1900" dirty="0"/>
          </a:p>
        </p:txBody>
      </p:sp>
    </p:spTree>
    <p:extLst>
      <p:ext uri="{BB962C8B-B14F-4D97-AF65-F5344CB8AC3E}">
        <p14:creationId xmlns:p14="http://schemas.microsoft.com/office/powerpoint/2010/main" val="19890730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911662"/>
            <a:ext cx="5486400" cy="685800"/>
          </a:xfrm>
          <a:prstGeom prst="rect">
            <a:avLst/>
          </a:prstGeom>
          <a:noFill/>
          <a:ln/>
        </p:spPr>
        <p:txBody>
          <a:bodyPr wrap="none" lIns="0" tIns="0" rIns="0" bIns="0" rtlCol="0" anchor="t"/>
          <a:lstStyle/>
          <a:p>
            <a:pPr marL="0" indent="0" algn="l">
              <a:lnSpc>
                <a:spcPts val="5400"/>
              </a:lnSpc>
              <a:buNone/>
            </a:pPr>
            <a:endParaRPr lang="en-US" sz="4300" dirty="0"/>
          </a:p>
        </p:txBody>
      </p:sp>
      <p:pic>
        <p:nvPicPr>
          <p:cNvPr id="3" name="Image 0" descr="preencoded.png"/>
          <p:cNvPicPr>
            <a:picLocks noChangeAspect="1"/>
          </p:cNvPicPr>
          <p:nvPr/>
        </p:nvPicPr>
        <p:blipFill>
          <a:blip r:embed="rId3"/>
          <a:stretch>
            <a:fillRect/>
          </a:stretch>
        </p:blipFill>
        <p:spPr>
          <a:xfrm>
            <a:off x="864037" y="2091214"/>
            <a:ext cx="4095036" cy="4095036"/>
          </a:xfrm>
          <a:prstGeom prst="rect">
            <a:avLst/>
          </a:prstGeom>
        </p:spPr>
      </p:pic>
      <p:sp>
        <p:nvSpPr>
          <p:cNvPr id="4" name="Text 1"/>
          <p:cNvSpPr/>
          <p:nvPr/>
        </p:nvSpPr>
        <p:spPr>
          <a:xfrm>
            <a:off x="1216819" y="6494859"/>
            <a:ext cx="3389352" cy="411480"/>
          </a:xfrm>
          <a:prstGeom prst="rect">
            <a:avLst/>
          </a:prstGeom>
          <a:noFill/>
          <a:ln/>
        </p:spPr>
        <p:txBody>
          <a:bodyPr wrap="none" lIns="0" tIns="0" rIns="0" bIns="0" rtlCol="0" anchor="t"/>
          <a:lstStyle/>
          <a:p>
            <a:pPr marL="0" indent="0" algn="ctr">
              <a:lnSpc>
                <a:spcPts val="3200"/>
              </a:lnSpc>
              <a:buNone/>
            </a:pPr>
            <a:r>
              <a:rPr lang="en-US" sz="2550" dirty="0">
                <a:solidFill>
                  <a:srgbClr val="DAD8E9"/>
                </a:solidFill>
                <a:latin typeface="Prompt Medium" pitchFamily="34" charset="0"/>
                <a:ea typeface="Prompt Medium" pitchFamily="34" charset="-122"/>
                <a:cs typeface="Prompt Medium" pitchFamily="34" charset="-120"/>
              </a:rPr>
              <a:t>5. Creating the script</a:t>
            </a:r>
            <a:endParaRPr lang="en-US" sz="2550" dirty="0"/>
          </a:p>
        </p:txBody>
      </p:sp>
      <p:pic>
        <p:nvPicPr>
          <p:cNvPr id="5" name="Image 1" descr="preencoded.png"/>
          <p:cNvPicPr>
            <a:picLocks noChangeAspect="1"/>
          </p:cNvPicPr>
          <p:nvPr/>
        </p:nvPicPr>
        <p:blipFill>
          <a:blip r:embed="rId4"/>
          <a:stretch>
            <a:fillRect/>
          </a:stretch>
        </p:blipFill>
        <p:spPr>
          <a:xfrm>
            <a:off x="5267682" y="2091214"/>
            <a:ext cx="4095036" cy="4095036"/>
          </a:xfrm>
          <a:prstGeom prst="rect">
            <a:avLst/>
          </a:prstGeom>
        </p:spPr>
      </p:pic>
      <p:sp>
        <p:nvSpPr>
          <p:cNvPr id="6" name="Text 2"/>
          <p:cNvSpPr/>
          <p:nvPr/>
        </p:nvSpPr>
        <p:spPr>
          <a:xfrm>
            <a:off x="5267682" y="6494859"/>
            <a:ext cx="4095036" cy="822960"/>
          </a:xfrm>
          <a:prstGeom prst="rect">
            <a:avLst/>
          </a:prstGeom>
          <a:noFill/>
          <a:ln/>
        </p:spPr>
        <p:txBody>
          <a:bodyPr wrap="square" lIns="0" tIns="0" rIns="0" bIns="0" rtlCol="0" anchor="t"/>
          <a:lstStyle/>
          <a:p>
            <a:pPr marL="0" indent="0" algn="ctr">
              <a:lnSpc>
                <a:spcPts val="3200"/>
              </a:lnSpc>
              <a:buNone/>
            </a:pPr>
            <a:r>
              <a:rPr lang="en-US" sz="2550" dirty="0">
                <a:solidFill>
                  <a:srgbClr val="DAD8E9"/>
                </a:solidFill>
                <a:latin typeface="Prompt Medium" pitchFamily="34" charset="0"/>
                <a:ea typeface="Prompt Medium" pitchFamily="34" charset="-122"/>
                <a:cs typeface="Prompt Medium" pitchFamily="34" charset="-120"/>
              </a:rPr>
              <a:t>6. Running the simulations</a:t>
            </a:r>
            <a:endParaRPr lang="en-US" sz="2550" dirty="0"/>
          </a:p>
        </p:txBody>
      </p:sp>
      <p:pic>
        <p:nvPicPr>
          <p:cNvPr id="7" name="Image 2" descr="preencoded.png"/>
          <p:cNvPicPr>
            <a:picLocks noChangeAspect="1"/>
          </p:cNvPicPr>
          <p:nvPr/>
        </p:nvPicPr>
        <p:blipFill>
          <a:blip r:embed="rId5"/>
          <a:stretch>
            <a:fillRect/>
          </a:stretch>
        </p:blipFill>
        <p:spPr>
          <a:xfrm>
            <a:off x="9671328" y="2091214"/>
            <a:ext cx="4095036" cy="4095036"/>
          </a:xfrm>
          <a:prstGeom prst="rect">
            <a:avLst/>
          </a:prstGeom>
        </p:spPr>
      </p:pic>
      <p:sp>
        <p:nvSpPr>
          <p:cNvPr id="8" name="Text 3"/>
          <p:cNvSpPr/>
          <p:nvPr/>
        </p:nvSpPr>
        <p:spPr>
          <a:xfrm>
            <a:off x="9671328" y="6494859"/>
            <a:ext cx="4095036" cy="822960"/>
          </a:xfrm>
          <a:prstGeom prst="rect">
            <a:avLst/>
          </a:prstGeom>
          <a:noFill/>
          <a:ln/>
        </p:spPr>
        <p:txBody>
          <a:bodyPr wrap="square" lIns="0" tIns="0" rIns="0" bIns="0" rtlCol="0" anchor="t"/>
          <a:lstStyle/>
          <a:p>
            <a:pPr marL="0" indent="0" algn="ctr">
              <a:lnSpc>
                <a:spcPts val="3200"/>
              </a:lnSpc>
              <a:buNone/>
            </a:pPr>
            <a:r>
              <a:rPr lang="en-US" sz="2550" dirty="0">
                <a:solidFill>
                  <a:srgbClr val="DAD8E9"/>
                </a:solidFill>
                <a:latin typeface="Prompt Medium" pitchFamily="34" charset="0"/>
                <a:ea typeface="Prompt Medium" pitchFamily="34" charset="-122"/>
                <a:cs typeface="Prompt Medium" pitchFamily="34" charset="-120"/>
              </a:rPr>
              <a:t>7. Analyzing the results and drawing conclusions</a:t>
            </a:r>
            <a:endParaRPr lang="en-US" sz="2550" dirty="0"/>
          </a:p>
        </p:txBody>
      </p:sp>
    </p:spTree>
    <p:extLst>
      <p:ext uri="{BB962C8B-B14F-4D97-AF65-F5344CB8AC3E}">
        <p14:creationId xmlns:p14="http://schemas.microsoft.com/office/powerpoint/2010/main" val="35984768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1415" y="661154"/>
            <a:ext cx="5342930" cy="667941"/>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Results- same RTT</a:t>
            </a:r>
            <a:endParaRPr lang="en-US" sz="4200" dirty="0"/>
          </a:p>
        </p:txBody>
      </p:sp>
      <p:sp>
        <p:nvSpPr>
          <p:cNvPr id="3" name="Text 1"/>
          <p:cNvSpPr/>
          <p:nvPr/>
        </p:nvSpPr>
        <p:spPr>
          <a:xfrm>
            <a:off x="841415" y="1425178"/>
            <a:ext cx="5342930" cy="667941"/>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Same Protocol</a:t>
            </a:r>
            <a:endParaRPr lang="en-US" sz="4200" dirty="0"/>
          </a:p>
        </p:txBody>
      </p:sp>
      <p:pic>
        <p:nvPicPr>
          <p:cNvPr id="4" name="Image 0" descr="preencoded.png"/>
          <p:cNvPicPr>
            <a:picLocks noChangeAspect="1"/>
          </p:cNvPicPr>
          <p:nvPr/>
        </p:nvPicPr>
        <p:blipFill>
          <a:blip r:embed="rId3"/>
          <a:stretch>
            <a:fillRect/>
          </a:stretch>
        </p:blipFill>
        <p:spPr>
          <a:xfrm>
            <a:off x="841415" y="2724150"/>
            <a:ext cx="2797016" cy="1957864"/>
          </a:xfrm>
          <a:prstGeom prst="rect">
            <a:avLst/>
          </a:prstGeom>
        </p:spPr>
      </p:pic>
      <p:pic>
        <p:nvPicPr>
          <p:cNvPr id="5" name="Image 1" descr="preencoded.png"/>
          <p:cNvPicPr>
            <a:picLocks noChangeAspect="1"/>
          </p:cNvPicPr>
          <p:nvPr/>
        </p:nvPicPr>
        <p:blipFill>
          <a:blip r:embed="rId4"/>
          <a:stretch>
            <a:fillRect/>
          </a:stretch>
        </p:blipFill>
        <p:spPr>
          <a:xfrm>
            <a:off x="841415" y="4952405"/>
            <a:ext cx="2797016" cy="1858923"/>
          </a:xfrm>
          <a:prstGeom prst="rect">
            <a:avLst/>
          </a:prstGeom>
        </p:spPr>
      </p:pic>
      <p:sp>
        <p:nvSpPr>
          <p:cNvPr id="6" name="Text 2"/>
          <p:cNvSpPr/>
          <p:nvPr/>
        </p:nvSpPr>
        <p:spPr>
          <a:xfrm>
            <a:off x="841415" y="7081718"/>
            <a:ext cx="2671405" cy="333970"/>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NewReno-NewReno</a:t>
            </a:r>
            <a:endParaRPr lang="en-US" sz="2100" dirty="0"/>
          </a:p>
        </p:txBody>
      </p:sp>
      <p:pic>
        <p:nvPicPr>
          <p:cNvPr id="7" name="Image 2" descr="preencoded.png"/>
          <p:cNvPicPr>
            <a:picLocks noChangeAspect="1"/>
          </p:cNvPicPr>
          <p:nvPr/>
        </p:nvPicPr>
        <p:blipFill>
          <a:blip r:embed="rId5"/>
          <a:stretch>
            <a:fillRect/>
          </a:stretch>
        </p:blipFill>
        <p:spPr>
          <a:xfrm>
            <a:off x="4232553" y="2724150"/>
            <a:ext cx="2797016" cy="1968222"/>
          </a:xfrm>
          <a:prstGeom prst="rect">
            <a:avLst/>
          </a:prstGeom>
        </p:spPr>
      </p:pic>
      <p:pic>
        <p:nvPicPr>
          <p:cNvPr id="8" name="Image 3" descr="preencoded.png"/>
          <p:cNvPicPr>
            <a:picLocks noChangeAspect="1"/>
          </p:cNvPicPr>
          <p:nvPr/>
        </p:nvPicPr>
        <p:blipFill>
          <a:blip r:embed="rId6"/>
          <a:stretch>
            <a:fillRect/>
          </a:stretch>
        </p:blipFill>
        <p:spPr>
          <a:xfrm>
            <a:off x="4232553" y="4962763"/>
            <a:ext cx="2797016" cy="1895237"/>
          </a:xfrm>
          <a:prstGeom prst="rect">
            <a:avLst/>
          </a:prstGeom>
        </p:spPr>
      </p:pic>
      <p:sp>
        <p:nvSpPr>
          <p:cNvPr id="9" name="Text 3"/>
          <p:cNvSpPr/>
          <p:nvPr/>
        </p:nvSpPr>
        <p:spPr>
          <a:xfrm>
            <a:off x="4232553" y="7128391"/>
            <a:ext cx="2671405" cy="333970"/>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Cubic-Cubic</a:t>
            </a:r>
            <a:endParaRPr lang="en-US" sz="2100" dirty="0"/>
          </a:p>
        </p:txBody>
      </p:sp>
      <p:pic>
        <p:nvPicPr>
          <p:cNvPr id="10" name="Image 4" descr="preencoded.png"/>
          <p:cNvPicPr>
            <a:picLocks noChangeAspect="1"/>
          </p:cNvPicPr>
          <p:nvPr/>
        </p:nvPicPr>
        <p:blipFill>
          <a:blip r:embed="rId7"/>
          <a:stretch>
            <a:fillRect/>
          </a:stretch>
        </p:blipFill>
        <p:spPr>
          <a:xfrm>
            <a:off x="7623691" y="2724150"/>
            <a:ext cx="2797016" cy="1954411"/>
          </a:xfrm>
          <a:prstGeom prst="rect">
            <a:avLst/>
          </a:prstGeom>
        </p:spPr>
      </p:pic>
      <p:pic>
        <p:nvPicPr>
          <p:cNvPr id="11" name="Image 5" descr="preencoded.png"/>
          <p:cNvPicPr>
            <a:picLocks noChangeAspect="1"/>
          </p:cNvPicPr>
          <p:nvPr/>
        </p:nvPicPr>
        <p:blipFill>
          <a:blip r:embed="rId8"/>
          <a:stretch>
            <a:fillRect/>
          </a:stretch>
        </p:blipFill>
        <p:spPr>
          <a:xfrm>
            <a:off x="7623691" y="4948952"/>
            <a:ext cx="2797016" cy="1883926"/>
          </a:xfrm>
          <a:prstGeom prst="rect">
            <a:avLst/>
          </a:prstGeom>
        </p:spPr>
      </p:pic>
      <p:sp>
        <p:nvSpPr>
          <p:cNvPr id="12" name="Text 4"/>
          <p:cNvSpPr/>
          <p:nvPr/>
        </p:nvSpPr>
        <p:spPr>
          <a:xfrm>
            <a:off x="7623691" y="7103269"/>
            <a:ext cx="2671405" cy="333970"/>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Dctcp-Dctcp</a:t>
            </a:r>
            <a:endParaRPr lang="en-US" sz="2100" dirty="0"/>
          </a:p>
        </p:txBody>
      </p:sp>
      <p:pic>
        <p:nvPicPr>
          <p:cNvPr id="13" name="Image 6" descr="preencoded.png"/>
          <p:cNvPicPr>
            <a:picLocks noChangeAspect="1"/>
          </p:cNvPicPr>
          <p:nvPr/>
        </p:nvPicPr>
        <p:blipFill>
          <a:blip r:embed="rId9"/>
          <a:stretch>
            <a:fillRect/>
          </a:stretch>
        </p:blipFill>
        <p:spPr>
          <a:xfrm>
            <a:off x="11014829" y="2724150"/>
            <a:ext cx="2797016" cy="1973818"/>
          </a:xfrm>
          <a:prstGeom prst="rect">
            <a:avLst/>
          </a:prstGeom>
        </p:spPr>
      </p:pic>
      <p:pic>
        <p:nvPicPr>
          <p:cNvPr id="14" name="Image 7" descr="preencoded.png"/>
          <p:cNvPicPr>
            <a:picLocks noChangeAspect="1"/>
          </p:cNvPicPr>
          <p:nvPr/>
        </p:nvPicPr>
        <p:blipFill>
          <a:blip r:embed="rId10"/>
          <a:stretch>
            <a:fillRect/>
          </a:stretch>
        </p:blipFill>
        <p:spPr>
          <a:xfrm>
            <a:off x="11014829" y="4968359"/>
            <a:ext cx="2797016" cy="1878806"/>
          </a:xfrm>
          <a:prstGeom prst="rect">
            <a:avLst/>
          </a:prstGeom>
        </p:spPr>
      </p:pic>
      <p:sp>
        <p:nvSpPr>
          <p:cNvPr id="15" name="Text 5"/>
          <p:cNvSpPr/>
          <p:nvPr/>
        </p:nvSpPr>
        <p:spPr>
          <a:xfrm>
            <a:off x="11014829" y="7117556"/>
            <a:ext cx="2671405" cy="333970"/>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BBR-BBR</a:t>
            </a:r>
            <a:endParaRPr lang="en-US" sz="2100" dirty="0"/>
          </a:p>
        </p:txBody>
      </p:sp>
    </p:spTree>
    <p:extLst>
      <p:ext uri="{BB962C8B-B14F-4D97-AF65-F5344CB8AC3E}">
        <p14:creationId xmlns:p14="http://schemas.microsoft.com/office/powerpoint/2010/main" val="6401752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6392" y="515779"/>
            <a:ext cx="4168021" cy="521017"/>
          </a:xfrm>
          <a:prstGeom prst="rect">
            <a:avLst/>
          </a:prstGeom>
          <a:noFill/>
          <a:ln/>
        </p:spPr>
        <p:txBody>
          <a:bodyPr wrap="none" lIns="0" tIns="0" rIns="0" bIns="0" rtlCol="0" anchor="t"/>
          <a:lstStyle/>
          <a:p>
            <a:pPr marL="0" indent="0" algn="l">
              <a:lnSpc>
                <a:spcPts val="4100"/>
              </a:lnSpc>
              <a:buNone/>
            </a:pPr>
            <a:r>
              <a:rPr lang="en-US" sz="3250" dirty="0">
                <a:solidFill>
                  <a:srgbClr val="C6BFEE"/>
                </a:solidFill>
                <a:latin typeface="Prompt Medium" pitchFamily="34" charset="0"/>
                <a:ea typeface="Prompt Medium" pitchFamily="34" charset="-122"/>
                <a:cs typeface="Prompt Medium" pitchFamily="34" charset="-120"/>
              </a:rPr>
              <a:t>Results- same RTT</a:t>
            </a:r>
            <a:endParaRPr lang="en-US" sz="3250" dirty="0"/>
          </a:p>
        </p:txBody>
      </p:sp>
      <p:sp>
        <p:nvSpPr>
          <p:cNvPr id="3" name="Text 1"/>
          <p:cNvSpPr/>
          <p:nvPr/>
        </p:nvSpPr>
        <p:spPr>
          <a:xfrm>
            <a:off x="656392" y="1111806"/>
            <a:ext cx="4168021" cy="521017"/>
          </a:xfrm>
          <a:prstGeom prst="rect">
            <a:avLst/>
          </a:prstGeom>
          <a:noFill/>
          <a:ln/>
        </p:spPr>
        <p:txBody>
          <a:bodyPr wrap="none" lIns="0" tIns="0" rIns="0" bIns="0" rtlCol="0" anchor="t"/>
          <a:lstStyle/>
          <a:p>
            <a:pPr marL="0" indent="0" algn="l">
              <a:lnSpc>
                <a:spcPts val="4100"/>
              </a:lnSpc>
              <a:buNone/>
            </a:pPr>
            <a:r>
              <a:rPr lang="en-US" sz="3250" dirty="0">
                <a:solidFill>
                  <a:srgbClr val="C6BFEE"/>
                </a:solidFill>
                <a:latin typeface="Prompt Medium" pitchFamily="34" charset="0"/>
                <a:ea typeface="Prompt Medium" pitchFamily="34" charset="-122"/>
                <a:cs typeface="Prompt Medium" pitchFamily="34" charset="-120"/>
              </a:rPr>
              <a:t>different protocols</a:t>
            </a:r>
            <a:endParaRPr lang="en-US" sz="3250" dirty="0"/>
          </a:p>
        </p:txBody>
      </p:sp>
      <p:pic>
        <p:nvPicPr>
          <p:cNvPr id="4" name="Image 0" descr="preencoded.png"/>
          <p:cNvPicPr>
            <a:picLocks noChangeAspect="1"/>
          </p:cNvPicPr>
          <p:nvPr/>
        </p:nvPicPr>
        <p:blipFill>
          <a:blip r:embed="rId3"/>
          <a:stretch>
            <a:fillRect/>
          </a:stretch>
        </p:blipFill>
        <p:spPr>
          <a:xfrm>
            <a:off x="656392" y="2125028"/>
            <a:ext cx="4135160" cy="2871192"/>
          </a:xfrm>
          <a:prstGeom prst="rect">
            <a:avLst/>
          </a:prstGeom>
        </p:spPr>
      </p:pic>
      <p:pic>
        <p:nvPicPr>
          <p:cNvPr id="5" name="Image 1" descr="preencoded.png"/>
          <p:cNvPicPr>
            <a:picLocks noChangeAspect="1"/>
          </p:cNvPicPr>
          <p:nvPr/>
        </p:nvPicPr>
        <p:blipFill>
          <a:blip r:embed="rId4"/>
          <a:stretch>
            <a:fillRect/>
          </a:stretch>
        </p:blipFill>
        <p:spPr>
          <a:xfrm>
            <a:off x="656392" y="5207198"/>
            <a:ext cx="4135160" cy="2754392"/>
          </a:xfrm>
          <a:prstGeom prst="rect">
            <a:avLst/>
          </a:prstGeom>
        </p:spPr>
      </p:pic>
      <p:sp>
        <p:nvSpPr>
          <p:cNvPr id="6" name="Text 2"/>
          <p:cNvSpPr/>
          <p:nvPr/>
        </p:nvSpPr>
        <p:spPr>
          <a:xfrm>
            <a:off x="656392" y="8172569"/>
            <a:ext cx="2083951" cy="260390"/>
          </a:xfrm>
          <a:prstGeom prst="rect">
            <a:avLst/>
          </a:prstGeom>
          <a:noFill/>
          <a:ln/>
        </p:spPr>
        <p:txBody>
          <a:bodyPr wrap="none" lIns="0" tIns="0" rIns="0" bIns="0" rtlCol="0" anchor="t"/>
          <a:lstStyle/>
          <a:p>
            <a:pPr marL="0" indent="0" algn="l">
              <a:lnSpc>
                <a:spcPts val="2050"/>
              </a:lnSpc>
              <a:buNone/>
            </a:pPr>
            <a:r>
              <a:rPr lang="en-US" sz="1600" dirty="0">
                <a:solidFill>
                  <a:srgbClr val="C6BFEE"/>
                </a:solidFill>
                <a:latin typeface="Prompt Medium" pitchFamily="34" charset="0"/>
                <a:ea typeface="Prompt Medium" pitchFamily="34" charset="-122"/>
                <a:cs typeface="Prompt Medium" pitchFamily="34" charset="-120"/>
              </a:rPr>
              <a:t>BBR-NewReno</a:t>
            </a:r>
            <a:endParaRPr lang="en-US" sz="1600" dirty="0"/>
          </a:p>
        </p:txBody>
      </p:sp>
      <p:pic>
        <p:nvPicPr>
          <p:cNvPr id="7" name="Image 2" descr="preencoded.png"/>
          <p:cNvPicPr>
            <a:picLocks noChangeAspect="1"/>
          </p:cNvPicPr>
          <p:nvPr/>
        </p:nvPicPr>
        <p:blipFill>
          <a:blip r:embed="rId5"/>
          <a:stretch>
            <a:fillRect/>
          </a:stretch>
        </p:blipFill>
        <p:spPr>
          <a:xfrm>
            <a:off x="5256609" y="2125028"/>
            <a:ext cx="4133731" cy="2890838"/>
          </a:xfrm>
          <a:prstGeom prst="rect">
            <a:avLst/>
          </a:prstGeom>
        </p:spPr>
      </p:pic>
      <p:pic>
        <p:nvPicPr>
          <p:cNvPr id="8" name="Image 3" descr="preencoded.png"/>
          <p:cNvPicPr>
            <a:picLocks noChangeAspect="1"/>
          </p:cNvPicPr>
          <p:nvPr/>
        </p:nvPicPr>
        <p:blipFill>
          <a:blip r:embed="rId6"/>
          <a:stretch>
            <a:fillRect/>
          </a:stretch>
        </p:blipFill>
        <p:spPr>
          <a:xfrm>
            <a:off x="5256609" y="5226844"/>
            <a:ext cx="4133731" cy="2753439"/>
          </a:xfrm>
          <a:prstGeom prst="rect">
            <a:avLst/>
          </a:prstGeom>
        </p:spPr>
      </p:pic>
      <p:sp>
        <p:nvSpPr>
          <p:cNvPr id="9" name="Text 3"/>
          <p:cNvSpPr/>
          <p:nvPr/>
        </p:nvSpPr>
        <p:spPr>
          <a:xfrm>
            <a:off x="5256609" y="8191262"/>
            <a:ext cx="2083951" cy="260390"/>
          </a:xfrm>
          <a:prstGeom prst="rect">
            <a:avLst/>
          </a:prstGeom>
          <a:noFill/>
          <a:ln/>
        </p:spPr>
        <p:txBody>
          <a:bodyPr wrap="none" lIns="0" tIns="0" rIns="0" bIns="0" rtlCol="0" anchor="t"/>
          <a:lstStyle/>
          <a:p>
            <a:pPr marL="0" indent="0" algn="l">
              <a:lnSpc>
                <a:spcPts val="2050"/>
              </a:lnSpc>
              <a:buNone/>
            </a:pPr>
            <a:r>
              <a:rPr lang="en-US" sz="1600" dirty="0">
                <a:solidFill>
                  <a:srgbClr val="C6BFEE"/>
                </a:solidFill>
                <a:latin typeface="Prompt Medium" pitchFamily="34" charset="0"/>
                <a:ea typeface="Prompt Medium" pitchFamily="34" charset="-122"/>
                <a:cs typeface="Prompt Medium" pitchFamily="34" charset="-120"/>
              </a:rPr>
              <a:t>BBR-Dctcp</a:t>
            </a:r>
            <a:endParaRPr lang="en-US" sz="1600" dirty="0"/>
          </a:p>
        </p:txBody>
      </p:sp>
      <p:pic>
        <p:nvPicPr>
          <p:cNvPr id="10" name="Image 4" descr="preencoded.png"/>
          <p:cNvPicPr>
            <a:picLocks noChangeAspect="1"/>
          </p:cNvPicPr>
          <p:nvPr/>
        </p:nvPicPr>
        <p:blipFill>
          <a:blip r:embed="rId7"/>
          <a:stretch>
            <a:fillRect/>
          </a:stretch>
        </p:blipFill>
        <p:spPr>
          <a:xfrm>
            <a:off x="9855398" y="2125028"/>
            <a:ext cx="4133731" cy="2897624"/>
          </a:xfrm>
          <a:prstGeom prst="rect">
            <a:avLst/>
          </a:prstGeom>
        </p:spPr>
      </p:pic>
      <p:pic>
        <p:nvPicPr>
          <p:cNvPr id="11" name="Image 5" descr="preencoded.png"/>
          <p:cNvPicPr>
            <a:picLocks noChangeAspect="1"/>
          </p:cNvPicPr>
          <p:nvPr/>
        </p:nvPicPr>
        <p:blipFill>
          <a:blip r:embed="rId8"/>
          <a:stretch>
            <a:fillRect/>
          </a:stretch>
        </p:blipFill>
        <p:spPr>
          <a:xfrm>
            <a:off x="9855398" y="5233630"/>
            <a:ext cx="4133731" cy="2760345"/>
          </a:xfrm>
          <a:prstGeom prst="rect">
            <a:avLst/>
          </a:prstGeom>
        </p:spPr>
      </p:pic>
      <p:sp>
        <p:nvSpPr>
          <p:cNvPr id="12" name="Text 4"/>
          <p:cNvSpPr/>
          <p:nvPr/>
        </p:nvSpPr>
        <p:spPr>
          <a:xfrm>
            <a:off x="9855398" y="8204954"/>
            <a:ext cx="2083951" cy="260390"/>
          </a:xfrm>
          <a:prstGeom prst="rect">
            <a:avLst/>
          </a:prstGeom>
          <a:noFill/>
          <a:ln/>
        </p:spPr>
        <p:txBody>
          <a:bodyPr wrap="none" lIns="0" tIns="0" rIns="0" bIns="0" rtlCol="0" anchor="t"/>
          <a:lstStyle/>
          <a:p>
            <a:pPr marL="0" indent="0" algn="l">
              <a:lnSpc>
                <a:spcPts val="2050"/>
              </a:lnSpc>
              <a:buNone/>
            </a:pPr>
            <a:r>
              <a:rPr lang="en-US" sz="1600" dirty="0">
                <a:solidFill>
                  <a:srgbClr val="C6BFEE"/>
                </a:solidFill>
                <a:latin typeface="Prompt Medium" pitchFamily="34" charset="0"/>
                <a:ea typeface="Prompt Medium" pitchFamily="34" charset="-122"/>
                <a:cs typeface="Prompt Medium" pitchFamily="34" charset="-120"/>
              </a:rPr>
              <a:t>BBR-Cubic</a:t>
            </a:r>
            <a:endParaRPr lang="en-US" sz="1600" dirty="0"/>
          </a:p>
        </p:txBody>
      </p:sp>
    </p:spTree>
    <p:extLst>
      <p:ext uri="{BB962C8B-B14F-4D97-AF65-F5344CB8AC3E}">
        <p14:creationId xmlns:p14="http://schemas.microsoft.com/office/powerpoint/2010/main" val="41632382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7581" y="508754"/>
            <a:ext cx="4111704" cy="513874"/>
          </a:xfrm>
          <a:prstGeom prst="rect">
            <a:avLst/>
          </a:prstGeom>
          <a:noFill/>
          <a:ln/>
        </p:spPr>
        <p:txBody>
          <a:bodyPr wrap="none" lIns="0" tIns="0" rIns="0" bIns="0" rtlCol="0" anchor="t"/>
          <a:lstStyle/>
          <a:p>
            <a:pPr marL="0" indent="0" algn="l">
              <a:lnSpc>
                <a:spcPts val="4000"/>
              </a:lnSpc>
              <a:buNone/>
            </a:pPr>
            <a:r>
              <a:rPr lang="en-US" sz="3200" dirty="0">
                <a:solidFill>
                  <a:srgbClr val="C6BFEE"/>
                </a:solidFill>
                <a:latin typeface="Prompt Medium" pitchFamily="34" charset="0"/>
                <a:ea typeface="Prompt Medium" pitchFamily="34" charset="-122"/>
                <a:cs typeface="Prompt Medium" pitchFamily="34" charset="-120"/>
              </a:rPr>
              <a:t>Results- same RTT</a:t>
            </a:r>
            <a:endParaRPr lang="en-US" sz="3200" dirty="0"/>
          </a:p>
        </p:txBody>
      </p:sp>
      <p:sp>
        <p:nvSpPr>
          <p:cNvPr id="3" name="Text 1"/>
          <p:cNvSpPr/>
          <p:nvPr/>
        </p:nvSpPr>
        <p:spPr>
          <a:xfrm>
            <a:off x="647581" y="1096566"/>
            <a:ext cx="4111704" cy="513874"/>
          </a:xfrm>
          <a:prstGeom prst="rect">
            <a:avLst/>
          </a:prstGeom>
          <a:noFill/>
          <a:ln/>
        </p:spPr>
        <p:txBody>
          <a:bodyPr wrap="none" lIns="0" tIns="0" rIns="0" bIns="0" rtlCol="0" anchor="t"/>
          <a:lstStyle/>
          <a:p>
            <a:pPr marL="0" indent="0" algn="l">
              <a:lnSpc>
                <a:spcPts val="4000"/>
              </a:lnSpc>
              <a:buNone/>
            </a:pPr>
            <a:r>
              <a:rPr lang="en-US" sz="3200" dirty="0">
                <a:solidFill>
                  <a:srgbClr val="C6BFEE"/>
                </a:solidFill>
                <a:latin typeface="Prompt Medium" pitchFamily="34" charset="0"/>
                <a:ea typeface="Prompt Medium" pitchFamily="34" charset="-122"/>
                <a:cs typeface="Prompt Medium" pitchFamily="34" charset="-120"/>
              </a:rPr>
              <a:t>different protocols</a:t>
            </a:r>
            <a:endParaRPr lang="en-US" sz="3200" dirty="0"/>
          </a:p>
        </p:txBody>
      </p:sp>
      <p:pic>
        <p:nvPicPr>
          <p:cNvPr id="4" name="Image 0" descr="preencoded.png"/>
          <p:cNvPicPr>
            <a:picLocks noChangeAspect="1"/>
          </p:cNvPicPr>
          <p:nvPr/>
        </p:nvPicPr>
        <p:blipFill>
          <a:blip r:embed="rId3"/>
          <a:stretch>
            <a:fillRect/>
          </a:stretch>
        </p:blipFill>
        <p:spPr>
          <a:xfrm>
            <a:off x="647581" y="2096095"/>
            <a:ext cx="4145161" cy="2925128"/>
          </a:xfrm>
          <a:prstGeom prst="rect">
            <a:avLst/>
          </a:prstGeom>
        </p:spPr>
      </p:pic>
      <p:pic>
        <p:nvPicPr>
          <p:cNvPr id="5" name="Image 1" descr="preencoded.png"/>
          <p:cNvPicPr>
            <a:picLocks noChangeAspect="1"/>
          </p:cNvPicPr>
          <p:nvPr/>
        </p:nvPicPr>
        <p:blipFill>
          <a:blip r:embed="rId4"/>
          <a:stretch>
            <a:fillRect/>
          </a:stretch>
        </p:blipFill>
        <p:spPr>
          <a:xfrm>
            <a:off x="647581" y="5229344"/>
            <a:ext cx="4145161" cy="2763441"/>
          </a:xfrm>
          <a:prstGeom prst="rect">
            <a:avLst/>
          </a:prstGeom>
        </p:spPr>
      </p:pic>
      <p:sp>
        <p:nvSpPr>
          <p:cNvPr id="6" name="Text 2"/>
          <p:cNvSpPr/>
          <p:nvPr/>
        </p:nvSpPr>
        <p:spPr>
          <a:xfrm>
            <a:off x="647581" y="8200906"/>
            <a:ext cx="2055852" cy="256937"/>
          </a:xfrm>
          <a:prstGeom prst="rect">
            <a:avLst/>
          </a:prstGeom>
          <a:noFill/>
          <a:ln/>
        </p:spPr>
        <p:txBody>
          <a:bodyPr wrap="none" lIns="0" tIns="0" rIns="0" bIns="0" rtlCol="0" anchor="t"/>
          <a:lstStyle/>
          <a:p>
            <a:pPr marL="0" indent="0" algn="l">
              <a:lnSpc>
                <a:spcPts val="2000"/>
              </a:lnSpc>
              <a:buNone/>
            </a:pPr>
            <a:r>
              <a:rPr lang="en-US" sz="1600" dirty="0">
                <a:solidFill>
                  <a:srgbClr val="C6BFEE"/>
                </a:solidFill>
                <a:latin typeface="Prompt Medium" pitchFamily="34" charset="0"/>
                <a:ea typeface="Prompt Medium" pitchFamily="34" charset="-122"/>
                <a:cs typeface="Prompt Medium" pitchFamily="34" charset="-120"/>
              </a:rPr>
              <a:t>NewReno-Cubic</a:t>
            </a:r>
            <a:endParaRPr lang="en-US" sz="1600" dirty="0"/>
          </a:p>
        </p:txBody>
      </p:sp>
      <p:pic>
        <p:nvPicPr>
          <p:cNvPr id="7" name="Image 2" descr="preencoded.png"/>
          <p:cNvPicPr>
            <a:picLocks noChangeAspect="1"/>
          </p:cNvPicPr>
          <p:nvPr/>
        </p:nvPicPr>
        <p:blipFill>
          <a:blip r:embed="rId5"/>
          <a:stretch>
            <a:fillRect/>
          </a:stretch>
        </p:blipFill>
        <p:spPr>
          <a:xfrm>
            <a:off x="5251609" y="2096095"/>
            <a:ext cx="4143732" cy="2896433"/>
          </a:xfrm>
          <a:prstGeom prst="rect">
            <a:avLst/>
          </a:prstGeom>
        </p:spPr>
      </p:pic>
      <p:pic>
        <p:nvPicPr>
          <p:cNvPr id="8" name="Image 3" descr="preencoded.png"/>
          <p:cNvPicPr>
            <a:picLocks noChangeAspect="1"/>
          </p:cNvPicPr>
          <p:nvPr/>
        </p:nvPicPr>
        <p:blipFill>
          <a:blip r:embed="rId6"/>
          <a:stretch>
            <a:fillRect/>
          </a:stretch>
        </p:blipFill>
        <p:spPr>
          <a:xfrm>
            <a:off x="5251609" y="5200650"/>
            <a:ext cx="4143732" cy="2807018"/>
          </a:xfrm>
          <a:prstGeom prst="rect">
            <a:avLst/>
          </a:prstGeom>
        </p:spPr>
      </p:pic>
      <p:sp>
        <p:nvSpPr>
          <p:cNvPr id="9" name="Text 3"/>
          <p:cNvSpPr/>
          <p:nvPr/>
        </p:nvSpPr>
        <p:spPr>
          <a:xfrm>
            <a:off x="5251609" y="8215789"/>
            <a:ext cx="2055852" cy="256937"/>
          </a:xfrm>
          <a:prstGeom prst="rect">
            <a:avLst/>
          </a:prstGeom>
          <a:noFill/>
          <a:ln/>
        </p:spPr>
        <p:txBody>
          <a:bodyPr wrap="none" lIns="0" tIns="0" rIns="0" bIns="0" rtlCol="0" anchor="t"/>
          <a:lstStyle/>
          <a:p>
            <a:pPr marL="0" indent="0" algn="l">
              <a:lnSpc>
                <a:spcPts val="2000"/>
              </a:lnSpc>
              <a:buNone/>
            </a:pPr>
            <a:r>
              <a:rPr lang="en-US" sz="1600" dirty="0">
                <a:solidFill>
                  <a:srgbClr val="C6BFEE"/>
                </a:solidFill>
                <a:latin typeface="Prompt Medium" pitchFamily="34" charset="0"/>
                <a:ea typeface="Prompt Medium" pitchFamily="34" charset="-122"/>
                <a:cs typeface="Prompt Medium" pitchFamily="34" charset="-120"/>
              </a:rPr>
              <a:t>NewReno-Dctcp</a:t>
            </a:r>
            <a:endParaRPr lang="en-US" sz="1600" dirty="0"/>
          </a:p>
        </p:txBody>
      </p:sp>
      <p:pic>
        <p:nvPicPr>
          <p:cNvPr id="10" name="Image 4" descr="preencoded.png"/>
          <p:cNvPicPr>
            <a:picLocks noChangeAspect="1"/>
          </p:cNvPicPr>
          <p:nvPr/>
        </p:nvPicPr>
        <p:blipFill>
          <a:blip r:embed="rId7"/>
          <a:stretch>
            <a:fillRect/>
          </a:stretch>
        </p:blipFill>
        <p:spPr>
          <a:xfrm>
            <a:off x="9854208" y="2096095"/>
            <a:ext cx="4143732" cy="2924889"/>
          </a:xfrm>
          <a:prstGeom prst="rect">
            <a:avLst/>
          </a:prstGeom>
        </p:spPr>
      </p:pic>
      <p:pic>
        <p:nvPicPr>
          <p:cNvPr id="11" name="Image 5" descr="preencoded.png"/>
          <p:cNvPicPr>
            <a:picLocks noChangeAspect="1"/>
          </p:cNvPicPr>
          <p:nvPr/>
        </p:nvPicPr>
        <p:blipFill>
          <a:blip r:embed="rId8"/>
          <a:stretch>
            <a:fillRect/>
          </a:stretch>
        </p:blipFill>
        <p:spPr>
          <a:xfrm>
            <a:off x="9854208" y="5229106"/>
            <a:ext cx="4143732" cy="2845951"/>
          </a:xfrm>
          <a:prstGeom prst="rect">
            <a:avLst/>
          </a:prstGeom>
        </p:spPr>
      </p:pic>
      <p:sp>
        <p:nvSpPr>
          <p:cNvPr id="12" name="Text 4"/>
          <p:cNvSpPr/>
          <p:nvPr/>
        </p:nvSpPr>
        <p:spPr>
          <a:xfrm>
            <a:off x="9854208" y="8283178"/>
            <a:ext cx="2055852" cy="256937"/>
          </a:xfrm>
          <a:prstGeom prst="rect">
            <a:avLst/>
          </a:prstGeom>
          <a:noFill/>
          <a:ln/>
        </p:spPr>
        <p:txBody>
          <a:bodyPr wrap="none" lIns="0" tIns="0" rIns="0" bIns="0" rtlCol="0" anchor="t"/>
          <a:lstStyle/>
          <a:p>
            <a:pPr marL="0" indent="0" algn="l">
              <a:lnSpc>
                <a:spcPts val="2000"/>
              </a:lnSpc>
              <a:buNone/>
            </a:pPr>
            <a:r>
              <a:rPr lang="en-US" sz="1600" dirty="0">
                <a:solidFill>
                  <a:srgbClr val="C6BFEE"/>
                </a:solidFill>
                <a:latin typeface="Prompt Medium" pitchFamily="34" charset="0"/>
                <a:ea typeface="Prompt Medium" pitchFamily="34" charset="-122"/>
                <a:cs typeface="Prompt Medium" pitchFamily="34" charset="-120"/>
              </a:rPr>
              <a:t>Dctcp-Cubic</a:t>
            </a:r>
            <a:endParaRPr lang="en-US" sz="1600" dirty="0"/>
          </a:p>
        </p:txBody>
      </p:sp>
    </p:spTree>
    <p:extLst>
      <p:ext uri="{BB962C8B-B14F-4D97-AF65-F5344CB8AC3E}">
        <p14:creationId xmlns:p14="http://schemas.microsoft.com/office/powerpoint/2010/main" val="19285356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9986" y="659963"/>
            <a:ext cx="5649158" cy="666512"/>
          </a:xfrm>
          <a:prstGeom prst="rect">
            <a:avLst/>
          </a:prstGeom>
          <a:noFill/>
          <a:ln/>
        </p:spPr>
        <p:txBody>
          <a:bodyPr wrap="none" lIns="0" tIns="0" rIns="0" bIns="0" rtlCol="0" anchor="t"/>
          <a:lstStyle/>
          <a:p>
            <a:pPr marL="0" indent="0" algn="l">
              <a:lnSpc>
                <a:spcPts val="5200"/>
              </a:lnSpc>
              <a:buNone/>
            </a:pPr>
            <a:r>
              <a:rPr lang="en-US" sz="4150" dirty="0">
                <a:solidFill>
                  <a:srgbClr val="C6BFEE"/>
                </a:solidFill>
                <a:latin typeface="Prompt Medium" pitchFamily="34" charset="0"/>
                <a:ea typeface="Prompt Medium" pitchFamily="34" charset="-122"/>
                <a:cs typeface="Prompt Medium" pitchFamily="34" charset="-120"/>
              </a:rPr>
              <a:t>Results- different RTT</a:t>
            </a:r>
            <a:endParaRPr lang="en-US" sz="4150" dirty="0"/>
          </a:p>
        </p:txBody>
      </p:sp>
      <p:sp>
        <p:nvSpPr>
          <p:cNvPr id="3" name="Text 1"/>
          <p:cNvSpPr/>
          <p:nvPr/>
        </p:nvSpPr>
        <p:spPr>
          <a:xfrm>
            <a:off x="839986" y="1422440"/>
            <a:ext cx="5333286" cy="666512"/>
          </a:xfrm>
          <a:prstGeom prst="rect">
            <a:avLst/>
          </a:prstGeom>
          <a:noFill/>
          <a:ln/>
        </p:spPr>
        <p:txBody>
          <a:bodyPr wrap="none" lIns="0" tIns="0" rIns="0" bIns="0" rtlCol="0" anchor="t"/>
          <a:lstStyle/>
          <a:p>
            <a:pPr marL="0" indent="0" algn="l">
              <a:lnSpc>
                <a:spcPts val="5200"/>
              </a:lnSpc>
              <a:buNone/>
            </a:pPr>
            <a:r>
              <a:rPr lang="en-US" sz="4150" dirty="0">
                <a:solidFill>
                  <a:srgbClr val="C6BFEE"/>
                </a:solidFill>
                <a:latin typeface="Prompt Medium" pitchFamily="34" charset="0"/>
                <a:ea typeface="Prompt Medium" pitchFamily="34" charset="-122"/>
                <a:cs typeface="Prompt Medium" pitchFamily="34" charset="-120"/>
              </a:rPr>
              <a:t>NewReno</a:t>
            </a:r>
            <a:endParaRPr lang="en-US" sz="4150" dirty="0"/>
          </a:p>
        </p:txBody>
      </p:sp>
      <p:pic>
        <p:nvPicPr>
          <p:cNvPr id="4" name="Image 0" descr="preencoded.png"/>
          <p:cNvPicPr>
            <a:picLocks noChangeAspect="1"/>
          </p:cNvPicPr>
          <p:nvPr/>
        </p:nvPicPr>
        <p:blipFill>
          <a:blip r:embed="rId3"/>
          <a:stretch>
            <a:fillRect/>
          </a:stretch>
        </p:blipFill>
        <p:spPr>
          <a:xfrm>
            <a:off x="839986" y="2718792"/>
            <a:ext cx="2798445" cy="1928693"/>
          </a:xfrm>
          <a:prstGeom prst="rect">
            <a:avLst/>
          </a:prstGeom>
        </p:spPr>
      </p:pic>
      <p:pic>
        <p:nvPicPr>
          <p:cNvPr id="5" name="Image 1" descr="preencoded.png"/>
          <p:cNvPicPr>
            <a:picLocks noChangeAspect="1"/>
          </p:cNvPicPr>
          <p:nvPr/>
        </p:nvPicPr>
        <p:blipFill>
          <a:blip r:embed="rId4"/>
          <a:stretch>
            <a:fillRect/>
          </a:stretch>
        </p:blipFill>
        <p:spPr>
          <a:xfrm>
            <a:off x="839986" y="4917400"/>
            <a:ext cx="2798445" cy="1862852"/>
          </a:xfrm>
          <a:prstGeom prst="rect">
            <a:avLst/>
          </a:prstGeom>
        </p:spPr>
      </p:pic>
      <p:sp>
        <p:nvSpPr>
          <p:cNvPr id="6" name="Text 2"/>
          <p:cNvSpPr/>
          <p:nvPr/>
        </p:nvSpPr>
        <p:spPr>
          <a:xfrm>
            <a:off x="839986" y="7050167"/>
            <a:ext cx="2666643" cy="333375"/>
          </a:xfrm>
          <a:prstGeom prst="rect">
            <a:avLst/>
          </a:prstGeom>
          <a:noFill/>
          <a:ln/>
        </p:spPr>
        <p:txBody>
          <a:bodyPr wrap="none" lIns="0" tIns="0" rIns="0" bIns="0" rtlCol="0" anchor="t"/>
          <a:lstStyle/>
          <a:p>
            <a:pPr marL="0" indent="0" algn="l">
              <a:lnSpc>
                <a:spcPts val="2600"/>
              </a:lnSpc>
              <a:buNone/>
            </a:pPr>
            <a:r>
              <a:rPr lang="en-US" sz="2050" dirty="0">
                <a:solidFill>
                  <a:srgbClr val="C6BFEE"/>
                </a:solidFill>
                <a:latin typeface="Prompt Medium" pitchFamily="34" charset="0"/>
                <a:ea typeface="Prompt Medium" pitchFamily="34" charset="-122"/>
                <a:cs typeface="Prompt Medium" pitchFamily="34" charset="-120"/>
              </a:rPr>
              <a:t>NewReno-NewReno</a:t>
            </a:r>
            <a:endParaRPr lang="en-US" sz="2050" dirty="0"/>
          </a:p>
        </p:txBody>
      </p:sp>
      <p:pic>
        <p:nvPicPr>
          <p:cNvPr id="7" name="Image 2" descr="preencoded.png"/>
          <p:cNvPicPr>
            <a:picLocks noChangeAspect="1"/>
          </p:cNvPicPr>
          <p:nvPr/>
        </p:nvPicPr>
        <p:blipFill>
          <a:blip r:embed="rId5"/>
          <a:stretch>
            <a:fillRect/>
          </a:stretch>
        </p:blipFill>
        <p:spPr>
          <a:xfrm>
            <a:off x="4231600" y="2718792"/>
            <a:ext cx="2798445" cy="1991439"/>
          </a:xfrm>
          <a:prstGeom prst="rect">
            <a:avLst/>
          </a:prstGeom>
        </p:spPr>
      </p:pic>
      <p:sp>
        <p:nvSpPr>
          <p:cNvPr id="9" name="Text 3"/>
          <p:cNvSpPr/>
          <p:nvPr/>
        </p:nvSpPr>
        <p:spPr>
          <a:xfrm>
            <a:off x="4242110" y="7134225"/>
            <a:ext cx="2666643" cy="296589"/>
          </a:xfrm>
          <a:prstGeom prst="rect">
            <a:avLst/>
          </a:prstGeom>
          <a:noFill/>
          <a:ln/>
        </p:spPr>
        <p:txBody>
          <a:bodyPr wrap="none" lIns="0" tIns="0" rIns="0" bIns="0" rtlCol="0" anchor="t"/>
          <a:lstStyle/>
          <a:p>
            <a:pPr marL="0" indent="0" algn="l">
              <a:lnSpc>
                <a:spcPts val="2600"/>
              </a:lnSpc>
              <a:buNone/>
            </a:pPr>
            <a:r>
              <a:rPr lang="en-US" sz="2050" dirty="0" smtClean="0">
                <a:solidFill>
                  <a:srgbClr val="C6BFEE"/>
                </a:solidFill>
                <a:latin typeface="Prompt Medium" pitchFamily="34" charset="0"/>
                <a:ea typeface="Prompt Medium" pitchFamily="34" charset="-122"/>
                <a:cs typeface="Prompt Medium" pitchFamily="34" charset="-120"/>
              </a:rPr>
              <a:t> Cubic-</a:t>
            </a:r>
            <a:r>
              <a:rPr lang="en-US" sz="2050" dirty="0" err="1" smtClean="0">
                <a:solidFill>
                  <a:srgbClr val="C6BFEE"/>
                </a:solidFill>
                <a:latin typeface="Prompt Medium" pitchFamily="34" charset="0"/>
                <a:ea typeface="Prompt Medium" pitchFamily="34" charset="-122"/>
                <a:cs typeface="Prompt Medium" pitchFamily="34" charset="-120"/>
              </a:rPr>
              <a:t>NewReno</a:t>
            </a:r>
            <a:endParaRPr lang="en-US" sz="2050" dirty="0"/>
          </a:p>
        </p:txBody>
      </p:sp>
      <p:sp>
        <p:nvSpPr>
          <p:cNvPr id="12" name="Text 4"/>
          <p:cNvSpPr/>
          <p:nvPr/>
        </p:nvSpPr>
        <p:spPr>
          <a:xfrm>
            <a:off x="7623215" y="7124224"/>
            <a:ext cx="2666643" cy="275059"/>
          </a:xfrm>
          <a:prstGeom prst="rect">
            <a:avLst/>
          </a:prstGeom>
          <a:noFill/>
          <a:ln/>
        </p:spPr>
        <p:txBody>
          <a:bodyPr wrap="none" lIns="0" tIns="0" rIns="0" bIns="0" rtlCol="0" anchor="t"/>
          <a:lstStyle/>
          <a:p>
            <a:pPr marL="0" indent="0" algn="l">
              <a:lnSpc>
                <a:spcPts val="2600"/>
              </a:lnSpc>
              <a:buNone/>
            </a:pPr>
            <a:r>
              <a:rPr lang="en-US" sz="2050" dirty="0" err="1" smtClean="0">
                <a:solidFill>
                  <a:srgbClr val="C6BFEE"/>
                </a:solidFill>
                <a:latin typeface="Prompt Medium" pitchFamily="34" charset="0"/>
                <a:ea typeface="Prompt Medium" pitchFamily="34" charset="-122"/>
                <a:cs typeface="Prompt Medium" pitchFamily="34" charset="-120"/>
              </a:rPr>
              <a:t>Dctcp-NewReno</a:t>
            </a:r>
            <a:endParaRPr lang="en-US" sz="2050" dirty="0"/>
          </a:p>
        </p:txBody>
      </p:sp>
      <p:sp>
        <p:nvSpPr>
          <p:cNvPr id="15" name="Text 5"/>
          <p:cNvSpPr/>
          <p:nvPr/>
        </p:nvSpPr>
        <p:spPr>
          <a:xfrm>
            <a:off x="11014829" y="7071836"/>
            <a:ext cx="2666643" cy="333375"/>
          </a:xfrm>
          <a:prstGeom prst="rect">
            <a:avLst/>
          </a:prstGeom>
          <a:noFill/>
          <a:ln/>
        </p:spPr>
        <p:txBody>
          <a:bodyPr wrap="none" lIns="0" tIns="0" rIns="0" bIns="0" rtlCol="0" anchor="t"/>
          <a:lstStyle/>
          <a:p>
            <a:pPr marL="0" indent="0" algn="l">
              <a:lnSpc>
                <a:spcPts val="2600"/>
              </a:lnSpc>
              <a:buNone/>
            </a:pPr>
            <a:r>
              <a:rPr lang="en-US" sz="2050" dirty="0" smtClean="0">
                <a:solidFill>
                  <a:srgbClr val="C6BFEE"/>
                </a:solidFill>
                <a:latin typeface="Prompt Medium" pitchFamily="34" charset="0"/>
                <a:ea typeface="Prompt Medium" pitchFamily="34" charset="-122"/>
                <a:cs typeface="Prompt Medium" pitchFamily="34" charset="-120"/>
              </a:rPr>
              <a:t>BBR-</a:t>
            </a:r>
            <a:r>
              <a:rPr lang="en-US" sz="2050" dirty="0" err="1" smtClean="0">
                <a:solidFill>
                  <a:srgbClr val="C6BFEE"/>
                </a:solidFill>
                <a:latin typeface="Prompt Medium" pitchFamily="34" charset="0"/>
                <a:ea typeface="Prompt Medium" pitchFamily="34" charset="-122"/>
                <a:cs typeface="Prompt Medium" pitchFamily="34" charset="-120"/>
              </a:rPr>
              <a:t>NewReno</a:t>
            </a:r>
            <a:endParaRPr lang="en-US" sz="2050" dirty="0"/>
          </a:p>
        </p:txBody>
      </p:sp>
      <p:pic>
        <p:nvPicPr>
          <p:cNvPr id="16" name="Image 2" descr="preencoded.png"/>
          <p:cNvPicPr>
            <a:picLocks noChangeAspect="1"/>
          </p:cNvPicPr>
          <p:nvPr/>
        </p:nvPicPr>
        <p:blipFill>
          <a:blip r:embed="rId6"/>
          <a:stretch>
            <a:fillRect/>
          </a:stretch>
        </p:blipFill>
        <p:spPr>
          <a:xfrm>
            <a:off x="4233029" y="2726531"/>
            <a:ext cx="2796183" cy="1938814"/>
          </a:xfrm>
          <a:prstGeom prst="rect">
            <a:avLst/>
          </a:prstGeom>
        </p:spPr>
      </p:pic>
      <p:pic>
        <p:nvPicPr>
          <p:cNvPr id="17" name="Image 3" descr="preencoded.png"/>
          <p:cNvPicPr>
            <a:picLocks noChangeAspect="1"/>
          </p:cNvPicPr>
          <p:nvPr/>
        </p:nvPicPr>
        <p:blipFill>
          <a:blip r:embed="rId7"/>
          <a:stretch>
            <a:fillRect/>
          </a:stretch>
        </p:blipFill>
        <p:spPr>
          <a:xfrm>
            <a:off x="4242110" y="5071586"/>
            <a:ext cx="2796183" cy="1822847"/>
          </a:xfrm>
          <a:prstGeom prst="rect">
            <a:avLst/>
          </a:prstGeom>
        </p:spPr>
      </p:pic>
      <p:pic>
        <p:nvPicPr>
          <p:cNvPr id="21" name="Image 2" descr="preencoded.png"/>
          <p:cNvPicPr>
            <a:picLocks noChangeAspect="1"/>
          </p:cNvPicPr>
          <p:nvPr/>
        </p:nvPicPr>
        <p:blipFill>
          <a:blip r:embed="rId8"/>
          <a:stretch>
            <a:fillRect/>
          </a:stretch>
        </p:blipFill>
        <p:spPr>
          <a:xfrm>
            <a:off x="7628573" y="2726531"/>
            <a:ext cx="2793087" cy="1906429"/>
          </a:xfrm>
          <a:prstGeom prst="rect">
            <a:avLst/>
          </a:prstGeom>
        </p:spPr>
      </p:pic>
      <p:pic>
        <p:nvPicPr>
          <p:cNvPr id="22" name="Image 3" descr="preencoded.png"/>
          <p:cNvPicPr>
            <a:picLocks noChangeAspect="1"/>
          </p:cNvPicPr>
          <p:nvPr/>
        </p:nvPicPr>
        <p:blipFill>
          <a:blip r:embed="rId9"/>
          <a:stretch>
            <a:fillRect/>
          </a:stretch>
        </p:blipFill>
        <p:spPr>
          <a:xfrm>
            <a:off x="7628573" y="5010031"/>
            <a:ext cx="2793087" cy="1854279"/>
          </a:xfrm>
          <a:prstGeom prst="rect">
            <a:avLst/>
          </a:prstGeom>
        </p:spPr>
      </p:pic>
      <p:pic>
        <p:nvPicPr>
          <p:cNvPr id="23" name="Image 2" descr="preencoded.png"/>
          <p:cNvPicPr>
            <a:picLocks noChangeAspect="1"/>
          </p:cNvPicPr>
          <p:nvPr/>
        </p:nvPicPr>
        <p:blipFill>
          <a:blip r:embed="rId10"/>
          <a:stretch>
            <a:fillRect/>
          </a:stretch>
        </p:blipFill>
        <p:spPr>
          <a:xfrm>
            <a:off x="11012762" y="2726531"/>
            <a:ext cx="2796183" cy="1925479"/>
          </a:xfrm>
          <a:prstGeom prst="rect">
            <a:avLst/>
          </a:prstGeom>
        </p:spPr>
      </p:pic>
      <p:pic>
        <p:nvPicPr>
          <p:cNvPr id="24" name="Image 3" descr="preencoded.png"/>
          <p:cNvPicPr>
            <a:picLocks noChangeAspect="1"/>
          </p:cNvPicPr>
          <p:nvPr/>
        </p:nvPicPr>
        <p:blipFill>
          <a:blip r:embed="rId11"/>
          <a:stretch>
            <a:fillRect/>
          </a:stretch>
        </p:blipFill>
        <p:spPr>
          <a:xfrm>
            <a:off x="11020188" y="5010447"/>
            <a:ext cx="2796183" cy="1823561"/>
          </a:xfrm>
          <a:prstGeom prst="rect">
            <a:avLst/>
          </a:prstGeom>
        </p:spPr>
      </p:pic>
    </p:spTree>
    <p:extLst>
      <p:ext uri="{BB962C8B-B14F-4D97-AF65-F5344CB8AC3E}">
        <p14:creationId xmlns:p14="http://schemas.microsoft.com/office/powerpoint/2010/main" val="39434311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2248" y="661749"/>
            <a:ext cx="5664279" cy="668536"/>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Results- different RTT</a:t>
            </a:r>
            <a:endParaRPr lang="en-US" sz="4200" dirty="0"/>
          </a:p>
        </p:txBody>
      </p:sp>
      <p:sp>
        <p:nvSpPr>
          <p:cNvPr id="3" name="Text 1"/>
          <p:cNvSpPr/>
          <p:nvPr/>
        </p:nvSpPr>
        <p:spPr>
          <a:xfrm>
            <a:off x="842248" y="1426488"/>
            <a:ext cx="5347692" cy="668536"/>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Cubic</a:t>
            </a:r>
            <a:endParaRPr lang="en-US" sz="4200" dirty="0"/>
          </a:p>
        </p:txBody>
      </p:sp>
      <p:pic>
        <p:nvPicPr>
          <p:cNvPr id="4" name="Image 0" descr="preencoded.png"/>
          <p:cNvPicPr>
            <a:picLocks noChangeAspect="1"/>
          </p:cNvPicPr>
          <p:nvPr/>
        </p:nvPicPr>
        <p:blipFill>
          <a:blip r:embed="rId3"/>
          <a:stretch>
            <a:fillRect/>
          </a:stretch>
        </p:blipFill>
        <p:spPr>
          <a:xfrm>
            <a:off x="842248" y="2726531"/>
            <a:ext cx="2796183" cy="1955363"/>
          </a:xfrm>
          <a:prstGeom prst="rect">
            <a:avLst/>
          </a:prstGeom>
        </p:spPr>
      </p:pic>
      <p:pic>
        <p:nvPicPr>
          <p:cNvPr id="5" name="Image 1" descr="preencoded.png"/>
          <p:cNvPicPr>
            <a:picLocks noChangeAspect="1"/>
          </p:cNvPicPr>
          <p:nvPr/>
        </p:nvPicPr>
        <p:blipFill>
          <a:blip r:embed="rId4"/>
          <a:stretch>
            <a:fillRect/>
          </a:stretch>
        </p:blipFill>
        <p:spPr>
          <a:xfrm>
            <a:off x="842248" y="4952524"/>
            <a:ext cx="2796183" cy="1876425"/>
          </a:xfrm>
          <a:prstGeom prst="rect">
            <a:avLst/>
          </a:prstGeom>
        </p:spPr>
      </p:pic>
      <p:sp>
        <p:nvSpPr>
          <p:cNvPr id="6" name="Text 2"/>
          <p:cNvSpPr/>
          <p:nvPr/>
        </p:nvSpPr>
        <p:spPr>
          <a:xfrm>
            <a:off x="842248" y="7099578"/>
            <a:ext cx="2673787" cy="334208"/>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Cubic-Cubic</a:t>
            </a:r>
            <a:endParaRPr lang="en-US" sz="2100" dirty="0"/>
          </a:p>
        </p:txBody>
      </p:sp>
      <p:sp>
        <p:nvSpPr>
          <p:cNvPr id="9" name="Text 3"/>
          <p:cNvSpPr/>
          <p:nvPr/>
        </p:nvSpPr>
        <p:spPr>
          <a:xfrm>
            <a:off x="4233029" y="7029450"/>
            <a:ext cx="2673787" cy="334208"/>
          </a:xfrm>
          <a:prstGeom prst="rect">
            <a:avLst/>
          </a:prstGeom>
          <a:noFill/>
          <a:ln/>
        </p:spPr>
        <p:txBody>
          <a:bodyPr wrap="none" lIns="0" tIns="0" rIns="0" bIns="0" rtlCol="0" anchor="t"/>
          <a:lstStyle/>
          <a:p>
            <a:pPr marL="0" indent="0" algn="l">
              <a:lnSpc>
                <a:spcPts val="2600"/>
              </a:lnSpc>
              <a:buNone/>
            </a:pPr>
            <a:r>
              <a:rPr lang="en-US" sz="2100" dirty="0" err="1" smtClean="0">
                <a:solidFill>
                  <a:srgbClr val="C6BFEE"/>
                </a:solidFill>
                <a:latin typeface="Prompt Medium" pitchFamily="34" charset="0"/>
                <a:ea typeface="Prompt Medium" pitchFamily="34" charset="-122"/>
                <a:cs typeface="Prompt Medium" pitchFamily="34" charset="-120"/>
              </a:rPr>
              <a:t>NewReno</a:t>
            </a:r>
            <a:r>
              <a:rPr lang="en-US" sz="2100" dirty="0" smtClean="0">
                <a:solidFill>
                  <a:srgbClr val="C6BFEE"/>
                </a:solidFill>
                <a:latin typeface="Prompt Medium" pitchFamily="34" charset="0"/>
                <a:ea typeface="Prompt Medium" pitchFamily="34" charset="-122"/>
                <a:cs typeface="Prompt Medium" pitchFamily="34" charset="-120"/>
              </a:rPr>
              <a:t>-Cubic</a:t>
            </a:r>
            <a:endParaRPr lang="en-US" sz="2100" dirty="0"/>
          </a:p>
        </p:txBody>
      </p:sp>
      <p:sp>
        <p:nvSpPr>
          <p:cNvPr id="12" name="Text 4"/>
          <p:cNvSpPr/>
          <p:nvPr/>
        </p:nvSpPr>
        <p:spPr>
          <a:xfrm>
            <a:off x="7623810" y="7121842"/>
            <a:ext cx="2673787" cy="334208"/>
          </a:xfrm>
          <a:prstGeom prst="rect">
            <a:avLst/>
          </a:prstGeom>
          <a:noFill/>
          <a:ln/>
        </p:spPr>
        <p:txBody>
          <a:bodyPr wrap="none" lIns="0" tIns="0" rIns="0" bIns="0" rtlCol="0" anchor="t"/>
          <a:lstStyle/>
          <a:p>
            <a:pPr marL="0" indent="0" algn="l">
              <a:lnSpc>
                <a:spcPts val="2600"/>
              </a:lnSpc>
              <a:buNone/>
            </a:pPr>
            <a:r>
              <a:rPr lang="en-US" sz="2100" dirty="0" err="1" smtClean="0">
                <a:solidFill>
                  <a:srgbClr val="C6BFEE"/>
                </a:solidFill>
                <a:latin typeface="Prompt Medium" pitchFamily="34" charset="0"/>
                <a:ea typeface="Prompt Medium" pitchFamily="34" charset="-122"/>
                <a:cs typeface="Prompt Medium" pitchFamily="34" charset="-120"/>
              </a:rPr>
              <a:t>Dctcp</a:t>
            </a:r>
            <a:r>
              <a:rPr lang="en-US" sz="2100" dirty="0" smtClean="0">
                <a:solidFill>
                  <a:srgbClr val="C6BFEE"/>
                </a:solidFill>
                <a:latin typeface="Prompt Medium" pitchFamily="34" charset="0"/>
                <a:ea typeface="Prompt Medium" pitchFamily="34" charset="-122"/>
                <a:cs typeface="Prompt Medium" pitchFamily="34" charset="-120"/>
              </a:rPr>
              <a:t>-Cubic</a:t>
            </a:r>
            <a:endParaRPr lang="en-US" sz="2100" dirty="0"/>
          </a:p>
        </p:txBody>
      </p:sp>
      <p:sp>
        <p:nvSpPr>
          <p:cNvPr id="15" name="Text 5"/>
          <p:cNvSpPr/>
          <p:nvPr/>
        </p:nvSpPr>
        <p:spPr>
          <a:xfrm>
            <a:off x="11014591" y="7076361"/>
            <a:ext cx="2673787" cy="334208"/>
          </a:xfrm>
          <a:prstGeom prst="rect">
            <a:avLst/>
          </a:prstGeom>
          <a:noFill/>
          <a:ln/>
        </p:spPr>
        <p:txBody>
          <a:bodyPr wrap="none" lIns="0" tIns="0" rIns="0" bIns="0" rtlCol="0" anchor="t"/>
          <a:lstStyle/>
          <a:p>
            <a:pPr marL="0" indent="0" algn="l">
              <a:lnSpc>
                <a:spcPts val="2600"/>
              </a:lnSpc>
              <a:buNone/>
            </a:pPr>
            <a:r>
              <a:rPr lang="en-US" sz="2100" dirty="0" smtClean="0">
                <a:solidFill>
                  <a:srgbClr val="C6BFEE"/>
                </a:solidFill>
                <a:latin typeface="Prompt Medium" pitchFamily="34" charset="0"/>
                <a:ea typeface="Prompt Medium" pitchFamily="34" charset="-122"/>
                <a:cs typeface="Prompt Medium" pitchFamily="34" charset="-120"/>
              </a:rPr>
              <a:t>BBR-Cubic</a:t>
            </a:r>
            <a:endParaRPr lang="en-US" sz="2100" dirty="0"/>
          </a:p>
        </p:txBody>
      </p:sp>
      <p:pic>
        <p:nvPicPr>
          <p:cNvPr id="16" name="Image 2" descr="preencoded.png"/>
          <p:cNvPicPr>
            <a:picLocks noChangeAspect="1"/>
          </p:cNvPicPr>
          <p:nvPr/>
        </p:nvPicPr>
        <p:blipFill>
          <a:blip r:embed="rId5"/>
          <a:stretch>
            <a:fillRect/>
          </a:stretch>
        </p:blipFill>
        <p:spPr>
          <a:xfrm>
            <a:off x="4231600" y="2718792"/>
            <a:ext cx="2798445" cy="1991439"/>
          </a:xfrm>
          <a:prstGeom prst="rect">
            <a:avLst/>
          </a:prstGeom>
        </p:spPr>
      </p:pic>
      <p:pic>
        <p:nvPicPr>
          <p:cNvPr id="17" name="Image 3" descr="preencoded.png"/>
          <p:cNvPicPr>
            <a:picLocks noChangeAspect="1"/>
          </p:cNvPicPr>
          <p:nvPr/>
        </p:nvPicPr>
        <p:blipFill>
          <a:blip r:embed="rId6"/>
          <a:stretch>
            <a:fillRect/>
          </a:stretch>
        </p:blipFill>
        <p:spPr>
          <a:xfrm>
            <a:off x="4231600" y="4980146"/>
            <a:ext cx="2798445" cy="1884164"/>
          </a:xfrm>
          <a:prstGeom prst="rect">
            <a:avLst/>
          </a:prstGeom>
        </p:spPr>
      </p:pic>
      <p:pic>
        <p:nvPicPr>
          <p:cNvPr id="18" name="Image 4" descr="preencoded.png"/>
          <p:cNvPicPr>
            <a:picLocks noChangeAspect="1"/>
          </p:cNvPicPr>
          <p:nvPr/>
        </p:nvPicPr>
        <p:blipFill>
          <a:blip r:embed="rId7"/>
          <a:stretch>
            <a:fillRect/>
          </a:stretch>
        </p:blipFill>
        <p:spPr>
          <a:xfrm>
            <a:off x="7624882" y="2736413"/>
            <a:ext cx="2793087" cy="1948815"/>
          </a:xfrm>
          <a:prstGeom prst="rect">
            <a:avLst/>
          </a:prstGeom>
        </p:spPr>
      </p:pic>
      <p:pic>
        <p:nvPicPr>
          <p:cNvPr id="19" name="Image 5" descr="preencoded.png"/>
          <p:cNvPicPr>
            <a:picLocks noChangeAspect="1"/>
          </p:cNvPicPr>
          <p:nvPr/>
        </p:nvPicPr>
        <p:blipFill>
          <a:blip r:embed="rId8"/>
          <a:stretch>
            <a:fillRect/>
          </a:stretch>
        </p:blipFill>
        <p:spPr>
          <a:xfrm>
            <a:off x="7624882" y="4956929"/>
            <a:ext cx="2793087" cy="1841063"/>
          </a:xfrm>
          <a:prstGeom prst="rect">
            <a:avLst/>
          </a:prstGeom>
        </p:spPr>
      </p:pic>
      <p:pic>
        <p:nvPicPr>
          <p:cNvPr id="20" name="Image 6" descr="preencoded.png"/>
          <p:cNvPicPr>
            <a:picLocks noChangeAspect="1"/>
          </p:cNvPicPr>
          <p:nvPr/>
        </p:nvPicPr>
        <p:blipFill>
          <a:blip r:embed="rId9"/>
          <a:stretch>
            <a:fillRect/>
          </a:stretch>
        </p:blipFill>
        <p:spPr>
          <a:xfrm>
            <a:off x="11014591" y="2726531"/>
            <a:ext cx="2796183" cy="1932146"/>
          </a:xfrm>
          <a:prstGeom prst="rect">
            <a:avLst/>
          </a:prstGeom>
        </p:spPr>
      </p:pic>
      <p:pic>
        <p:nvPicPr>
          <p:cNvPr id="21" name="Image 7" descr="preencoded.png"/>
          <p:cNvPicPr>
            <a:picLocks noChangeAspect="1"/>
          </p:cNvPicPr>
          <p:nvPr/>
        </p:nvPicPr>
        <p:blipFill>
          <a:blip r:embed="rId10"/>
          <a:stretch>
            <a:fillRect/>
          </a:stretch>
        </p:blipFill>
        <p:spPr>
          <a:xfrm>
            <a:off x="11014591" y="4929307"/>
            <a:ext cx="2796183" cy="1862495"/>
          </a:xfrm>
          <a:prstGeom prst="rect">
            <a:avLst/>
          </a:prstGeom>
        </p:spPr>
      </p:pic>
    </p:spTree>
    <p:extLst>
      <p:ext uri="{BB962C8B-B14F-4D97-AF65-F5344CB8AC3E}">
        <p14:creationId xmlns:p14="http://schemas.microsoft.com/office/powerpoint/2010/main" val="26679842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2248" y="661749"/>
            <a:ext cx="5664279" cy="668536"/>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Results- different RTT</a:t>
            </a:r>
            <a:endParaRPr lang="en-US" sz="4200" dirty="0"/>
          </a:p>
        </p:txBody>
      </p:sp>
      <p:sp>
        <p:nvSpPr>
          <p:cNvPr id="3" name="Text 1"/>
          <p:cNvSpPr/>
          <p:nvPr/>
        </p:nvSpPr>
        <p:spPr>
          <a:xfrm>
            <a:off x="842248" y="1426488"/>
            <a:ext cx="5347692" cy="668536"/>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BBR</a:t>
            </a:r>
            <a:endParaRPr lang="en-US" sz="4200" dirty="0"/>
          </a:p>
        </p:txBody>
      </p:sp>
      <p:pic>
        <p:nvPicPr>
          <p:cNvPr id="4" name="Image 0" descr="preencoded.png"/>
          <p:cNvPicPr>
            <a:picLocks noChangeAspect="1"/>
          </p:cNvPicPr>
          <p:nvPr/>
        </p:nvPicPr>
        <p:blipFill>
          <a:blip r:embed="rId3"/>
          <a:stretch>
            <a:fillRect/>
          </a:stretch>
        </p:blipFill>
        <p:spPr>
          <a:xfrm>
            <a:off x="842248" y="2726531"/>
            <a:ext cx="2796183" cy="1950720"/>
          </a:xfrm>
          <a:prstGeom prst="rect">
            <a:avLst/>
          </a:prstGeom>
        </p:spPr>
      </p:pic>
      <p:pic>
        <p:nvPicPr>
          <p:cNvPr id="5" name="Image 1" descr="preencoded.png"/>
          <p:cNvPicPr>
            <a:picLocks noChangeAspect="1"/>
          </p:cNvPicPr>
          <p:nvPr/>
        </p:nvPicPr>
        <p:blipFill>
          <a:blip r:embed="rId4"/>
          <a:stretch>
            <a:fillRect/>
          </a:stretch>
        </p:blipFill>
        <p:spPr>
          <a:xfrm>
            <a:off x="842248" y="4947880"/>
            <a:ext cx="2796183" cy="1867138"/>
          </a:xfrm>
          <a:prstGeom prst="rect">
            <a:avLst/>
          </a:prstGeom>
        </p:spPr>
      </p:pic>
      <p:sp>
        <p:nvSpPr>
          <p:cNvPr id="6" name="Text 2"/>
          <p:cNvSpPr/>
          <p:nvPr/>
        </p:nvSpPr>
        <p:spPr>
          <a:xfrm>
            <a:off x="842248" y="7085648"/>
            <a:ext cx="2673787" cy="334208"/>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BBR-BBR</a:t>
            </a:r>
            <a:endParaRPr lang="en-US" sz="2100" dirty="0"/>
          </a:p>
        </p:txBody>
      </p:sp>
      <p:sp>
        <p:nvSpPr>
          <p:cNvPr id="9" name="Text 3"/>
          <p:cNvSpPr/>
          <p:nvPr/>
        </p:nvSpPr>
        <p:spPr>
          <a:xfrm>
            <a:off x="4233029" y="7016829"/>
            <a:ext cx="2673787" cy="334208"/>
          </a:xfrm>
          <a:prstGeom prst="rect">
            <a:avLst/>
          </a:prstGeom>
          <a:noFill/>
          <a:ln/>
        </p:spPr>
        <p:txBody>
          <a:bodyPr wrap="none" lIns="0" tIns="0" rIns="0" bIns="0" rtlCol="0" anchor="t"/>
          <a:lstStyle/>
          <a:p>
            <a:pPr marL="0" indent="0" algn="l">
              <a:lnSpc>
                <a:spcPts val="2600"/>
              </a:lnSpc>
              <a:buNone/>
            </a:pPr>
            <a:r>
              <a:rPr lang="en-US" sz="2100" dirty="0" err="1" smtClean="0">
                <a:solidFill>
                  <a:srgbClr val="C6BFEE"/>
                </a:solidFill>
                <a:latin typeface="Prompt Medium" pitchFamily="34" charset="0"/>
                <a:ea typeface="Prompt Medium" pitchFamily="34" charset="-122"/>
                <a:cs typeface="Prompt Medium" pitchFamily="34" charset="-120"/>
              </a:rPr>
              <a:t>NewReno</a:t>
            </a:r>
            <a:r>
              <a:rPr lang="en-US" sz="2100" dirty="0" smtClean="0">
                <a:solidFill>
                  <a:srgbClr val="C6BFEE"/>
                </a:solidFill>
                <a:latin typeface="Prompt Medium" pitchFamily="34" charset="0"/>
                <a:ea typeface="Prompt Medium" pitchFamily="34" charset="-122"/>
                <a:cs typeface="Prompt Medium" pitchFamily="34" charset="-120"/>
              </a:rPr>
              <a:t>-BBR</a:t>
            </a:r>
            <a:endParaRPr lang="en-US" sz="2100" dirty="0"/>
          </a:p>
        </p:txBody>
      </p:sp>
      <p:sp>
        <p:nvSpPr>
          <p:cNvPr id="12" name="Text 4"/>
          <p:cNvSpPr/>
          <p:nvPr/>
        </p:nvSpPr>
        <p:spPr>
          <a:xfrm>
            <a:off x="7623810" y="7117675"/>
            <a:ext cx="2673787" cy="334208"/>
          </a:xfrm>
          <a:prstGeom prst="rect">
            <a:avLst/>
          </a:prstGeom>
          <a:noFill/>
          <a:ln/>
        </p:spPr>
        <p:txBody>
          <a:bodyPr wrap="none" lIns="0" tIns="0" rIns="0" bIns="0" rtlCol="0" anchor="t"/>
          <a:lstStyle/>
          <a:p>
            <a:pPr marL="0" indent="0" algn="l">
              <a:lnSpc>
                <a:spcPts val="2600"/>
              </a:lnSpc>
              <a:buNone/>
            </a:pPr>
            <a:r>
              <a:rPr lang="en-US" sz="2100" dirty="0" err="1" smtClean="0">
                <a:solidFill>
                  <a:srgbClr val="C6BFEE"/>
                </a:solidFill>
                <a:latin typeface="Prompt Medium" pitchFamily="34" charset="0"/>
                <a:ea typeface="Prompt Medium" pitchFamily="34" charset="-122"/>
                <a:cs typeface="Prompt Medium" pitchFamily="34" charset="-120"/>
              </a:rPr>
              <a:t>Dctcp</a:t>
            </a:r>
            <a:r>
              <a:rPr lang="en-US" sz="2100" dirty="0" smtClean="0">
                <a:solidFill>
                  <a:srgbClr val="C6BFEE"/>
                </a:solidFill>
                <a:latin typeface="Prompt Medium" pitchFamily="34" charset="0"/>
                <a:ea typeface="Prompt Medium" pitchFamily="34" charset="-122"/>
                <a:cs typeface="Prompt Medium" pitchFamily="34" charset="-120"/>
              </a:rPr>
              <a:t>-BBR</a:t>
            </a:r>
            <a:endParaRPr lang="en-US" sz="2100" dirty="0"/>
          </a:p>
        </p:txBody>
      </p:sp>
      <p:sp>
        <p:nvSpPr>
          <p:cNvPr id="15" name="Text 5"/>
          <p:cNvSpPr/>
          <p:nvPr/>
        </p:nvSpPr>
        <p:spPr>
          <a:xfrm>
            <a:off x="11014591" y="7062430"/>
            <a:ext cx="2673787" cy="334208"/>
          </a:xfrm>
          <a:prstGeom prst="rect">
            <a:avLst/>
          </a:prstGeom>
          <a:noFill/>
          <a:ln/>
        </p:spPr>
        <p:txBody>
          <a:bodyPr wrap="none" lIns="0" tIns="0" rIns="0" bIns="0" rtlCol="0" anchor="t"/>
          <a:lstStyle/>
          <a:p>
            <a:pPr marL="0" indent="0" algn="l">
              <a:lnSpc>
                <a:spcPts val="2600"/>
              </a:lnSpc>
              <a:buNone/>
            </a:pPr>
            <a:r>
              <a:rPr lang="en-US" sz="2100" dirty="0" smtClean="0">
                <a:solidFill>
                  <a:srgbClr val="C6BFEE"/>
                </a:solidFill>
                <a:latin typeface="Prompt Medium" pitchFamily="34" charset="0"/>
                <a:ea typeface="Prompt Medium" pitchFamily="34" charset="-122"/>
                <a:cs typeface="Prompt Medium" pitchFamily="34" charset="-120"/>
              </a:rPr>
              <a:t>Cubic-BBR</a:t>
            </a:r>
            <a:endParaRPr lang="en-US" sz="2100" dirty="0"/>
          </a:p>
        </p:txBody>
      </p:sp>
      <p:pic>
        <p:nvPicPr>
          <p:cNvPr id="16" name="Image 6" descr="preencoded.png"/>
          <p:cNvPicPr>
            <a:picLocks noChangeAspect="1"/>
          </p:cNvPicPr>
          <p:nvPr/>
        </p:nvPicPr>
        <p:blipFill>
          <a:blip r:embed="rId5"/>
          <a:stretch>
            <a:fillRect/>
          </a:stretch>
        </p:blipFill>
        <p:spPr>
          <a:xfrm>
            <a:off x="4230767" y="2733675"/>
            <a:ext cx="2798445" cy="1957030"/>
          </a:xfrm>
          <a:prstGeom prst="rect">
            <a:avLst/>
          </a:prstGeom>
        </p:spPr>
      </p:pic>
      <p:pic>
        <p:nvPicPr>
          <p:cNvPr id="17" name="Image 7" descr="preencoded.png"/>
          <p:cNvPicPr>
            <a:picLocks noChangeAspect="1"/>
          </p:cNvPicPr>
          <p:nvPr/>
        </p:nvPicPr>
        <p:blipFill>
          <a:blip r:embed="rId6"/>
          <a:stretch>
            <a:fillRect/>
          </a:stretch>
        </p:blipFill>
        <p:spPr>
          <a:xfrm>
            <a:off x="4233029" y="4990862"/>
            <a:ext cx="2798445" cy="1856184"/>
          </a:xfrm>
          <a:prstGeom prst="rect">
            <a:avLst/>
          </a:prstGeom>
        </p:spPr>
      </p:pic>
      <p:pic>
        <p:nvPicPr>
          <p:cNvPr id="18" name="Image 6" descr="preencoded.png"/>
          <p:cNvPicPr>
            <a:picLocks noChangeAspect="1"/>
          </p:cNvPicPr>
          <p:nvPr/>
        </p:nvPicPr>
        <p:blipFill>
          <a:blip r:embed="rId7"/>
          <a:stretch>
            <a:fillRect/>
          </a:stretch>
        </p:blipFill>
        <p:spPr>
          <a:xfrm>
            <a:off x="7626906" y="2736413"/>
            <a:ext cx="2793087" cy="1957864"/>
          </a:xfrm>
          <a:prstGeom prst="rect">
            <a:avLst/>
          </a:prstGeom>
        </p:spPr>
      </p:pic>
      <p:pic>
        <p:nvPicPr>
          <p:cNvPr id="19" name="Image 7" descr="preencoded.png"/>
          <p:cNvPicPr>
            <a:picLocks noChangeAspect="1"/>
          </p:cNvPicPr>
          <p:nvPr/>
        </p:nvPicPr>
        <p:blipFill>
          <a:blip r:embed="rId8"/>
          <a:stretch>
            <a:fillRect/>
          </a:stretch>
        </p:blipFill>
        <p:spPr>
          <a:xfrm>
            <a:off x="7621548" y="4990862"/>
            <a:ext cx="2793087" cy="1860471"/>
          </a:xfrm>
          <a:prstGeom prst="rect">
            <a:avLst/>
          </a:prstGeom>
        </p:spPr>
      </p:pic>
      <p:pic>
        <p:nvPicPr>
          <p:cNvPr id="20" name="Image 6" descr="preencoded.png"/>
          <p:cNvPicPr>
            <a:picLocks noChangeAspect="1"/>
          </p:cNvPicPr>
          <p:nvPr/>
        </p:nvPicPr>
        <p:blipFill>
          <a:blip r:embed="rId9"/>
          <a:stretch>
            <a:fillRect/>
          </a:stretch>
        </p:blipFill>
        <p:spPr>
          <a:xfrm>
            <a:off x="11014591" y="2726531"/>
            <a:ext cx="2796183" cy="1941433"/>
          </a:xfrm>
          <a:prstGeom prst="rect">
            <a:avLst/>
          </a:prstGeom>
        </p:spPr>
      </p:pic>
      <p:pic>
        <p:nvPicPr>
          <p:cNvPr id="21" name="Image 7" descr="preencoded.png"/>
          <p:cNvPicPr>
            <a:picLocks noChangeAspect="1"/>
          </p:cNvPicPr>
          <p:nvPr/>
        </p:nvPicPr>
        <p:blipFill>
          <a:blip r:embed="rId10"/>
          <a:stretch>
            <a:fillRect/>
          </a:stretch>
        </p:blipFill>
        <p:spPr>
          <a:xfrm>
            <a:off x="11014591" y="4990862"/>
            <a:ext cx="2796183" cy="1867138"/>
          </a:xfrm>
          <a:prstGeom prst="rect">
            <a:avLst/>
          </a:prstGeom>
        </p:spPr>
      </p:pic>
    </p:spTree>
    <p:extLst>
      <p:ext uri="{BB962C8B-B14F-4D97-AF65-F5344CB8AC3E}">
        <p14:creationId xmlns:p14="http://schemas.microsoft.com/office/powerpoint/2010/main" val="28866386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5225" y="664131"/>
            <a:ext cx="5684401" cy="670917"/>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Results- different RTT</a:t>
            </a:r>
            <a:endParaRPr lang="en-US" sz="4200" dirty="0"/>
          </a:p>
        </p:txBody>
      </p:sp>
      <p:sp>
        <p:nvSpPr>
          <p:cNvPr id="3" name="Text 1"/>
          <p:cNvSpPr/>
          <p:nvPr/>
        </p:nvSpPr>
        <p:spPr>
          <a:xfrm>
            <a:off x="845225" y="1431608"/>
            <a:ext cx="5367099" cy="670917"/>
          </a:xfrm>
          <a:prstGeom prst="rect">
            <a:avLst/>
          </a:prstGeom>
          <a:noFill/>
          <a:ln/>
        </p:spPr>
        <p:txBody>
          <a:bodyPr wrap="none" lIns="0" tIns="0" rIns="0" bIns="0" rtlCol="0" anchor="t"/>
          <a:lstStyle/>
          <a:p>
            <a:pPr marL="0" indent="0" algn="l">
              <a:lnSpc>
                <a:spcPts val="5250"/>
              </a:lnSpc>
              <a:buNone/>
            </a:pPr>
            <a:r>
              <a:rPr lang="en-US" sz="4200" dirty="0">
                <a:solidFill>
                  <a:srgbClr val="C6BFEE"/>
                </a:solidFill>
                <a:latin typeface="Prompt Medium" pitchFamily="34" charset="0"/>
                <a:ea typeface="Prompt Medium" pitchFamily="34" charset="-122"/>
                <a:cs typeface="Prompt Medium" pitchFamily="34" charset="-120"/>
              </a:rPr>
              <a:t>Dctcp</a:t>
            </a:r>
            <a:endParaRPr lang="en-US" sz="4200" dirty="0"/>
          </a:p>
        </p:txBody>
      </p:sp>
      <p:pic>
        <p:nvPicPr>
          <p:cNvPr id="4" name="Image 0" descr="preencoded.png"/>
          <p:cNvPicPr>
            <a:picLocks noChangeAspect="1"/>
          </p:cNvPicPr>
          <p:nvPr/>
        </p:nvPicPr>
        <p:blipFill>
          <a:blip r:embed="rId3"/>
          <a:stretch>
            <a:fillRect/>
          </a:stretch>
        </p:blipFill>
        <p:spPr>
          <a:xfrm>
            <a:off x="845225" y="2736413"/>
            <a:ext cx="2793087" cy="1938576"/>
          </a:xfrm>
          <a:prstGeom prst="rect">
            <a:avLst/>
          </a:prstGeom>
        </p:spPr>
      </p:pic>
      <p:pic>
        <p:nvPicPr>
          <p:cNvPr id="5" name="Image 1" descr="preencoded.png"/>
          <p:cNvPicPr>
            <a:picLocks noChangeAspect="1"/>
          </p:cNvPicPr>
          <p:nvPr/>
        </p:nvPicPr>
        <p:blipFill>
          <a:blip r:embed="rId4"/>
          <a:stretch>
            <a:fillRect/>
          </a:stretch>
        </p:blipFill>
        <p:spPr>
          <a:xfrm>
            <a:off x="845225" y="4946690"/>
            <a:ext cx="2793087" cy="1864995"/>
          </a:xfrm>
          <a:prstGeom prst="rect">
            <a:avLst/>
          </a:prstGeom>
        </p:spPr>
      </p:pic>
      <p:sp>
        <p:nvSpPr>
          <p:cNvPr id="6" name="Text 2"/>
          <p:cNvSpPr/>
          <p:nvPr/>
        </p:nvSpPr>
        <p:spPr>
          <a:xfrm>
            <a:off x="845225" y="7083385"/>
            <a:ext cx="2683550" cy="335399"/>
          </a:xfrm>
          <a:prstGeom prst="rect">
            <a:avLst/>
          </a:prstGeom>
          <a:noFill/>
          <a:ln/>
        </p:spPr>
        <p:txBody>
          <a:bodyPr wrap="none" lIns="0" tIns="0" rIns="0" bIns="0" rtlCol="0" anchor="t"/>
          <a:lstStyle/>
          <a:p>
            <a:pPr marL="0" indent="0" algn="l">
              <a:lnSpc>
                <a:spcPts val="2600"/>
              </a:lnSpc>
              <a:buNone/>
            </a:pPr>
            <a:r>
              <a:rPr lang="en-US" sz="2100" dirty="0">
                <a:solidFill>
                  <a:srgbClr val="C6BFEE"/>
                </a:solidFill>
                <a:latin typeface="Prompt Medium" pitchFamily="34" charset="0"/>
                <a:ea typeface="Prompt Medium" pitchFamily="34" charset="-122"/>
                <a:cs typeface="Prompt Medium" pitchFamily="34" charset="-120"/>
              </a:rPr>
              <a:t>Dctcp-Dctcp</a:t>
            </a:r>
            <a:endParaRPr lang="en-US" sz="2100" dirty="0"/>
          </a:p>
        </p:txBody>
      </p:sp>
      <p:sp>
        <p:nvSpPr>
          <p:cNvPr id="9" name="Text 3"/>
          <p:cNvSpPr/>
          <p:nvPr/>
        </p:nvSpPr>
        <p:spPr>
          <a:xfrm>
            <a:off x="4235053" y="7040523"/>
            <a:ext cx="2683550" cy="335399"/>
          </a:xfrm>
          <a:prstGeom prst="rect">
            <a:avLst/>
          </a:prstGeom>
          <a:noFill/>
          <a:ln/>
        </p:spPr>
        <p:txBody>
          <a:bodyPr wrap="none" lIns="0" tIns="0" rIns="0" bIns="0" rtlCol="0" anchor="t"/>
          <a:lstStyle/>
          <a:p>
            <a:pPr marL="0" indent="0" algn="l">
              <a:lnSpc>
                <a:spcPts val="2600"/>
              </a:lnSpc>
              <a:buNone/>
            </a:pPr>
            <a:r>
              <a:rPr lang="en-US" sz="2100" dirty="0" err="1" smtClean="0">
                <a:solidFill>
                  <a:srgbClr val="C6BFEE"/>
                </a:solidFill>
                <a:latin typeface="Prompt Medium" pitchFamily="34" charset="0"/>
                <a:ea typeface="Prompt Medium" pitchFamily="34" charset="-122"/>
                <a:cs typeface="Prompt Medium" pitchFamily="34" charset="-120"/>
              </a:rPr>
              <a:t>NewReno-Dctcp</a:t>
            </a:r>
            <a:endParaRPr lang="en-US" sz="2100" dirty="0"/>
          </a:p>
        </p:txBody>
      </p:sp>
      <p:sp>
        <p:nvSpPr>
          <p:cNvPr id="12" name="Text 4"/>
          <p:cNvSpPr/>
          <p:nvPr/>
        </p:nvSpPr>
        <p:spPr>
          <a:xfrm>
            <a:off x="7624882" y="7069693"/>
            <a:ext cx="2683550" cy="335399"/>
          </a:xfrm>
          <a:prstGeom prst="rect">
            <a:avLst/>
          </a:prstGeom>
          <a:noFill/>
          <a:ln/>
        </p:spPr>
        <p:txBody>
          <a:bodyPr wrap="none" lIns="0" tIns="0" rIns="0" bIns="0" rtlCol="0" anchor="t"/>
          <a:lstStyle/>
          <a:p>
            <a:pPr marL="0" indent="0" algn="l">
              <a:lnSpc>
                <a:spcPts val="2600"/>
              </a:lnSpc>
              <a:buNone/>
            </a:pPr>
            <a:r>
              <a:rPr lang="en-US" sz="2100" dirty="0" smtClean="0">
                <a:solidFill>
                  <a:srgbClr val="C6BFEE"/>
                </a:solidFill>
                <a:latin typeface="Prompt Medium" pitchFamily="34" charset="0"/>
                <a:ea typeface="Prompt Medium" pitchFamily="34" charset="-122"/>
                <a:cs typeface="Prompt Medium" pitchFamily="34" charset="-120"/>
              </a:rPr>
              <a:t>Cubic-</a:t>
            </a:r>
            <a:r>
              <a:rPr lang="en-US" sz="2100" dirty="0" err="1" smtClean="0">
                <a:solidFill>
                  <a:srgbClr val="C6BFEE"/>
                </a:solidFill>
                <a:latin typeface="Prompt Medium" pitchFamily="34" charset="0"/>
                <a:ea typeface="Prompt Medium" pitchFamily="34" charset="-122"/>
                <a:cs typeface="Prompt Medium" pitchFamily="34" charset="-120"/>
              </a:rPr>
              <a:t>Dctcp</a:t>
            </a:r>
            <a:endParaRPr lang="en-US" sz="2100" dirty="0"/>
          </a:p>
        </p:txBody>
      </p:sp>
      <p:sp>
        <p:nvSpPr>
          <p:cNvPr id="15" name="Text 5"/>
          <p:cNvSpPr/>
          <p:nvPr/>
        </p:nvSpPr>
        <p:spPr>
          <a:xfrm>
            <a:off x="11014710" y="7098149"/>
            <a:ext cx="2683550" cy="335399"/>
          </a:xfrm>
          <a:prstGeom prst="rect">
            <a:avLst/>
          </a:prstGeom>
          <a:noFill/>
          <a:ln/>
        </p:spPr>
        <p:txBody>
          <a:bodyPr wrap="none" lIns="0" tIns="0" rIns="0" bIns="0" rtlCol="0" anchor="t"/>
          <a:lstStyle/>
          <a:p>
            <a:pPr marL="0" indent="0" algn="l">
              <a:lnSpc>
                <a:spcPts val="2600"/>
              </a:lnSpc>
              <a:buNone/>
            </a:pPr>
            <a:r>
              <a:rPr lang="en-US" sz="2100" dirty="0" smtClean="0">
                <a:solidFill>
                  <a:srgbClr val="C6BFEE"/>
                </a:solidFill>
                <a:latin typeface="Prompt Medium" pitchFamily="34" charset="0"/>
                <a:ea typeface="Prompt Medium" pitchFamily="34" charset="-122"/>
                <a:cs typeface="Prompt Medium" pitchFamily="34" charset="-120"/>
              </a:rPr>
              <a:t>BBR-</a:t>
            </a:r>
            <a:r>
              <a:rPr lang="en-US" sz="2100" dirty="0" err="1" smtClean="0">
                <a:solidFill>
                  <a:srgbClr val="C6BFEE"/>
                </a:solidFill>
                <a:latin typeface="Prompt Medium" pitchFamily="34" charset="0"/>
                <a:ea typeface="Prompt Medium" pitchFamily="34" charset="-122"/>
                <a:cs typeface="Prompt Medium" pitchFamily="34" charset="-120"/>
              </a:rPr>
              <a:t>Dctcp</a:t>
            </a:r>
            <a:endParaRPr lang="en-US" sz="2100" dirty="0"/>
          </a:p>
        </p:txBody>
      </p:sp>
      <p:pic>
        <p:nvPicPr>
          <p:cNvPr id="16" name="Image 4" descr="preencoded.png"/>
          <p:cNvPicPr>
            <a:picLocks noChangeAspect="1"/>
          </p:cNvPicPr>
          <p:nvPr/>
        </p:nvPicPr>
        <p:blipFill>
          <a:blip r:embed="rId5"/>
          <a:stretch>
            <a:fillRect/>
          </a:stretch>
        </p:blipFill>
        <p:spPr>
          <a:xfrm>
            <a:off x="4229695" y="2736413"/>
            <a:ext cx="2798445" cy="2000012"/>
          </a:xfrm>
          <a:prstGeom prst="rect">
            <a:avLst/>
          </a:prstGeom>
        </p:spPr>
      </p:pic>
      <p:pic>
        <p:nvPicPr>
          <p:cNvPr id="17" name="Image 5" descr="preencoded.png"/>
          <p:cNvPicPr>
            <a:picLocks noChangeAspect="1"/>
          </p:cNvPicPr>
          <p:nvPr/>
        </p:nvPicPr>
        <p:blipFill>
          <a:blip r:embed="rId6"/>
          <a:stretch>
            <a:fillRect/>
          </a:stretch>
        </p:blipFill>
        <p:spPr>
          <a:xfrm>
            <a:off x="4229694" y="4988719"/>
            <a:ext cx="2798445" cy="1865590"/>
          </a:xfrm>
          <a:prstGeom prst="rect">
            <a:avLst/>
          </a:prstGeom>
        </p:spPr>
      </p:pic>
      <p:pic>
        <p:nvPicPr>
          <p:cNvPr id="18" name="Image 4" descr="preencoded.png"/>
          <p:cNvPicPr>
            <a:picLocks noChangeAspect="1"/>
          </p:cNvPicPr>
          <p:nvPr/>
        </p:nvPicPr>
        <p:blipFill>
          <a:blip r:embed="rId7"/>
          <a:stretch>
            <a:fillRect/>
          </a:stretch>
        </p:blipFill>
        <p:spPr>
          <a:xfrm>
            <a:off x="7623810" y="2726531"/>
            <a:ext cx="2796183" cy="1966436"/>
          </a:xfrm>
          <a:prstGeom prst="rect">
            <a:avLst/>
          </a:prstGeom>
        </p:spPr>
      </p:pic>
      <p:pic>
        <p:nvPicPr>
          <p:cNvPr id="19" name="Image 5" descr="preencoded.png"/>
          <p:cNvPicPr>
            <a:picLocks noChangeAspect="1"/>
          </p:cNvPicPr>
          <p:nvPr/>
        </p:nvPicPr>
        <p:blipFill>
          <a:blip r:embed="rId8"/>
          <a:stretch>
            <a:fillRect/>
          </a:stretch>
        </p:blipFill>
        <p:spPr>
          <a:xfrm>
            <a:off x="7623810" y="4963597"/>
            <a:ext cx="2796183" cy="1887617"/>
          </a:xfrm>
          <a:prstGeom prst="rect">
            <a:avLst/>
          </a:prstGeom>
        </p:spPr>
      </p:pic>
      <p:pic>
        <p:nvPicPr>
          <p:cNvPr id="20" name="Image 4" descr="preencoded.png"/>
          <p:cNvPicPr>
            <a:picLocks noChangeAspect="1"/>
          </p:cNvPicPr>
          <p:nvPr/>
        </p:nvPicPr>
        <p:blipFill>
          <a:blip r:embed="rId9"/>
          <a:stretch>
            <a:fillRect/>
          </a:stretch>
        </p:blipFill>
        <p:spPr>
          <a:xfrm>
            <a:off x="11014710" y="2726531"/>
            <a:ext cx="2796183" cy="1964174"/>
          </a:xfrm>
          <a:prstGeom prst="rect">
            <a:avLst/>
          </a:prstGeom>
        </p:spPr>
      </p:pic>
      <p:pic>
        <p:nvPicPr>
          <p:cNvPr id="21" name="Image 5" descr="preencoded.png"/>
          <p:cNvPicPr>
            <a:picLocks noChangeAspect="1"/>
          </p:cNvPicPr>
          <p:nvPr/>
        </p:nvPicPr>
        <p:blipFill>
          <a:blip r:embed="rId10"/>
          <a:stretch>
            <a:fillRect/>
          </a:stretch>
        </p:blipFill>
        <p:spPr>
          <a:xfrm>
            <a:off x="11014710" y="4988719"/>
            <a:ext cx="2796183" cy="1885712"/>
          </a:xfrm>
          <a:prstGeom prst="rect">
            <a:avLst/>
          </a:prstGeom>
        </p:spPr>
      </p:pic>
    </p:spTree>
    <p:extLst>
      <p:ext uri="{BB962C8B-B14F-4D97-AF65-F5344CB8AC3E}">
        <p14:creationId xmlns:p14="http://schemas.microsoft.com/office/powerpoint/2010/main" val="21849111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863080"/>
            <a:ext cx="5486400" cy="685800"/>
          </a:xfrm>
          <a:prstGeom prst="rect">
            <a:avLst/>
          </a:prstGeom>
          <a:noFill/>
          <a:ln/>
        </p:spPr>
        <p:txBody>
          <a:bodyPr wrap="none" lIns="0" tIns="0" rIns="0" bIns="0" rtlCol="0" anchor="t"/>
          <a:lstStyle/>
          <a:p>
            <a:pPr marL="0" indent="0" algn="l">
              <a:lnSpc>
                <a:spcPts val="5400"/>
              </a:lnSpc>
              <a:buNone/>
            </a:pPr>
            <a:r>
              <a:rPr lang="en-US" sz="4300" dirty="0">
                <a:solidFill>
                  <a:schemeClr val="bg1"/>
                </a:solidFill>
                <a:latin typeface="Prompt Medium" pitchFamily="34" charset="0"/>
                <a:ea typeface="Prompt Medium" pitchFamily="34" charset="-122"/>
                <a:cs typeface="Prompt Medium" pitchFamily="34" charset="-120"/>
              </a:rPr>
              <a:t>Conclusions</a:t>
            </a:r>
            <a:endParaRPr lang="en-US" sz="4300" dirty="0">
              <a:solidFill>
                <a:schemeClr val="bg1"/>
              </a:solidFill>
            </a:endParaRPr>
          </a:p>
        </p:txBody>
      </p:sp>
      <p:sp>
        <p:nvSpPr>
          <p:cNvPr id="3" name="Text 1"/>
          <p:cNvSpPr/>
          <p:nvPr/>
        </p:nvSpPr>
        <p:spPr>
          <a:xfrm>
            <a:off x="864036" y="1952024"/>
            <a:ext cx="12902327" cy="883157"/>
          </a:xfrm>
          <a:prstGeom prst="rect">
            <a:avLst/>
          </a:prstGeom>
          <a:noFill/>
          <a:ln/>
        </p:spPr>
        <p:txBody>
          <a:bodyPr wrap="none" lIns="0" tIns="0" rIns="0" bIns="0" rtlCol="0" anchor="t"/>
          <a:lstStyle/>
          <a:p>
            <a:pPr marL="342900" indent="-342900" algn="l" rtl="0">
              <a:lnSpc>
                <a:spcPts val="3100"/>
              </a:lnSpc>
              <a:buFont typeface="Arial" panose="020B0604020202020204" pitchFamily="34" charset="0"/>
              <a:buChar char="•"/>
            </a:pPr>
            <a:r>
              <a:rPr lang="en-US" sz="1900" dirty="0" smtClean="0">
                <a:solidFill>
                  <a:schemeClr val="bg1"/>
                </a:solidFill>
                <a:latin typeface="Mukta Light" pitchFamily="34" charset="0"/>
                <a:ea typeface="Mukta Light" pitchFamily="34" charset="-122"/>
              </a:rPr>
              <a:t> </a:t>
            </a:r>
            <a:r>
              <a:rPr lang="en-US" sz="1900" dirty="0">
                <a:solidFill>
                  <a:schemeClr val="bg1"/>
                </a:solidFill>
                <a:latin typeface="Mukta Light" pitchFamily="34" charset="0"/>
                <a:ea typeface="Mukta Light" pitchFamily="34" charset="-122"/>
              </a:rPr>
              <a:t>When Dctcp is paired with loss based </a:t>
            </a:r>
            <a:r>
              <a:rPr lang="en-US" sz="1900" dirty="0" smtClean="0">
                <a:solidFill>
                  <a:schemeClr val="bg1"/>
                </a:solidFill>
                <a:latin typeface="Mukta Light" pitchFamily="34" charset="0"/>
                <a:ea typeface="Mukta Light" pitchFamily="34" charset="-122"/>
              </a:rPr>
              <a:t>CCA's - </a:t>
            </a:r>
            <a:r>
              <a:rPr lang="en-US" sz="1900" dirty="0">
                <a:solidFill>
                  <a:schemeClr val="bg1"/>
                </a:solidFill>
                <a:latin typeface="Mukta Light" pitchFamily="34" charset="0"/>
                <a:ea typeface="Mukta Light" pitchFamily="34" charset="-122"/>
              </a:rPr>
              <a:t>NewReno, Cubic- it captures the </a:t>
            </a:r>
            <a:r>
              <a:rPr lang="en-US" sz="1900" dirty="0" smtClean="0">
                <a:solidFill>
                  <a:schemeClr val="bg1"/>
                </a:solidFill>
                <a:latin typeface="Mukta Light" pitchFamily="34" charset="0"/>
                <a:ea typeface="Mukta Light" pitchFamily="34" charset="-122"/>
              </a:rPr>
              <a:t>bandwidth</a:t>
            </a:r>
          </a:p>
          <a:p>
            <a:pPr algn="l">
              <a:lnSpc>
                <a:spcPts val="3100"/>
              </a:lnSpc>
            </a:pPr>
            <a:r>
              <a:rPr lang="en-US" sz="1900" dirty="0" smtClean="0">
                <a:solidFill>
                  <a:schemeClr val="bg1"/>
                </a:solidFill>
                <a:latin typeface="Mukta Light" pitchFamily="34" charset="0"/>
                <a:ea typeface="Mukta Light" pitchFamily="34" charset="-122"/>
              </a:rPr>
              <a:t>        unrelated to RTT but due to its advanced algorithm dealing with congestion. </a:t>
            </a:r>
            <a:endParaRPr lang="en-US" sz="1900" dirty="0">
              <a:solidFill>
                <a:schemeClr val="bg1"/>
              </a:solidFill>
            </a:endParaRPr>
          </a:p>
        </p:txBody>
      </p:sp>
      <p:sp>
        <p:nvSpPr>
          <p:cNvPr id="4" name="Text 2"/>
          <p:cNvSpPr/>
          <p:nvPr/>
        </p:nvSpPr>
        <p:spPr>
          <a:xfrm>
            <a:off x="864037" y="2909470"/>
            <a:ext cx="12902327" cy="790099"/>
          </a:xfrm>
          <a:prstGeom prst="rect">
            <a:avLst/>
          </a:prstGeom>
          <a:noFill/>
          <a:ln/>
        </p:spPr>
        <p:txBody>
          <a:bodyPr wrap="square" lIns="0" tIns="0" rIns="0" bIns="0" rtlCol="0" anchor="t"/>
          <a:lstStyle/>
          <a:p>
            <a:pPr marL="342900" indent="-342900" algn="l" rtl="0">
              <a:lnSpc>
                <a:spcPts val="3100"/>
              </a:lnSpc>
              <a:buFont typeface="Arial" panose="020B0604020202020204" pitchFamily="34" charset="0"/>
              <a:buChar char="•"/>
            </a:pPr>
            <a:r>
              <a:rPr lang="en-US" sz="1900" dirty="0" smtClean="0">
                <a:solidFill>
                  <a:schemeClr val="bg1"/>
                </a:solidFill>
                <a:latin typeface="Mukta Light" pitchFamily="34" charset="0"/>
                <a:ea typeface="Mukta Light" pitchFamily="34" charset="-122"/>
              </a:rPr>
              <a:t>NewReno </a:t>
            </a:r>
            <a:r>
              <a:rPr lang="en-US" sz="1900" dirty="0">
                <a:solidFill>
                  <a:schemeClr val="bg1"/>
                </a:solidFill>
                <a:latin typeface="Mukta Light" pitchFamily="34" charset="0"/>
                <a:ea typeface="Mukta Light" pitchFamily="34" charset="-122"/>
              </a:rPr>
              <a:t>gets much less throughput when paired with other CCA's so it nearly </a:t>
            </a:r>
            <a:r>
              <a:rPr lang="en-US" sz="1900" dirty="0" smtClean="0">
                <a:solidFill>
                  <a:schemeClr val="bg1"/>
                </a:solidFill>
                <a:latin typeface="Mukta Light" pitchFamily="34" charset="0"/>
                <a:ea typeface="Mukta Light" pitchFamily="34" charset="-122"/>
              </a:rPr>
              <a:t>losses bandwidth </a:t>
            </a:r>
            <a:r>
              <a:rPr lang="en-US" sz="1900" dirty="0">
                <a:solidFill>
                  <a:schemeClr val="bg1"/>
                </a:solidFill>
                <a:latin typeface="Mukta Light" pitchFamily="34" charset="0"/>
                <a:ea typeface="Mukta Light" pitchFamily="34" charset="-122"/>
              </a:rPr>
              <a:t>every time. </a:t>
            </a:r>
            <a:endParaRPr lang="en-US" sz="1900" dirty="0">
              <a:solidFill>
                <a:schemeClr val="bg1"/>
              </a:solidFill>
            </a:endParaRPr>
          </a:p>
        </p:txBody>
      </p:sp>
      <p:sp>
        <p:nvSpPr>
          <p:cNvPr id="5" name="Text 3"/>
          <p:cNvSpPr/>
          <p:nvPr/>
        </p:nvSpPr>
        <p:spPr>
          <a:xfrm>
            <a:off x="864037" y="3502044"/>
            <a:ext cx="12902327" cy="395049"/>
          </a:xfrm>
          <a:prstGeom prst="rect">
            <a:avLst/>
          </a:prstGeom>
          <a:noFill/>
          <a:ln/>
        </p:spPr>
        <p:txBody>
          <a:bodyPr wrap="none" lIns="0" tIns="0" rIns="0" bIns="0" rtlCol="0" anchor="t"/>
          <a:lstStyle/>
          <a:p>
            <a:pPr marL="342900" indent="-342900" algn="l" rtl="0">
              <a:lnSpc>
                <a:spcPts val="3100"/>
              </a:lnSpc>
              <a:buFont typeface="Arial" panose="020B0604020202020204" pitchFamily="34" charset="0"/>
              <a:buChar char="•"/>
            </a:pPr>
            <a:r>
              <a:rPr lang="en-US" sz="1900" dirty="0" smtClean="0">
                <a:solidFill>
                  <a:schemeClr val="bg1"/>
                </a:solidFill>
                <a:latin typeface="Mukta Light" pitchFamily="34" charset="0"/>
                <a:ea typeface="Mukta Light" pitchFamily="34" charset="-122"/>
              </a:rPr>
              <a:t>Cubic </a:t>
            </a:r>
            <a:r>
              <a:rPr lang="en-US" sz="1900" dirty="0">
                <a:solidFill>
                  <a:schemeClr val="bg1"/>
                </a:solidFill>
                <a:latin typeface="Mukta Light" pitchFamily="34" charset="0"/>
                <a:ea typeface="Mukta Light" pitchFamily="34" charset="-122"/>
              </a:rPr>
              <a:t>manages to get decent throughput when paired with other CCA's due to its fast growing cwnd. </a:t>
            </a:r>
            <a:endParaRPr lang="en-US" sz="1900" dirty="0">
              <a:solidFill>
                <a:schemeClr val="bg1"/>
              </a:solidFill>
            </a:endParaRPr>
          </a:p>
        </p:txBody>
      </p:sp>
      <p:sp>
        <p:nvSpPr>
          <p:cNvPr id="6" name="Text 4"/>
          <p:cNvSpPr/>
          <p:nvPr/>
        </p:nvSpPr>
        <p:spPr>
          <a:xfrm>
            <a:off x="864035" y="4011555"/>
            <a:ext cx="12902327" cy="790099"/>
          </a:xfrm>
          <a:prstGeom prst="rect">
            <a:avLst/>
          </a:prstGeom>
          <a:noFill/>
          <a:ln/>
        </p:spPr>
        <p:txBody>
          <a:bodyPr wrap="square" lIns="0" tIns="0" rIns="0" bIns="0" rtlCol="0" anchor="t"/>
          <a:lstStyle/>
          <a:p>
            <a:pPr marL="342900" indent="-342900" algn="l" rtl="0">
              <a:lnSpc>
                <a:spcPts val="3100"/>
              </a:lnSpc>
              <a:buFont typeface="Arial" panose="020B0604020202020204" pitchFamily="34" charset="0"/>
              <a:buChar char="•"/>
            </a:pPr>
            <a:r>
              <a:rPr lang="en-US" sz="1900" dirty="0">
                <a:solidFill>
                  <a:schemeClr val="bg1"/>
                </a:solidFill>
                <a:latin typeface="Mukta Light" pitchFamily="34" charset="0"/>
                <a:ea typeface="Mukta Light" pitchFamily="34" charset="-122"/>
              </a:rPr>
              <a:t>when BBR has similar RTT to </a:t>
            </a:r>
            <a:r>
              <a:rPr lang="en-US" sz="1900" dirty="0" err="1">
                <a:solidFill>
                  <a:schemeClr val="bg1"/>
                </a:solidFill>
                <a:latin typeface="Mukta Light" pitchFamily="34" charset="0"/>
                <a:ea typeface="Mukta Light" pitchFamily="34" charset="-122"/>
              </a:rPr>
              <a:t>Dctcp</a:t>
            </a:r>
            <a:r>
              <a:rPr lang="en-US" sz="1900" dirty="0">
                <a:solidFill>
                  <a:schemeClr val="bg1"/>
                </a:solidFill>
                <a:latin typeface="Mukta Light" pitchFamily="34" charset="0"/>
                <a:ea typeface="Mukta Light" pitchFamily="34" charset="-122"/>
              </a:rPr>
              <a:t> and itself it’s protocol friendly. It manages to take appropriate throughput without outperforming the other protocol. But’ with </a:t>
            </a:r>
            <a:r>
              <a:rPr lang="en-US" sz="1900" dirty="0" err="1">
                <a:solidFill>
                  <a:schemeClr val="bg1"/>
                </a:solidFill>
                <a:latin typeface="Mukta Light" pitchFamily="34" charset="0"/>
                <a:ea typeface="Mukta Light" pitchFamily="34" charset="-122"/>
              </a:rPr>
              <a:t>NewReno</a:t>
            </a:r>
            <a:r>
              <a:rPr lang="en-US" sz="1900">
                <a:solidFill>
                  <a:schemeClr val="bg1"/>
                </a:solidFill>
                <a:latin typeface="Mukta Light" pitchFamily="34" charset="0"/>
                <a:ea typeface="Mukta Light" pitchFamily="34" charset="-122"/>
              </a:rPr>
              <a:t> and Cubic it causes outperformances.</a:t>
            </a:r>
            <a:endParaRPr lang="en-US" sz="1900" dirty="0">
              <a:solidFill>
                <a:schemeClr val="bg1"/>
              </a:solidFill>
            </a:endParaRPr>
          </a:p>
        </p:txBody>
      </p:sp>
      <p:sp>
        <p:nvSpPr>
          <p:cNvPr id="7" name="Text 5"/>
          <p:cNvSpPr/>
          <p:nvPr/>
        </p:nvSpPr>
        <p:spPr>
          <a:xfrm>
            <a:off x="864034" y="4922142"/>
            <a:ext cx="12902327" cy="1185148"/>
          </a:xfrm>
          <a:prstGeom prst="rect">
            <a:avLst/>
          </a:prstGeom>
          <a:noFill/>
          <a:ln/>
        </p:spPr>
        <p:txBody>
          <a:bodyPr wrap="square" lIns="0" tIns="0" rIns="0" bIns="0" rtlCol="0" anchor="t"/>
          <a:lstStyle/>
          <a:p>
            <a:pPr marL="342900" indent="-342900" algn="l" rtl="0">
              <a:lnSpc>
                <a:spcPts val="3100"/>
              </a:lnSpc>
              <a:buFont typeface="Arial" panose="020B0604020202020204" pitchFamily="34" charset="0"/>
              <a:buChar char="•"/>
            </a:pPr>
            <a:r>
              <a:rPr lang="en-US" sz="1900" dirty="0" smtClean="0">
                <a:solidFill>
                  <a:schemeClr val="bg1"/>
                </a:solidFill>
                <a:latin typeface="Mukta Light" pitchFamily="34" charset="0"/>
                <a:ea typeface="Mukta Light" pitchFamily="34" charset="-122"/>
              </a:rPr>
              <a:t>The </a:t>
            </a:r>
            <a:r>
              <a:rPr lang="en-US" sz="1900" dirty="0">
                <a:solidFill>
                  <a:schemeClr val="bg1"/>
                </a:solidFill>
                <a:latin typeface="Mukta Light" pitchFamily="34" charset="0"/>
                <a:ea typeface="Mukta Light" pitchFamily="34" charset="-122"/>
              </a:rPr>
              <a:t>Max-Min Fairness principle holds when both protocols are the same and both flows have the same RTT.In other cases, it is difficult to determine, since both flows attempt to fully utilize the available bandwidth, but in practice they do not receive an equal share of </a:t>
            </a:r>
            <a:r>
              <a:rPr lang="en-US" sz="1900" dirty="0" smtClean="0">
                <a:solidFill>
                  <a:schemeClr val="bg1"/>
                </a:solidFill>
                <a:latin typeface="Mukta Light" pitchFamily="34" charset="0"/>
                <a:ea typeface="Mukta Light" pitchFamily="34" charset="-122"/>
              </a:rPr>
              <a:t>it.</a:t>
            </a:r>
          </a:p>
          <a:p>
            <a:pPr marL="342900" indent="-342900" algn="l" rtl="0">
              <a:lnSpc>
                <a:spcPts val="3100"/>
              </a:lnSpc>
              <a:buFont typeface="Arial" panose="020B0604020202020204" pitchFamily="34" charset="0"/>
              <a:buChar char="•"/>
            </a:pPr>
            <a:r>
              <a:rPr lang="en-US" sz="2000" dirty="0">
                <a:solidFill>
                  <a:schemeClr val="bg1"/>
                </a:solidFill>
                <a:latin typeface="Mukta Light" panose="020B0604020202020204" charset="0"/>
              </a:rPr>
              <a:t>Modern protocols such as BBR and DCTCP are capable of sharing bandwidth efficiently and fairly, even under complex network conditions.</a:t>
            </a:r>
          </a:p>
        </p:txBody>
      </p:sp>
    </p:spTree>
    <p:extLst>
      <p:ext uri="{BB962C8B-B14F-4D97-AF65-F5344CB8AC3E}">
        <p14:creationId xmlns:p14="http://schemas.microsoft.com/office/powerpoint/2010/main" val="598906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3850" y="2138767"/>
            <a:ext cx="11639227" cy="5262979"/>
          </a:xfrm>
          <a:prstGeom prst="rect">
            <a:avLst/>
          </a:prstGeom>
          <a:noFill/>
        </p:spPr>
        <p:txBody>
          <a:bodyPr wrap="square" rtlCol="1">
            <a:spAutoFit/>
          </a:bodyPr>
          <a:lstStyle/>
          <a:p>
            <a:pPr algn="l" rtl="0"/>
            <a:r>
              <a:rPr lang="en-US" sz="2800" b="1" dirty="0">
                <a:solidFill>
                  <a:schemeClr val="bg1"/>
                </a:solidFill>
              </a:rPr>
              <a:t>GitHub Repository:</a:t>
            </a:r>
            <a:endParaRPr lang="en-US" sz="2800" dirty="0">
              <a:solidFill>
                <a:schemeClr val="bg1"/>
              </a:solidFill>
            </a:endParaRPr>
          </a:p>
          <a:p>
            <a:pPr algn="l" rtl="0"/>
            <a:r>
              <a:rPr lang="en-US" sz="2800" u="sng" dirty="0">
                <a:solidFill>
                  <a:schemeClr val="bg1"/>
                </a:solidFill>
                <a:hlinkClick r:id="rId2"/>
              </a:rPr>
              <a:t>https://github.com/alaajalalabomokh/Fairness-among-TCP-connections.git</a:t>
            </a:r>
            <a:endParaRPr lang="en-US" sz="2800" dirty="0">
              <a:solidFill>
                <a:schemeClr val="bg1"/>
              </a:solidFill>
            </a:endParaRPr>
          </a:p>
          <a:p>
            <a:pPr algn="l" rtl="0"/>
            <a:r>
              <a:rPr lang="en-US" sz="2800" b="1" dirty="0">
                <a:solidFill>
                  <a:schemeClr val="bg1"/>
                </a:solidFill>
              </a:rPr>
              <a:t> </a:t>
            </a:r>
            <a:endParaRPr lang="en-US" sz="2800" dirty="0">
              <a:solidFill>
                <a:schemeClr val="bg1"/>
              </a:solidFill>
            </a:endParaRPr>
          </a:p>
          <a:p>
            <a:pPr algn="l"/>
            <a:r>
              <a:rPr lang="en-US" sz="2800" b="1" dirty="0">
                <a:solidFill>
                  <a:schemeClr val="bg1"/>
                </a:solidFill>
              </a:rPr>
              <a:t> </a:t>
            </a:r>
            <a:endParaRPr lang="en-US" sz="2800" dirty="0">
              <a:solidFill>
                <a:schemeClr val="bg1"/>
              </a:solidFill>
            </a:endParaRPr>
          </a:p>
          <a:p>
            <a:pPr algn="l"/>
            <a:r>
              <a:rPr lang="en-US" sz="2800" b="1" dirty="0">
                <a:solidFill>
                  <a:schemeClr val="bg1"/>
                </a:solidFill>
              </a:rPr>
              <a:t> </a:t>
            </a:r>
            <a:endParaRPr lang="en-US" sz="2800" dirty="0">
              <a:solidFill>
                <a:schemeClr val="bg1"/>
              </a:solidFill>
            </a:endParaRPr>
          </a:p>
          <a:p>
            <a:pPr algn="l"/>
            <a:r>
              <a:rPr lang="en-US" sz="2800" b="1" dirty="0">
                <a:solidFill>
                  <a:schemeClr val="bg1"/>
                </a:solidFill>
              </a:rPr>
              <a:t>References :</a:t>
            </a:r>
            <a:endParaRPr lang="en-US" sz="2800" dirty="0">
              <a:solidFill>
                <a:schemeClr val="bg1"/>
              </a:solidFill>
            </a:endParaRPr>
          </a:p>
          <a:p>
            <a:pPr marL="457200" indent="-457200" algn="l" rtl="0">
              <a:buFont typeface="Arial" panose="020B0604020202020204" pitchFamily="34" charset="0"/>
              <a:buChar char="•"/>
            </a:pPr>
            <a:r>
              <a:rPr lang="en-US" sz="2800" u="sng" dirty="0">
                <a:solidFill>
                  <a:schemeClr val="bg1"/>
                </a:solidFill>
                <a:hlinkClick r:id="rId3"/>
              </a:rPr>
              <a:t>What is TCP (Transmission Control Protocol)? - </a:t>
            </a:r>
            <a:r>
              <a:rPr lang="en-US" sz="2800" u="sng" dirty="0" err="1">
                <a:solidFill>
                  <a:schemeClr val="bg1"/>
                </a:solidFill>
                <a:hlinkClick r:id="rId3"/>
              </a:rPr>
              <a:t>GeeksforGeeks</a:t>
            </a:r>
            <a:endParaRPr lang="en-US" sz="2800" dirty="0">
              <a:solidFill>
                <a:schemeClr val="bg1"/>
              </a:solidFill>
            </a:endParaRPr>
          </a:p>
          <a:p>
            <a:pPr marL="457200" indent="-457200" algn="l" rtl="0">
              <a:buFont typeface="Arial" panose="020B0604020202020204" pitchFamily="34" charset="0"/>
              <a:buChar char="•"/>
            </a:pPr>
            <a:r>
              <a:rPr lang="en-US" sz="2800" u="sng" dirty="0">
                <a:solidFill>
                  <a:schemeClr val="bg1"/>
                </a:solidFill>
                <a:hlinkClick r:id="rId4"/>
              </a:rPr>
              <a:t> </a:t>
            </a:r>
            <a:r>
              <a:rPr lang="en-US" sz="2800" u="sng" dirty="0" err="1">
                <a:solidFill>
                  <a:schemeClr val="bg1"/>
                </a:solidFill>
                <a:hlinkClick r:id="rId4"/>
              </a:rPr>
              <a:t>Wayback</a:t>
            </a:r>
            <a:r>
              <a:rPr lang="en-US" sz="2800" u="sng" dirty="0">
                <a:solidFill>
                  <a:schemeClr val="bg1"/>
                </a:solidFill>
                <a:hlinkClick r:id="rId4"/>
              </a:rPr>
              <a:t> Machine</a:t>
            </a:r>
            <a:endParaRPr lang="en-US" sz="2800" dirty="0">
              <a:solidFill>
                <a:schemeClr val="bg1"/>
              </a:solidFill>
            </a:endParaRPr>
          </a:p>
          <a:p>
            <a:pPr marL="457200" indent="-457200" algn="l" rtl="0">
              <a:buFont typeface="Arial" panose="020B0604020202020204" pitchFamily="34" charset="0"/>
              <a:buChar char="•"/>
            </a:pPr>
            <a:r>
              <a:rPr lang="en-US" sz="2800" u="sng" dirty="0">
                <a:solidFill>
                  <a:schemeClr val="bg1"/>
                </a:solidFill>
                <a:hlinkClick r:id="rId5"/>
              </a:rPr>
              <a:t> RFC 6582: The </a:t>
            </a:r>
            <a:r>
              <a:rPr lang="en-US" sz="2800" u="sng" dirty="0" err="1">
                <a:solidFill>
                  <a:schemeClr val="bg1"/>
                </a:solidFill>
                <a:hlinkClick r:id="rId5"/>
              </a:rPr>
              <a:t>NewReno</a:t>
            </a:r>
            <a:r>
              <a:rPr lang="en-US" sz="2800" u="sng" dirty="0">
                <a:solidFill>
                  <a:schemeClr val="bg1"/>
                </a:solidFill>
                <a:hlinkClick r:id="rId5"/>
              </a:rPr>
              <a:t> Modification to TCP's Fast Recovery Algorithm</a:t>
            </a:r>
            <a:endParaRPr lang="en-US" sz="2800" dirty="0">
              <a:solidFill>
                <a:schemeClr val="bg1"/>
              </a:solidFill>
            </a:endParaRPr>
          </a:p>
          <a:p>
            <a:pPr marL="457200" indent="-457200" algn="l" rtl="0">
              <a:buFont typeface="Arial" panose="020B0604020202020204" pitchFamily="34" charset="0"/>
              <a:buChar char="•"/>
            </a:pPr>
            <a:r>
              <a:rPr lang="en-US" sz="2800" u="sng" dirty="0">
                <a:solidFill>
                  <a:schemeClr val="bg1"/>
                </a:solidFill>
                <a:hlinkClick r:id="rId6"/>
              </a:rPr>
              <a:t>DCTCP (</a:t>
            </a:r>
            <a:r>
              <a:rPr lang="en-US" sz="2800" u="sng" dirty="0" err="1">
                <a:solidFill>
                  <a:schemeClr val="bg1"/>
                </a:solidFill>
                <a:hlinkClick r:id="rId6"/>
              </a:rPr>
              <a:t>DataCenter</a:t>
            </a:r>
            <a:r>
              <a:rPr lang="en-US" sz="2800" u="sng" dirty="0">
                <a:solidFill>
                  <a:schemeClr val="bg1"/>
                </a:solidFill>
                <a:hlinkClick r:id="rId6"/>
              </a:rPr>
              <a:t> TCP) — The Linux Kernel documentation</a:t>
            </a:r>
            <a:endParaRPr lang="en-US" sz="2800" dirty="0">
              <a:solidFill>
                <a:schemeClr val="bg1"/>
              </a:solidFill>
            </a:endParaRPr>
          </a:p>
          <a:p>
            <a:pPr marL="457200" indent="-457200" algn="l" rtl="0">
              <a:buFont typeface="Arial" panose="020B0604020202020204" pitchFamily="34" charset="0"/>
              <a:buChar char="•"/>
            </a:pPr>
            <a:r>
              <a:rPr lang="en-US" sz="2800" u="sng" dirty="0">
                <a:solidFill>
                  <a:schemeClr val="bg1"/>
                </a:solidFill>
                <a:hlinkClick r:id="rId7"/>
              </a:rPr>
              <a:t>TCP Fairness Among Modern TCP Congestion Control Algorithms Including TCP BBR | IEEE Conference Publication | IEEE </a:t>
            </a:r>
            <a:r>
              <a:rPr lang="en-US" sz="2800" u="sng" dirty="0" err="1">
                <a:solidFill>
                  <a:schemeClr val="bg1"/>
                </a:solidFill>
                <a:hlinkClick r:id="rId7"/>
              </a:rPr>
              <a:t>Xplore</a:t>
            </a:r>
            <a:endParaRPr lang="he-IL" sz="2800" dirty="0">
              <a:solidFill>
                <a:schemeClr val="bg1"/>
              </a:solidFill>
            </a:endParaRPr>
          </a:p>
        </p:txBody>
      </p:sp>
      <p:sp>
        <p:nvSpPr>
          <p:cNvPr id="3" name="TextBox 2"/>
          <p:cNvSpPr txBox="1"/>
          <p:nvPr/>
        </p:nvSpPr>
        <p:spPr>
          <a:xfrm>
            <a:off x="4277531" y="697423"/>
            <a:ext cx="5408909" cy="707886"/>
          </a:xfrm>
          <a:prstGeom prst="rect">
            <a:avLst/>
          </a:prstGeom>
          <a:noFill/>
        </p:spPr>
        <p:txBody>
          <a:bodyPr wrap="square" rtlCol="1">
            <a:spAutoFit/>
          </a:bodyPr>
          <a:lstStyle/>
          <a:p>
            <a:pPr algn="ctr"/>
            <a:r>
              <a:rPr lang="en-US" sz="4000" b="1" dirty="0">
                <a:solidFill>
                  <a:schemeClr val="bg1"/>
                </a:solidFill>
              </a:rPr>
              <a:t>References &amp; Appendix</a:t>
            </a:r>
            <a:endParaRPr lang="en-US" sz="4000" dirty="0">
              <a:solidFill>
                <a:schemeClr val="bg1"/>
              </a:solidFill>
            </a:endParaRPr>
          </a:p>
        </p:txBody>
      </p:sp>
    </p:spTree>
    <p:extLst>
      <p:ext uri="{BB962C8B-B14F-4D97-AF65-F5344CB8AC3E}">
        <p14:creationId xmlns:p14="http://schemas.microsoft.com/office/powerpoint/2010/main" val="29266283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1431</TotalTime>
  <Words>735</Words>
  <Application>Microsoft Office PowerPoint</Application>
  <PresentationFormat>מותאם אישית</PresentationFormat>
  <Paragraphs>170</Paragraphs>
  <Slides>23</Slides>
  <Notes>22</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23</vt:i4>
      </vt:variant>
    </vt:vector>
  </HeadingPairs>
  <TitlesOfParts>
    <vt:vector size="30" baseType="lpstr">
      <vt:lpstr>Mukta Bold</vt:lpstr>
      <vt:lpstr>Mukta Light</vt:lpstr>
      <vt:lpstr>Calibri</vt:lpstr>
      <vt:lpstr>Prompt Medium</vt:lpstr>
      <vt:lpstr>Mutka</vt: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Alaa Abo-Mokh</cp:lastModifiedBy>
  <cp:revision>53</cp:revision>
  <dcterms:created xsi:type="dcterms:W3CDTF">2025-06-11T11:57:01Z</dcterms:created>
  <dcterms:modified xsi:type="dcterms:W3CDTF">2025-10-31T06:38:33Z</dcterms:modified>
</cp:coreProperties>
</file>