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5113000" cy="21374100"/>
  <p:notesSz cx="6858000" cy="9144000"/>
  <p:embeddedFontLst>
    <p:embeddedFont>
      <p:font typeface="Poppins Medium" charset="1" panose="00000600000000000000"/>
      <p:regular r:id="rId7"/>
    </p:embeddedFont>
    <p:embeddedFont>
      <p:font typeface="Poppins" charset="1" panose="00000500000000000000"/>
      <p:regular r:id="rId8"/>
    </p:embeddedFont>
    <p:embeddedFont>
      <p:font typeface="Poppins Bold" charset="1" panose="0000080000000000000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0F0"/>
        </a:solidFill>
      </p:bgPr>
    </p:bg>
    <p:spTree>
      <p:nvGrpSpPr>
        <p:cNvPr id="1" name=""/>
        <p:cNvGrpSpPr/>
        <p:nvPr/>
      </p:nvGrpSpPr>
      <p:grpSpPr>
        <a:xfrm>
          <a:off x="0" y="0"/>
          <a:ext cx="0" cy="0"/>
          <a:chOff x="0" y="0"/>
          <a:chExt cx="0" cy="0"/>
        </a:xfrm>
      </p:grpSpPr>
      <p:sp>
        <p:nvSpPr>
          <p:cNvPr name="AutoShape 2" id="2"/>
          <p:cNvSpPr/>
          <p:nvPr/>
        </p:nvSpPr>
        <p:spPr>
          <a:xfrm>
            <a:off x="1245211" y="4353715"/>
            <a:ext cx="12629578" cy="0"/>
          </a:xfrm>
          <a:prstGeom prst="line">
            <a:avLst/>
          </a:prstGeom>
          <a:ln cap="flat" w="9525">
            <a:solidFill>
              <a:srgbClr val="304443"/>
            </a:solidFill>
            <a:prstDash val="solid"/>
            <a:headEnd type="none" len="sm" w="sm"/>
            <a:tailEnd type="none" len="sm" w="sm"/>
          </a:ln>
        </p:spPr>
      </p:sp>
      <p:sp>
        <p:nvSpPr>
          <p:cNvPr name="AutoShape 3" id="3"/>
          <p:cNvSpPr/>
          <p:nvPr/>
        </p:nvSpPr>
        <p:spPr>
          <a:xfrm>
            <a:off x="1249586" y="10209679"/>
            <a:ext cx="12625203" cy="0"/>
          </a:xfrm>
          <a:prstGeom prst="line">
            <a:avLst/>
          </a:prstGeom>
          <a:ln cap="flat" w="9525">
            <a:solidFill>
              <a:srgbClr val="304443"/>
            </a:solidFill>
            <a:prstDash val="solid"/>
            <a:headEnd type="none" len="sm" w="sm"/>
            <a:tailEnd type="none" len="sm" w="sm"/>
          </a:ln>
        </p:spPr>
      </p:sp>
      <p:sp>
        <p:nvSpPr>
          <p:cNvPr name="AutoShape 4" id="4"/>
          <p:cNvSpPr/>
          <p:nvPr/>
        </p:nvSpPr>
        <p:spPr>
          <a:xfrm>
            <a:off x="991424" y="7084110"/>
            <a:ext cx="12629578" cy="0"/>
          </a:xfrm>
          <a:prstGeom prst="line">
            <a:avLst/>
          </a:prstGeom>
          <a:ln cap="flat" w="9525">
            <a:solidFill>
              <a:srgbClr val="304443"/>
            </a:solidFill>
            <a:prstDash val="solid"/>
            <a:headEnd type="none" len="sm" w="sm"/>
            <a:tailEnd type="none" len="sm" w="sm"/>
          </a:ln>
        </p:spPr>
      </p:sp>
      <p:sp>
        <p:nvSpPr>
          <p:cNvPr name="AutoShape 5" id="5"/>
          <p:cNvSpPr/>
          <p:nvPr/>
        </p:nvSpPr>
        <p:spPr>
          <a:xfrm rot="0">
            <a:off x="543002" y="10209679"/>
            <a:ext cx="13987557" cy="7483515"/>
          </a:xfrm>
          <a:prstGeom prst="rect">
            <a:avLst/>
          </a:prstGeom>
          <a:solidFill>
            <a:srgbClr val="FFFFFF"/>
          </a:solidFill>
        </p:spPr>
      </p:sp>
      <p:sp>
        <p:nvSpPr>
          <p:cNvPr name="AutoShape 6" id="6"/>
          <p:cNvSpPr/>
          <p:nvPr/>
        </p:nvSpPr>
        <p:spPr>
          <a:xfrm>
            <a:off x="1313415" y="17693194"/>
            <a:ext cx="12604971" cy="0"/>
          </a:xfrm>
          <a:prstGeom prst="line">
            <a:avLst/>
          </a:prstGeom>
          <a:ln cap="flat" w="9525">
            <a:solidFill>
              <a:srgbClr val="304443"/>
            </a:solidFill>
            <a:prstDash val="solid"/>
            <a:headEnd type="none" len="sm" w="sm"/>
            <a:tailEnd type="none" len="sm" w="sm"/>
          </a:ln>
        </p:spPr>
      </p:sp>
      <p:sp>
        <p:nvSpPr>
          <p:cNvPr name="AutoShape 7" id="7"/>
          <p:cNvSpPr/>
          <p:nvPr/>
        </p:nvSpPr>
        <p:spPr>
          <a:xfrm flipV="true">
            <a:off x="4572303" y="4472006"/>
            <a:ext cx="0" cy="2524793"/>
          </a:xfrm>
          <a:prstGeom prst="line">
            <a:avLst/>
          </a:prstGeom>
          <a:ln cap="flat" w="9525">
            <a:solidFill>
              <a:srgbClr val="304443"/>
            </a:solidFill>
            <a:prstDash val="solid"/>
            <a:headEnd type="none" len="sm" w="sm"/>
            <a:tailEnd type="none" len="sm" w="sm"/>
          </a:ln>
        </p:spPr>
      </p:sp>
      <p:sp>
        <p:nvSpPr>
          <p:cNvPr name="AutoShape 8" id="8"/>
          <p:cNvSpPr/>
          <p:nvPr/>
        </p:nvSpPr>
        <p:spPr>
          <a:xfrm flipV="true">
            <a:off x="7560000" y="18174207"/>
            <a:ext cx="0" cy="2318635"/>
          </a:xfrm>
          <a:prstGeom prst="line">
            <a:avLst/>
          </a:prstGeom>
          <a:ln cap="flat" w="9525">
            <a:solidFill>
              <a:srgbClr val="304443"/>
            </a:solidFill>
            <a:prstDash val="solid"/>
            <a:headEnd type="none" len="sm" w="sm"/>
            <a:tailEnd type="none" len="sm" w="sm"/>
          </a:ln>
        </p:spPr>
      </p:sp>
      <p:sp>
        <p:nvSpPr>
          <p:cNvPr name="Freeform 9" id="9"/>
          <p:cNvSpPr/>
          <p:nvPr/>
        </p:nvSpPr>
        <p:spPr>
          <a:xfrm flipH="false" flipV="false" rot="0">
            <a:off x="608402" y="559980"/>
            <a:ext cx="13555103" cy="1338875"/>
          </a:xfrm>
          <a:custGeom>
            <a:avLst/>
            <a:gdLst/>
            <a:ahLst/>
            <a:cxnLst/>
            <a:rect r="r" b="b" t="t" l="l"/>
            <a:pathLst>
              <a:path h="1338875" w="13555103">
                <a:moveTo>
                  <a:pt x="0" y="0"/>
                </a:moveTo>
                <a:lnTo>
                  <a:pt x="13555103" y="0"/>
                </a:lnTo>
                <a:lnTo>
                  <a:pt x="13555103" y="1338874"/>
                </a:lnTo>
                <a:lnTo>
                  <a:pt x="0" y="1338874"/>
                </a:lnTo>
                <a:lnTo>
                  <a:pt x="0" y="0"/>
                </a:lnTo>
                <a:close/>
              </a:path>
            </a:pathLst>
          </a:custGeom>
          <a:blipFill>
            <a:blip r:embed="rId2"/>
            <a:stretch>
              <a:fillRect l="0" t="-10745" r="0" b="-10745"/>
            </a:stretch>
          </a:blipFill>
        </p:spPr>
      </p:sp>
      <p:sp>
        <p:nvSpPr>
          <p:cNvPr name="Freeform 10" id="10"/>
          <p:cNvSpPr/>
          <p:nvPr/>
        </p:nvSpPr>
        <p:spPr>
          <a:xfrm flipH="false" flipV="false" rot="0">
            <a:off x="5337175" y="5860311"/>
            <a:ext cx="1726151" cy="1104737"/>
          </a:xfrm>
          <a:custGeom>
            <a:avLst/>
            <a:gdLst/>
            <a:ahLst/>
            <a:cxnLst/>
            <a:rect r="r" b="b" t="t" l="l"/>
            <a:pathLst>
              <a:path h="1104737" w="1726151">
                <a:moveTo>
                  <a:pt x="0" y="0"/>
                </a:moveTo>
                <a:lnTo>
                  <a:pt x="1726151" y="0"/>
                </a:lnTo>
                <a:lnTo>
                  <a:pt x="1726151" y="1104736"/>
                </a:lnTo>
                <a:lnTo>
                  <a:pt x="0" y="1104736"/>
                </a:lnTo>
                <a:lnTo>
                  <a:pt x="0" y="0"/>
                </a:lnTo>
                <a:close/>
              </a:path>
            </a:pathLst>
          </a:custGeom>
          <a:blipFill>
            <a:blip r:embed="rId3"/>
            <a:stretch>
              <a:fillRect l="0" t="0" r="0" b="0"/>
            </a:stretch>
          </a:blipFill>
        </p:spPr>
      </p:sp>
      <p:sp>
        <p:nvSpPr>
          <p:cNvPr name="Freeform 11" id="11"/>
          <p:cNvSpPr/>
          <p:nvPr/>
        </p:nvSpPr>
        <p:spPr>
          <a:xfrm flipH="false" flipV="false" rot="0">
            <a:off x="6447900" y="9351895"/>
            <a:ext cx="1820384" cy="595847"/>
          </a:xfrm>
          <a:custGeom>
            <a:avLst/>
            <a:gdLst/>
            <a:ahLst/>
            <a:cxnLst/>
            <a:rect r="r" b="b" t="t" l="l"/>
            <a:pathLst>
              <a:path h="595847" w="1820384">
                <a:moveTo>
                  <a:pt x="0" y="0"/>
                </a:moveTo>
                <a:lnTo>
                  <a:pt x="1820384" y="0"/>
                </a:lnTo>
                <a:lnTo>
                  <a:pt x="1820384" y="595847"/>
                </a:lnTo>
                <a:lnTo>
                  <a:pt x="0" y="595847"/>
                </a:lnTo>
                <a:lnTo>
                  <a:pt x="0" y="0"/>
                </a:lnTo>
                <a:close/>
              </a:path>
            </a:pathLst>
          </a:custGeom>
          <a:blipFill>
            <a:blip r:embed="rId4"/>
            <a:stretch>
              <a:fillRect l="0" t="0" r="0" b="0"/>
            </a:stretch>
          </a:blipFill>
        </p:spPr>
      </p:sp>
      <p:sp>
        <p:nvSpPr>
          <p:cNvPr name="Freeform 12" id="12"/>
          <p:cNvSpPr/>
          <p:nvPr/>
        </p:nvSpPr>
        <p:spPr>
          <a:xfrm flipH="false" flipV="false" rot="0">
            <a:off x="11756424" y="10404942"/>
            <a:ext cx="2414044" cy="1686814"/>
          </a:xfrm>
          <a:custGeom>
            <a:avLst/>
            <a:gdLst/>
            <a:ahLst/>
            <a:cxnLst/>
            <a:rect r="r" b="b" t="t" l="l"/>
            <a:pathLst>
              <a:path h="1686814" w="2414044">
                <a:moveTo>
                  <a:pt x="0" y="0"/>
                </a:moveTo>
                <a:lnTo>
                  <a:pt x="2414044" y="0"/>
                </a:lnTo>
                <a:lnTo>
                  <a:pt x="2414044" y="1686813"/>
                </a:lnTo>
                <a:lnTo>
                  <a:pt x="0" y="1686813"/>
                </a:lnTo>
                <a:lnTo>
                  <a:pt x="0" y="0"/>
                </a:lnTo>
                <a:close/>
              </a:path>
            </a:pathLst>
          </a:custGeom>
          <a:blipFill>
            <a:blip r:embed="rId5"/>
            <a:stretch>
              <a:fillRect l="0" t="0" r="0" b="0"/>
            </a:stretch>
          </a:blipFill>
        </p:spPr>
      </p:sp>
      <p:sp>
        <p:nvSpPr>
          <p:cNvPr name="Freeform 13" id="13"/>
          <p:cNvSpPr/>
          <p:nvPr/>
        </p:nvSpPr>
        <p:spPr>
          <a:xfrm flipH="false" flipV="false" rot="0">
            <a:off x="9161749" y="10414054"/>
            <a:ext cx="2494649" cy="1686814"/>
          </a:xfrm>
          <a:custGeom>
            <a:avLst/>
            <a:gdLst/>
            <a:ahLst/>
            <a:cxnLst/>
            <a:rect r="r" b="b" t="t" l="l"/>
            <a:pathLst>
              <a:path h="1686814" w="2494649">
                <a:moveTo>
                  <a:pt x="0" y="0"/>
                </a:moveTo>
                <a:lnTo>
                  <a:pt x="2494649" y="0"/>
                </a:lnTo>
                <a:lnTo>
                  <a:pt x="2494649" y="1686814"/>
                </a:lnTo>
                <a:lnTo>
                  <a:pt x="0" y="1686814"/>
                </a:lnTo>
                <a:lnTo>
                  <a:pt x="0" y="0"/>
                </a:lnTo>
                <a:close/>
              </a:path>
            </a:pathLst>
          </a:custGeom>
          <a:blipFill>
            <a:blip r:embed="rId6"/>
            <a:stretch>
              <a:fillRect l="-3946" t="-1114" r="0" b="-1114"/>
            </a:stretch>
          </a:blipFill>
        </p:spPr>
      </p:sp>
      <p:sp>
        <p:nvSpPr>
          <p:cNvPr name="Freeform 14" id="14"/>
          <p:cNvSpPr/>
          <p:nvPr/>
        </p:nvSpPr>
        <p:spPr>
          <a:xfrm flipH="false" flipV="false" rot="0">
            <a:off x="11882752" y="15887598"/>
            <a:ext cx="2486479" cy="1665941"/>
          </a:xfrm>
          <a:custGeom>
            <a:avLst/>
            <a:gdLst/>
            <a:ahLst/>
            <a:cxnLst/>
            <a:rect r="r" b="b" t="t" l="l"/>
            <a:pathLst>
              <a:path h="1665941" w="2486479">
                <a:moveTo>
                  <a:pt x="0" y="0"/>
                </a:moveTo>
                <a:lnTo>
                  <a:pt x="2486479" y="0"/>
                </a:lnTo>
                <a:lnTo>
                  <a:pt x="2486479" y="1665941"/>
                </a:lnTo>
                <a:lnTo>
                  <a:pt x="0" y="1665941"/>
                </a:lnTo>
                <a:lnTo>
                  <a:pt x="0" y="0"/>
                </a:lnTo>
                <a:close/>
              </a:path>
            </a:pathLst>
          </a:custGeom>
          <a:blipFill>
            <a:blip r:embed="rId7"/>
            <a:stretch>
              <a:fillRect l="0" t="-5597" r="0" b="0"/>
            </a:stretch>
          </a:blipFill>
        </p:spPr>
      </p:sp>
      <p:sp>
        <p:nvSpPr>
          <p:cNvPr name="Freeform 15" id="15"/>
          <p:cNvSpPr/>
          <p:nvPr/>
        </p:nvSpPr>
        <p:spPr>
          <a:xfrm flipH="false" flipV="false" rot="0">
            <a:off x="9294189" y="15887598"/>
            <a:ext cx="2486479" cy="1665941"/>
          </a:xfrm>
          <a:custGeom>
            <a:avLst/>
            <a:gdLst/>
            <a:ahLst/>
            <a:cxnLst/>
            <a:rect r="r" b="b" t="t" l="l"/>
            <a:pathLst>
              <a:path h="1665941" w="2486479">
                <a:moveTo>
                  <a:pt x="0" y="0"/>
                </a:moveTo>
                <a:lnTo>
                  <a:pt x="2486479" y="0"/>
                </a:lnTo>
                <a:lnTo>
                  <a:pt x="2486479" y="1665941"/>
                </a:lnTo>
                <a:lnTo>
                  <a:pt x="0" y="1665941"/>
                </a:lnTo>
                <a:lnTo>
                  <a:pt x="0" y="0"/>
                </a:lnTo>
                <a:close/>
              </a:path>
            </a:pathLst>
          </a:custGeom>
          <a:blipFill>
            <a:blip r:embed="rId8"/>
            <a:stretch>
              <a:fillRect l="0" t="0" r="0" b="0"/>
            </a:stretch>
          </a:blipFill>
        </p:spPr>
      </p:sp>
      <p:sp>
        <p:nvSpPr>
          <p:cNvPr name="Freeform 16" id="16"/>
          <p:cNvSpPr/>
          <p:nvPr/>
        </p:nvSpPr>
        <p:spPr>
          <a:xfrm flipH="false" flipV="false" rot="0">
            <a:off x="11764219" y="12300480"/>
            <a:ext cx="2406249" cy="1650957"/>
          </a:xfrm>
          <a:custGeom>
            <a:avLst/>
            <a:gdLst/>
            <a:ahLst/>
            <a:cxnLst/>
            <a:rect r="r" b="b" t="t" l="l"/>
            <a:pathLst>
              <a:path h="1650957" w="2406249">
                <a:moveTo>
                  <a:pt x="0" y="0"/>
                </a:moveTo>
                <a:lnTo>
                  <a:pt x="2406249" y="0"/>
                </a:lnTo>
                <a:lnTo>
                  <a:pt x="2406249" y="1650957"/>
                </a:lnTo>
                <a:lnTo>
                  <a:pt x="0" y="1650957"/>
                </a:lnTo>
                <a:lnTo>
                  <a:pt x="0" y="0"/>
                </a:lnTo>
                <a:close/>
              </a:path>
            </a:pathLst>
          </a:custGeom>
          <a:blipFill>
            <a:blip r:embed="rId9"/>
            <a:stretch>
              <a:fillRect l="0" t="-4038" r="0" b="0"/>
            </a:stretch>
          </a:blipFill>
        </p:spPr>
      </p:sp>
      <p:grpSp>
        <p:nvGrpSpPr>
          <p:cNvPr name="Group 17" id="17"/>
          <p:cNvGrpSpPr/>
          <p:nvPr/>
        </p:nvGrpSpPr>
        <p:grpSpPr>
          <a:xfrm rot="0">
            <a:off x="543002" y="7308138"/>
            <a:ext cx="7959499" cy="2061792"/>
            <a:chOff x="0" y="0"/>
            <a:chExt cx="10612665" cy="2749056"/>
          </a:xfrm>
        </p:grpSpPr>
        <p:sp>
          <p:nvSpPr>
            <p:cNvPr name="TextBox 18" id="18"/>
            <p:cNvSpPr txBox="true"/>
            <p:nvPr/>
          </p:nvSpPr>
          <p:spPr>
            <a:xfrm rot="0">
              <a:off x="0" y="-57150"/>
              <a:ext cx="8273064" cy="501650"/>
            </a:xfrm>
            <a:prstGeom prst="rect">
              <a:avLst/>
            </a:prstGeom>
          </p:spPr>
          <p:txBody>
            <a:bodyPr anchor="t" rtlCol="false" tIns="0" lIns="0" bIns="0" rIns="0">
              <a:spAutoFit/>
            </a:bodyPr>
            <a:lstStyle/>
            <a:p>
              <a:pPr algn="l" marL="0" indent="0" lvl="1">
                <a:lnSpc>
                  <a:spcPts val="3086"/>
                </a:lnSpc>
                <a:spcBef>
                  <a:spcPct val="0"/>
                </a:spcBef>
              </a:pPr>
              <a:r>
                <a:rPr lang="en-US" b="true" sz="2204" u="none">
                  <a:solidFill>
                    <a:srgbClr val="304443"/>
                  </a:solidFill>
                  <a:latin typeface="Poppins Medium"/>
                  <a:ea typeface="Poppins Medium"/>
                  <a:cs typeface="Poppins Medium"/>
                  <a:sym typeface="Poppins Medium"/>
                </a:rPr>
                <a:t>METHODOLOGY</a:t>
              </a:r>
            </a:p>
          </p:txBody>
        </p:sp>
        <p:sp>
          <p:nvSpPr>
            <p:cNvPr name="TextBox 19" id="19"/>
            <p:cNvSpPr txBox="true"/>
            <p:nvPr/>
          </p:nvSpPr>
          <p:spPr>
            <a:xfrm rot="0">
              <a:off x="0" y="520925"/>
              <a:ext cx="10612665" cy="2228131"/>
            </a:xfrm>
            <a:prstGeom prst="rect">
              <a:avLst/>
            </a:prstGeom>
          </p:spPr>
          <p:txBody>
            <a:bodyPr anchor="t" rtlCol="false" tIns="0" lIns="0" bIns="0" rIns="0">
              <a:spAutoFit/>
            </a:bodyPr>
            <a:lstStyle/>
            <a:p>
              <a:pPr algn="l">
                <a:lnSpc>
                  <a:spcPts val="1671"/>
                </a:lnSpc>
              </a:pPr>
              <a:r>
                <a:rPr lang="en-US" sz="1194">
                  <a:solidFill>
                    <a:srgbClr val="304443"/>
                  </a:solidFill>
                  <a:latin typeface="Poppins"/>
                  <a:ea typeface="Poppins"/>
                  <a:cs typeface="Poppins"/>
                  <a:sym typeface="Poppins"/>
                </a:rPr>
                <a:t>We implemented a dumbbell topology in NS-3 to create a controlled bottleneck environment. Each competing flow was assigned specific TCP congestion control algorithms and RTT values according to experimental parameters.</a:t>
              </a:r>
            </a:p>
            <a:p>
              <a:pPr algn="l">
                <a:lnSpc>
                  <a:spcPts val="1671"/>
                </a:lnSpc>
              </a:pPr>
              <a:r>
                <a:rPr lang="en-US" sz="1194">
                  <a:solidFill>
                    <a:srgbClr val="304443"/>
                  </a:solidFill>
                  <a:latin typeface="Poppins"/>
                  <a:ea typeface="Poppins"/>
                  <a:cs typeface="Poppins"/>
                  <a:sym typeface="Poppins"/>
                </a:rPr>
                <a:t>All simulations were automated through custom scripts that configured the protocols, executed runs, and processed output. The scripts calculated average throughput for each flow and computed Jain's Fairness Index to quantitatively evaluate bandwidth sharing fairness. This automated pipeline ensured consistent, reproducible testing across all protocol combinations and RTT conditions.</a:t>
              </a:r>
            </a:p>
            <a:p>
              <a:pPr algn="l" marL="0" indent="0" lvl="0">
                <a:lnSpc>
                  <a:spcPts val="1671"/>
                </a:lnSpc>
                <a:spcBef>
                  <a:spcPct val="0"/>
                </a:spcBef>
              </a:pPr>
            </a:p>
          </p:txBody>
        </p:sp>
      </p:grpSp>
      <p:sp>
        <p:nvSpPr>
          <p:cNvPr name="AutoShape 20" id="20"/>
          <p:cNvSpPr/>
          <p:nvPr/>
        </p:nvSpPr>
        <p:spPr>
          <a:xfrm flipV="true">
            <a:off x="8474640" y="7434030"/>
            <a:ext cx="0" cy="2524793"/>
          </a:xfrm>
          <a:prstGeom prst="line">
            <a:avLst/>
          </a:prstGeom>
          <a:ln cap="flat" w="9525">
            <a:solidFill>
              <a:srgbClr val="304443"/>
            </a:solidFill>
            <a:prstDash val="solid"/>
            <a:headEnd type="none" len="sm" w="sm"/>
            <a:tailEnd type="none" len="sm" w="sm"/>
          </a:ln>
        </p:spPr>
      </p:sp>
      <p:sp>
        <p:nvSpPr>
          <p:cNvPr name="Freeform 21" id="21"/>
          <p:cNvSpPr/>
          <p:nvPr/>
        </p:nvSpPr>
        <p:spPr>
          <a:xfrm flipH="false" flipV="false" rot="0">
            <a:off x="785535" y="16151507"/>
            <a:ext cx="1954735" cy="1362269"/>
          </a:xfrm>
          <a:custGeom>
            <a:avLst/>
            <a:gdLst/>
            <a:ahLst/>
            <a:cxnLst/>
            <a:rect r="r" b="b" t="t" l="l"/>
            <a:pathLst>
              <a:path h="1362269" w="1954735">
                <a:moveTo>
                  <a:pt x="0" y="0"/>
                </a:moveTo>
                <a:lnTo>
                  <a:pt x="1954735" y="0"/>
                </a:lnTo>
                <a:lnTo>
                  <a:pt x="1954735" y="1362269"/>
                </a:lnTo>
                <a:lnTo>
                  <a:pt x="0" y="1362269"/>
                </a:lnTo>
                <a:lnTo>
                  <a:pt x="0" y="0"/>
                </a:lnTo>
                <a:close/>
              </a:path>
            </a:pathLst>
          </a:custGeom>
          <a:blipFill>
            <a:blip r:embed="rId10"/>
            <a:stretch>
              <a:fillRect l="0" t="0" r="0" b="0"/>
            </a:stretch>
          </a:blipFill>
        </p:spPr>
      </p:sp>
      <p:sp>
        <p:nvSpPr>
          <p:cNvPr name="Freeform 22" id="22"/>
          <p:cNvSpPr/>
          <p:nvPr/>
        </p:nvSpPr>
        <p:spPr>
          <a:xfrm flipH="false" flipV="false" rot="0">
            <a:off x="785535" y="14646364"/>
            <a:ext cx="1940085" cy="1362269"/>
          </a:xfrm>
          <a:custGeom>
            <a:avLst/>
            <a:gdLst/>
            <a:ahLst/>
            <a:cxnLst/>
            <a:rect r="r" b="b" t="t" l="l"/>
            <a:pathLst>
              <a:path h="1362269" w="1940085">
                <a:moveTo>
                  <a:pt x="0" y="0"/>
                </a:moveTo>
                <a:lnTo>
                  <a:pt x="1940085" y="0"/>
                </a:lnTo>
                <a:lnTo>
                  <a:pt x="1940085" y="1362268"/>
                </a:lnTo>
                <a:lnTo>
                  <a:pt x="0" y="1362268"/>
                </a:lnTo>
                <a:lnTo>
                  <a:pt x="0" y="0"/>
                </a:lnTo>
                <a:close/>
              </a:path>
            </a:pathLst>
          </a:custGeom>
          <a:blipFill>
            <a:blip r:embed="rId11"/>
            <a:stretch>
              <a:fillRect l="0" t="0" r="0" b="0"/>
            </a:stretch>
          </a:blipFill>
        </p:spPr>
      </p:sp>
      <p:sp>
        <p:nvSpPr>
          <p:cNvPr name="Freeform 23" id="23"/>
          <p:cNvSpPr/>
          <p:nvPr/>
        </p:nvSpPr>
        <p:spPr>
          <a:xfrm flipH="false" flipV="false" rot="0">
            <a:off x="2770036" y="14646364"/>
            <a:ext cx="1978726" cy="1378041"/>
          </a:xfrm>
          <a:custGeom>
            <a:avLst/>
            <a:gdLst/>
            <a:ahLst/>
            <a:cxnLst/>
            <a:rect r="r" b="b" t="t" l="l"/>
            <a:pathLst>
              <a:path h="1378041" w="1978726">
                <a:moveTo>
                  <a:pt x="0" y="0"/>
                </a:moveTo>
                <a:lnTo>
                  <a:pt x="1978725" y="0"/>
                </a:lnTo>
                <a:lnTo>
                  <a:pt x="1978725" y="1378041"/>
                </a:lnTo>
                <a:lnTo>
                  <a:pt x="0" y="1378041"/>
                </a:lnTo>
                <a:lnTo>
                  <a:pt x="0" y="0"/>
                </a:lnTo>
                <a:close/>
              </a:path>
            </a:pathLst>
          </a:custGeom>
          <a:blipFill>
            <a:blip r:embed="rId12"/>
            <a:stretch>
              <a:fillRect l="0" t="0" r="0" b="0"/>
            </a:stretch>
          </a:blipFill>
        </p:spPr>
      </p:sp>
      <p:sp>
        <p:nvSpPr>
          <p:cNvPr name="Freeform 24" id="24"/>
          <p:cNvSpPr/>
          <p:nvPr/>
        </p:nvSpPr>
        <p:spPr>
          <a:xfrm flipH="false" flipV="false" rot="0">
            <a:off x="2797223" y="16151507"/>
            <a:ext cx="1924351" cy="1362269"/>
          </a:xfrm>
          <a:custGeom>
            <a:avLst/>
            <a:gdLst/>
            <a:ahLst/>
            <a:cxnLst/>
            <a:rect r="r" b="b" t="t" l="l"/>
            <a:pathLst>
              <a:path h="1362269" w="1924351">
                <a:moveTo>
                  <a:pt x="0" y="0"/>
                </a:moveTo>
                <a:lnTo>
                  <a:pt x="1924351" y="0"/>
                </a:lnTo>
                <a:lnTo>
                  <a:pt x="1924351" y="1362269"/>
                </a:lnTo>
                <a:lnTo>
                  <a:pt x="0" y="1362269"/>
                </a:lnTo>
                <a:lnTo>
                  <a:pt x="0" y="0"/>
                </a:lnTo>
                <a:close/>
              </a:path>
            </a:pathLst>
          </a:custGeom>
          <a:blipFill>
            <a:blip r:embed="rId13"/>
            <a:stretch>
              <a:fillRect l="0" t="0" r="0" b="0"/>
            </a:stretch>
          </a:blipFill>
        </p:spPr>
      </p:sp>
      <p:sp>
        <p:nvSpPr>
          <p:cNvPr name="Freeform 25" id="25"/>
          <p:cNvSpPr/>
          <p:nvPr/>
        </p:nvSpPr>
        <p:spPr>
          <a:xfrm flipH="false" flipV="false" rot="0">
            <a:off x="9294189" y="12309754"/>
            <a:ext cx="2362209" cy="1656499"/>
          </a:xfrm>
          <a:custGeom>
            <a:avLst/>
            <a:gdLst/>
            <a:ahLst/>
            <a:cxnLst/>
            <a:rect r="r" b="b" t="t" l="l"/>
            <a:pathLst>
              <a:path h="1656499" w="2362209">
                <a:moveTo>
                  <a:pt x="0" y="0"/>
                </a:moveTo>
                <a:lnTo>
                  <a:pt x="2362209" y="0"/>
                </a:lnTo>
                <a:lnTo>
                  <a:pt x="2362209" y="1656500"/>
                </a:lnTo>
                <a:lnTo>
                  <a:pt x="0" y="1656500"/>
                </a:lnTo>
                <a:lnTo>
                  <a:pt x="0" y="0"/>
                </a:lnTo>
                <a:close/>
              </a:path>
            </a:pathLst>
          </a:custGeom>
          <a:blipFill>
            <a:blip r:embed="rId14"/>
            <a:stretch>
              <a:fillRect l="0" t="0" r="0" b="0"/>
            </a:stretch>
          </a:blipFill>
        </p:spPr>
      </p:sp>
      <p:grpSp>
        <p:nvGrpSpPr>
          <p:cNvPr name="Group 26" id="26"/>
          <p:cNvGrpSpPr/>
          <p:nvPr/>
        </p:nvGrpSpPr>
        <p:grpSpPr>
          <a:xfrm rot="0">
            <a:off x="541485" y="4472006"/>
            <a:ext cx="3954013" cy="2064417"/>
            <a:chOff x="0" y="0"/>
            <a:chExt cx="5272017" cy="2752556"/>
          </a:xfrm>
        </p:grpSpPr>
        <p:sp>
          <p:nvSpPr>
            <p:cNvPr name="TextBox 27" id="27"/>
            <p:cNvSpPr txBox="true"/>
            <p:nvPr/>
          </p:nvSpPr>
          <p:spPr>
            <a:xfrm rot="0">
              <a:off x="0" y="-57150"/>
              <a:ext cx="4329223" cy="505150"/>
            </a:xfrm>
            <a:prstGeom prst="rect">
              <a:avLst/>
            </a:prstGeom>
          </p:spPr>
          <p:txBody>
            <a:bodyPr anchor="t" rtlCol="false" tIns="0" lIns="0" bIns="0" rIns="0">
              <a:spAutoFit/>
            </a:bodyPr>
            <a:lstStyle/>
            <a:p>
              <a:pPr algn="l" marL="0" indent="0" lvl="1">
                <a:lnSpc>
                  <a:spcPts val="3086"/>
                </a:lnSpc>
                <a:spcBef>
                  <a:spcPct val="0"/>
                </a:spcBef>
              </a:pPr>
              <a:r>
                <a:rPr lang="en-US" b="true" sz="2204" u="none">
                  <a:solidFill>
                    <a:srgbClr val="304443"/>
                  </a:solidFill>
                  <a:latin typeface="Poppins Medium"/>
                  <a:ea typeface="Poppins Medium"/>
                  <a:cs typeface="Poppins Medium"/>
                  <a:sym typeface="Poppins Medium"/>
                </a:rPr>
                <a:t>INTRODUCTION</a:t>
              </a:r>
            </a:p>
          </p:txBody>
        </p:sp>
        <p:sp>
          <p:nvSpPr>
            <p:cNvPr name="TextBox 28" id="28"/>
            <p:cNvSpPr txBox="true"/>
            <p:nvPr/>
          </p:nvSpPr>
          <p:spPr>
            <a:xfrm rot="0">
              <a:off x="0" y="524425"/>
              <a:ext cx="5272017" cy="2228131"/>
            </a:xfrm>
            <a:prstGeom prst="rect">
              <a:avLst/>
            </a:prstGeom>
          </p:spPr>
          <p:txBody>
            <a:bodyPr anchor="t" rtlCol="false" tIns="0" lIns="0" bIns="0" rIns="0">
              <a:spAutoFit/>
            </a:bodyPr>
            <a:lstStyle/>
            <a:p>
              <a:pPr algn="l" marL="0" indent="0" lvl="0">
                <a:lnSpc>
                  <a:spcPts val="1671"/>
                </a:lnSpc>
                <a:spcBef>
                  <a:spcPct val="0"/>
                </a:spcBef>
              </a:pPr>
              <a:r>
                <a:rPr lang="en-US" b="true" sz="1194">
                  <a:solidFill>
                    <a:srgbClr val="304443"/>
                  </a:solidFill>
                  <a:latin typeface="Poppins Medium"/>
                  <a:ea typeface="Poppins Medium"/>
                  <a:cs typeface="Poppins Medium"/>
                  <a:sym typeface="Poppins Medium"/>
                </a:rPr>
                <a:t>Fairnes</a:t>
              </a:r>
              <a:r>
                <a:rPr lang="en-US" b="true" sz="1194" u="none">
                  <a:solidFill>
                    <a:srgbClr val="304443"/>
                  </a:solidFill>
                  <a:latin typeface="Poppins Medium"/>
                  <a:ea typeface="Poppins Medium"/>
                  <a:cs typeface="Poppins Medium"/>
                  <a:sym typeface="Poppins Medium"/>
                </a:rPr>
                <a:t>s in TCP connections is crucial for ensuring that all users and applications get an equitable share of network bandwidth, preventing any single connection from monopolizing resources and causing congestion collapse. This prevents new protocols from harming existing TCP-based traffic, maintains stability, and ensures that the network remains efficient and reliable for everyone. </a:t>
              </a:r>
            </a:p>
          </p:txBody>
        </p:sp>
      </p:grpSp>
      <p:grpSp>
        <p:nvGrpSpPr>
          <p:cNvPr name="Group 29" id="29"/>
          <p:cNvGrpSpPr/>
          <p:nvPr/>
        </p:nvGrpSpPr>
        <p:grpSpPr>
          <a:xfrm rot="0">
            <a:off x="4832293" y="4525176"/>
            <a:ext cx="3848702" cy="1640625"/>
            <a:chOff x="0" y="0"/>
            <a:chExt cx="5131603" cy="2187500"/>
          </a:xfrm>
        </p:grpSpPr>
        <p:sp>
          <p:nvSpPr>
            <p:cNvPr name="TextBox 30" id="30"/>
            <p:cNvSpPr txBox="true"/>
            <p:nvPr/>
          </p:nvSpPr>
          <p:spPr>
            <a:xfrm rot="0">
              <a:off x="0" y="-57150"/>
              <a:ext cx="3497494" cy="501650"/>
            </a:xfrm>
            <a:prstGeom prst="rect">
              <a:avLst/>
            </a:prstGeom>
          </p:spPr>
          <p:txBody>
            <a:bodyPr anchor="t" rtlCol="false" tIns="0" lIns="0" bIns="0" rIns="0">
              <a:spAutoFit/>
            </a:bodyPr>
            <a:lstStyle/>
            <a:p>
              <a:pPr algn="l" marL="0" indent="0" lvl="1">
                <a:lnSpc>
                  <a:spcPts val="3086"/>
                </a:lnSpc>
                <a:spcBef>
                  <a:spcPct val="0"/>
                </a:spcBef>
              </a:pPr>
              <a:r>
                <a:rPr lang="en-US" b="true" sz="2204" u="none">
                  <a:solidFill>
                    <a:srgbClr val="304443"/>
                  </a:solidFill>
                  <a:latin typeface="Poppins Medium"/>
                  <a:ea typeface="Poppins Medium"/>
                  <a:cs typeface="Poppins Medium"/>
                  <a:sym typeface="Poppins Medium"/>
                </a:rPr>
                <a:t>OBJECTIVE </a:t>
              </a:r>
            </a:p>
          </p:txBody>
        </p:sp>
        <p:sp>
          <p:nvSpPr>
            <p:cNvPr name="TextBox 31" id="31"/>
            <p:cNvSpPr txBox="true"/>
            <p:nvPr/>
          </p:nvSpPr>
          <p:spPr>
            <a:xfrm rot="0">
              <a:off x="0" y="519369"/>
              <a:ext cx="5131603" cy="1668131"/>
            </a:xfrm>
            <a:prstGeom prst="rect">
              <a:avLst/>
            </a:prstGeom>
          </p:spPr>
          <p:txBody>
            <a:bodyPr anchor="t" rtlCol="false" tIns="0" lIns="0" bIns="0" rIns="0">
              <a:spAutoFit/>
            </a:bodyPr>
            <a:lstStyle/>
            <a:p>
              <a:pPr algn="l">
                <a:lnSpc>
                  <a:spcPts val="1671"/>
                </a:lnSpc>
              </a:pPr>
              <a:r>
                <a:rPr lang="en-US" sz="1194" b="true">
                  <a:solidFill>
                    <a:srgbClr val="304443"/>
                  </a:solidFill>
                  <a:latin typeface="Poppins Medium"/>
                  <a:ea typeface="Poppins Medium"/>
                  <a:cs typeface="Poppins Medium"/>
                  <a:sym typeface="Poppins Medium"/>
                </a:rPr>
                <a:t>This</a:t>
              </a:r>
              <a:r>
                <a:rPr lang="en-US" sz="1194" b="true">
                  <a:solidFill>
                    <a:srgbClr val="304443"/>
                  </a:solidFill>
                  <a:latin typeface="Poppins Medium"/>
                  <a:ea typeface="Poppins Medium"/>
                  <a:cs typeface="Poppins Medium"/>
                  <a:sym typeface="Poppins Medium"/>
                </a:rPr>
                <a:t> project aims to study the following TCP connections: Cubic, New-Reno, BBR &amp;Dctcp, in a dumbbell topology with two flows. , focusing on fairness between them in a shared network.</a:t>
              </a:r>
            </a:p>
            <a:p>
              <a:pPr algn="l">
                <a:lnSpc>
                  <a:spcPts val="1671"/>
                </a:lnSpc>
              </a:pPr>
            </a:p>
            <a:p>
              <a:pPr algn="l" marL="0" indent="0" lvl="0">
                <a:lnSpc>
                  <a:spcPts val="1671"/>
                </a:lnSpc>
                <a:spcBef>
                  <a:spcPct val="0"/>
                </a:spcBef>
              </a:pPr>
            </a:p>
          </p:txBody>
        </p:sp>
      </p:grpSp>
      <p:grpSp>
        <p:nvGrpSpPr>
          <p:cNvPr name="Group 32" id="32"/>
          <p:cNvGrpSpPr/>
          <p:nvPr/>
        </p:nvGrpSpPr>
        <p:grpSpPr>
          <a:xfrm rot="0">
            <a:off x="407578" y="17964657"/>
            <a:ext cx="6978376" cy="3105925"/>
            <a:chOff x="0" y="0"/>
            <a:chExt cx="9304501" cy="4141233"/>
          </a:xfrm>
        </p:grpSpPr>
        <p:sp>
          <p:nvSpPr>
            <p:cNvPr name="TextBox 33" id="33"/>
            <p:cNvSpPr txBox="true"/>
            <p:nvPr/>
          </p:nvSpPr>
          <p:spPr>
            <a:xfrm rot="0">
              <a:off x="0" y="-57150"/>
              <a:ext cx="7336073" cy="503183"/>
            </a:xfrm>
            <a:prstGeom prst="rect">
              <a:avLst/>
            </a:prstGeom>
          </p:spPr>
          <p:txBody>
            <a:bodyPr anchor="t" rtlCol="false" tIns="0" lIns="0" bIns="0" rIns="0">
              <a:spAutoFit/>
            </a:bodyPr>
            <a:lstStyle/>
            <a:p>
              <a:pPr algn="l">
                <a:lnSpc>
                  <a:spcPts val="3086"/>
                </a:lnSpc>
              </a:pPr>
              <a:r>
                <a:rPr lang="en-US" b="true" sz="2204" u="none">
                  <a:solidFill>
                    <a:srgbClr val="304443"/>
                  </a:solidFill>
                  <a:latin typeface="Poppins Medium"/>
                  <a:ea typeface="Poppins Medium"/>
                  <a:cs typeface="Poppins Medium"/>
                  <a:sym typeface="Poppins Medium"/>
                </a:rPr>
                <a:t>CONCLUSION</a:t>
              </a:r>
            </a:p>
          </p:txBody>
        </p:sp>
        <p:sp>
          <p:nvSpPr>
            <p:cNvPr name="TextBox 34" id="34"/>
            <p:cNvSpPr txBox="true"/>
            <p:nvPr/>
          </p:nvSpPr>
          <p:spPr>
            <a:xfrm rot="0">
              <a:off x="0" y="520903"/>
              <a:ext cx="9304501" cy="3620331"/>
            </a:xfrm>
            <a:prstGeom prst="rect">
              <a:avLst/>
            </a:prstGeom>
          </p:spPr>
          <p:txBody>
            <a:bodyPr anchor="t" rtlCol="false" tIns="0" lIns="0" bIns="0" rIns="0">
              <a:spAutoFit/>
            </a:bodyPr>
            <a:lstStyle/>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When Dctcp is paired with loss based CCA's -NewReno, Cubic- it captures the bandwidth unrelated to RTT but due to its advanced algorithm dealing with congestion.</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NewReno gets much less throughput when paired with other CCA's so it nearly losses bandwidth every time. </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When BBR has similar RTT to Dctcp and itself it’s protocol friendly. It manages to take appropriate throughput without outperforming the other protocol. But’ with NewReno and Cubic it causes outperformances. </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The Max-Min Fairness principle holds when both protocols are the same and both flows have the same RTT. In other cases, it is difficult to determine, since both flows attempt to fully utilize the available bandwidth, but in practice they do not receive an equal share of it.</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Modern protocols such as BBR and DCTCP are capable of sharing bandwidth efficiently and fairly, even under complex network conditions.</a:t>
              </a:r>
            </a:p>
          </p:txBody>
        </p:sp>
      </p:grpSp>
      <p:grpSp>
        <p:nvGrpSpPr>
          <p:cNvPr name="Group 35" id="35"/>
          <p:cNvGrpSpPr/>
          <p:nvPr/>
        </p:nvGrpSpPr>
        <p:grpSpPr>
          <a:xfrm rot="0">
            <a:off x="735738" y="10319217"/>
            <a:ext cx="6327587" cy="625030"/>
            <a:chOff x="0" y="0"/>
            <a:chExt cx="8436783" cy="833373"/>
          </a:xfrm>
        </p:grpSpPr>
        <p:sp>
          <p:nvSpPr>
            <p:cNvPr name="TextBox 36" id="36"/>
            <p:cNvSpPr txBox="true"/>
            <p:nvPr/>
          </p:nvSpPr>
          <p:spPr>
            <a:xfrm rot="0">
              <a:off x="0" y="-57150"/>
              <a:ext cx="5853814" cy="526615"/>
            </a:xfrm>
            <a:prstGeom prst="rect">
              <a:avLst/>
            </a:prstGeom>
          </p:spPr>
          <p:txBody>
            <a:bodyPr anchor="t" rtlCol="false" tIns="0" lIns="0" bIns="0" rIns="0">
              <a:spAutoFit/>
            </a:bodyPr>
            <a:lstStyle/>
            <a:p>
              <a:pPr algn="l" marL="0" indent="0" lvl="1">
                <a:lnSpc>
                  <a:spcPts val="3259"/>
                </a:lnSpc>
                <a:spcBef>
                  <a:spcPct val="0"/>
                </a:spcBef>
              </a:pPr>
              <a:r>
                <a:rPr lang="en-US" b="true" sz="2328">
                  <a:solidFill>
                    <a:srgbClr val="304443"/>
                  </a:solidFill>
                  <a:latin typeface="Poppins Medium"/>
                  <a:ea typeface="Poppins Medium"/>
                  <a:cs typeface="Poppins Medium"/>
                  <a:sym typeface="Poppins Medium"/>
                </a:rPr>
                <a:t>OBSERVATIONS</a:t>
              </a:r>
            </a:p>
          </p:txBody>
        </p:sp>
        <p:sp>
          <p:nvSpPr>
            <p:cNvPr name="TextBox 37" id="37"/>
            <p:cNvSpPr txBox="true"/>
            <p:nvPr/>
          </p:nvSpPr>
          <p:spPr>
            <a:xfrm rot="0">
              <a:off x="0" y="551788"/>
              <a:ext cx="8436783" cy="281585"/>
            </a:xfrm>
            <a:prstGeom prst="rect">
              <a:avLst/>
            </a:prstGeom>
          </p:spPr>
          <p:txBody>
            <a:bodyPr anchor="t" rtlCol="false" tIns="0" lIns="0" bIns="0" rIns="0">
              <a:spAutoFit/>
            </a:bodyPr>
            <a:lstStyle/>
            <a:p>
              <a:pPr algn="l" marL="0" indent="0" lvl="0">
                <a:lnSpc>
                  <a:spcPts val="1765"/>
                </a:lnSpc>
                <a:spcBef>
                  <a:spcPct val="0"/>
                </a:spcBef>
              </a:pPr>
            </a:p>
          </p:txBody>
        </p:sp>
      </p:grpSp>
      <p:sp>
        <p:nvSpPr>
          <p:cNvPr name="TextBox 38" id="38"/>
          <p:cNvSpPr txBox="true"/>
          <p:nvPr/>
        </p:nvSpPr>
        <p:spPr>
          <a:xfrm rot="0">
            <a:off x="608402" y="2316734"/>
            <a:ext cx="10334003" cy="1838998"/>
          </a:xfrm>
          <a:prstGeom prst="rect">
            <a:avLst/>
          </a:prstGeom>
        </p:spPr>
        <p:txBody>
          <a:bodyPr anchor="t" rtlCol="false" tIns="0" lIns="0" bIns="0" rIns="0">
            <a:spAutoFit/>
          </a:bodyPr>
          <a:lstStyle/>
          <a:p>
            <a:pPr algn="l">
              <a:lnSpc>
                <a:spcPts val="6677"/>
              </a:lnSpc>
            </a:pPr>
            <a:r>
              <a:rPr lang="en-US" b="true" sz="7419">
                <a:solidFill>
                  <a:srgbClr val="304443"/>
                </a:solidFill>
                <a:latin typeface="Poppins Bold"/>
                <a:ea typeface="Poppins Bold"/>
                <a:cs typeface="Poppins Bold"/>
                <a:sym typeface="Poppins Bold"/>
              </a:rPr>
              <a:t>FAINRESS AMONG TCP CONNECTIONS</a:t>
            </a:r>
          </a:p>
        </p:txBody>
      </p:sp>
      <p:sp>
        <p:nvSpPr>
          <p:cNvPr name="TextBox 39" id="39"/>
          <p:cNvSpPr txBox="true"/>
          <p:nvPr/>
        </p:nvSpPr>
        <p:spPr>
          <a:xfrm rot="0">
            <a:off x="9957868" y="3131458"/>
            <a:ext cx="3980638" cy="784044"/>
          </a:xfrm>
          <a:prstGeom prst="rect">
            <a:avLst/>
          </a:prstGeom>
        </p:spPr>
        <p:txBody>
          <a:bodyPr anchor="t" rtlCol="false" tIns="0" lIns="0" bIns="0" rIns="0">
            <a:spAutoFit/>
          </a:bodyPr>
          <a:lstStyle/>
          <a:p>
            <a:pPr algn="l">
              <a:lnSpc>
                <a:spcPts val="2095"/>
              </a:lnSpc>
            </a:pPr>
            <a:r>
              <a:rPr lang="en-US" sz="1496" b="true">
                <a:solidFill>
                  <a:srgbClr val="304443"/>
                </a:solidFill>
                <a:latin typeface="Poppins Medium"/>
                <a:ea typeface="Poppins Medium"/>
                <a:cs typeface="Poppins Medium"/>
                <a:sym typeface="Poppins Medium"/>
              </a:rPr>
              <a:t>Research by Adan Watted Alaa Abomokh &amp;Adan Jbara</a:t>
            </a:r>
          </a:p>
          <a:p>
            <a:pPr algn="l" marL="0" indent="0" lvl="0">
              <a:lnSpc>
                <a:spcPts val="2095"/>
              </a:lnSpc>
              <a:spcBef>
                <a:spcPct val="0"/>
              </a:spcBef>
            </a:pPr>
            <a:r>
              <a:rPr lang="en-US" b="true" sz="1496">
                <a:solidFill>
                  <a:srgbClr val="304443"/>
                </a:solidFill>
                <a:latin typeface="Poppins Medium"/>
                <a:ea typeface="Poppins Medium"/>
                <a:cs typeface="Poppins Medium"/>
                <a:sym typeface="Poppins Medium"/>
              </a:rPr>
              <a:t>Advisor Eran Tavor</a:t>
            </a:r>
          </a:p>
        </p:txBody>
      </p:sp>
      <p:grpSp>
        <p:nvGrpSpPr>
          <p:cNvPr name="Group 40" id="40"/>
          <p:cNvGrpSpPr/>
          <p:nvPr/>
        </p:nvGrpSpPr>
        <p:grpSpPr>
          <a:xfrm rot="0">
            <a:off x="7772645" y="17955132"/>
            <a:ext cx="6982862" cy="2267742"/>
            <a:chOff x="0" y="0"/>
            <a:chExt cx="9310483" cy="3023656"/>
          </a:xfrm>
        </p:grpSpPr>
        <p:sp>
          <p:nvSpPr>
            <p:cNvPr name="TextBox 41" id="41"/>
            <p:cNvSpPr txBox="true"/>
            <p:nvPr/>
          </p:nvSpPr>
          <p:spPr>
            <a:xfrm rot="0">
              <a:off x="0" y="-57150"/>
              <a:ext cx="6460026" cy="501650"/>
            </a:xfrm>
            <a:prstGeom prst="rect">
              <a:avLst/>
            </a:prstGeom>
          </p:spPr>
          <p:txBody>
            <a:bodyPr anchor="t" rtlCol="false" tIns="0" lIns="0" bIns="0" rIns="0">
              <a:spAutoFit/>
            </a:bodyPr>
            <a:lstStyle/>
            <a:p>
              <a:pPr algn="l" marL="0" indent="0" lvl="1">
                <a:lnSpc>
                  <a:spcPts val="3086"/>
                </a:lnSpc>
                <a:spcBef>
                  <a:spcPct val="0"/>
                </a:spcBef>
              </a:pPr>
              <a:r>
                <a:rPr lang="en-US" b="true" sz="2204">
                  <a:solidFill>
                    <a:srgbClr val="304443"/>
                  </a:solidFill>
                  <a:latin typeface="Poppins Medium"/>
                  <a:ea typeface="Poppins Medium"/>
                  <a:cs typeface="Poppins Medium"/>
                  <a:sym typeface="Poppins Medium"/>
                </a:rPr>
                <a:t>ACHIEVMENTS</a:t>
              </a:r>
            </a:p>
          </p:txBody>
        </p:sp>
        <p:sp>
          <p:nvSpPr>
            <p:cNvPr name="TextBox 42" id="42"/>
            <p:cNvSpPr txBox="true"/>
            <p:nvPr/>
          </p:nvSpPr>
          <p:spPr>
            <a:xfrm rot="0">
              <a:off x="0" y="520925"/>
              <a:ext cx="9310483" cy="2502731"/>
            </a:xfrm>
            <a:prstGeom prst="rect">
              <a:avLst/>
            </a:prstGeom>
          </p:spPr>
          <p:txBody>
            <a:bodyPr anchor="t" rtlCol="false" tIns="0" lIns="0" bIns="0" rIns="0">
              <a:spAutoFit/>
            </a:bodyPr>
            <a:lstStyle/>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Gain a solid understanding of TCP congestion control protocols and  their behavior in a bottleneck</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Gained familiarity with simulating topologies on NS-3 </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Simulate and test multiple TCP congestion control protocols on the dumbbell topology.</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Designing scripts to fit our needs and relay on automating simulation runs</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Present data in suitable graphs that help compare protocol performance.</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Evaluate and analyze fairness between TCP connections using different congestion control protocols.</a:t>
              </a:r>
            </a:p>
            <a:p>
              <a:pPr algn="l" marL="0" indent="0" lvl="0">
                <a:lnSpc>
                  <a:spcPts val="1671"/>
                </a:lnSpc>
                <a:spcBef>
                  <a:spcPct val="0"/>
                </a:spcBef>
              </a:pPr>
            </a:p>
          </p:txBody>
        </p:sp>
      </p:grpSp>
      <p:grpSp>
        <p:nvGrpSpPr>
          <p:cNvPr name="Group 43" id="43"/>
          <p:cNvGrpSpPr/>
          <p:nvPr/>
        </p:nvGrpSpPr>
        <p:grpSpPr>
          <a:xfrm rot="0">
            <a:off x="8757195" y="4466529"/>
            <a:ext cx="5308887" cy="1848642"/>
            <a:chOff x="0" y="0"/>
            <a:chExt cx="7078516" cy="2464856"/>
          </a:xfrm>
        </p:grpSpPr>
        <p:sp>
          <p:nvSpPr>
            <p:cNvPr name="TextBox 44" id="44"/>
            <p:cNvSpPr txBox="true"/>
            <p:nvPr/>
          </p:nvSpPr>
          <p:spPr>
            <a:xfrm rot="0">
              <a:off x="0" y="-57150"/>
              <a:ext cx="4911388" cy="501650"/>
            </a:xfrm>
            <a:prstGeom prst="rect">
              <a:avLst/>
            </a:prstGeom>
          </p:spPr>
          <p:txBody>
            <a:bodyPr anchor="t" rtlCol="false" tIns="0" lIns="0" bIns="0" rIns="0">
              <a:spAutoFit/>
            </a:bodyPr>
            <a:lstStyle/>
            <a:p>
              <a:pPr algn="l" marL="0" indent="0" lvl="1">
                <a:lnSpc>
                  <a:spcPts val="3086"/>
                </a:lnSpc>
                <a:spcBef>
                  <a:spcPct val="0"/>
                </a:spcBef>
              </a:pPr>
            </a:p>
          </p:txBody>
        </p:sp>
        <p:sp>
          <p:nvSpPr>
            <p:cNvPr name="TextBox 45" id="45"/>
            <p:cNvSpPr txBox="true"/>
            <p:nvPr/>
          </p:nvSpPr>
          <p:spPr>
            <a:xfrm rot="0">
              <a:off x="0" y="520925"/>
              <a:ext cx="7078516" cy="1943931"/>
            </a:xfrm>
            <a:prstGeom prst="rect">
              <a:avLst/>
            </a:prstGeom>
          </p:spPr>
          <p:txBody>
            <a:bodyPr anchor="t" rtlCol="false" tIns="0" lIns="0" bIns="0" rIns="0">
              <a:spAutoFit/>
            </a:bodyPr>
            <a:lstStyle/>
            <a:p>
              <a:pPr algn="l">
                <a:lnSpc>
                  <a:spcPts val="1671"/>
                </a:lnSpc>
              </a:pPr>
              <a:r>
                <a:rPr lang="en-US" sz="1194" b="true">
                  <a:solidFill>
                    <a:srgbClr val="304443"/>
                  </a:solidFill>
                  <a:latin typeface="Poppins Medium"/>
                  <a:ea typeface="Poppins Medium"/>
                  <a:cs typeface="Poppins Medium"/>
                  <a:sym typeface="Poppins Medium"/>
                </a:rPr>
                <a:t>In our research we focused on two main experiments: </a:t>
              </a:r>
            </a:p>
            <a:p>
              <a:pPr algn="l" marL="257833" indent="-128917" lvl="1">
                <a:lnSpc>
                  <a:spcPts val="1671"/>
                </a:lnSpc>
                <a:buAutoNum type="arabicPeriod" startAt="1"/>
              </a:pPr>
              <a:r>
                <a:rPr lang="en-US" b="true" sz="1194">
                  <a:solidFill>
                    <a:srgbClr val="304443"/>
                  </a:solidFill>
                  <a:latin typeface="Poppins Medium"/>
                  <a:ea typeface="Poppins Medium"/>
                  <a:cs typeface="Poppins Medium"/>
                  <a:sym typeface="Poppins Medium"/>
                </a:rPr>
                <a:t>How do RTT asymmetry and mixing different congestion control protocols affect throughput fairness in a shared bottleneck?</a:t>
              </a:r>
            </a:p>
            <a:p>
              <a:pPr algn="l" marL="257833" indent="-128917" lvl="1">
                <a:lnSpc>
                  <a:spcPts val="1671"/>
                </a:lnSpc>
                <a:buAutoNum type="arabicPeriod" startAt="1"/>
              </a:pPr>
              <a:r>
                <a:rPr lang="en-US" b="true" sz="1194">
                  <a:solidFill>
                    <a:srgbClr val="304443"/>
                  </a:solidFill>
                  <a:latin typeface="Poppins Medium"/>
                  <a:ea typeface="Poppins Medium"/>
                  <a:cs typeface="Poppins Medium"/>
                  <a:sym typeface="Poppins Medium"/>
                </a:rPr>
                <a:t>How do increase in RTT and mixing different congestion control protocols affect throughput fairness in a shared bottleneck (while both flows have the same RTT)?</a:t>
              </a:r>
            </a:p>
            <a:p>
              <a:pPr algn="l" marL="0" indent="0" lvl="0">
                <a:lnSpc>
                  <a:spcPts val="1671"/>
                </a:lnSpc>
                <a:spcBef>
                  <a:spcPct val="0"/>
                </a:spcBef>
              </a:pPr>
            </a:p>
          </p:txBody>
        </p:sp>
      </p:grpSp>
      <p:grpSp>
        <p:nvGrpSpPr>
          <p:cNvPr name="Group 46" id="46"/>
          <p:cNvGrpSpPr/>
          <p:nvPr/>
        </p:nvGrpSpPr>
        <p:grpSpPr>
          <a:xfrm rot="0">
            <a:off x="8680995" y="7334966"/>
            <a:ext cx="6418852" cy="2623857"/>
            <a:chOff x="0" y="0"/>
            <a:chExt cx="8558469" cy="3498476"/>
          </a:xfrm>
        </p:grpSpPr>
        <p:sp>
          <p:nvSpPr>
            <p:cNvPr name="TextBox 47" id="47"/>
            <p:cNvSpPr txBox="true"/>
            <p:nvPr/>
          </p:nvSpPr>
          <p:spPr>
            <a:xfrm rot="0">
              <a:off x="0" y="-57150"/>
              <a:ext cx="6671723" cy="976470"/>
            </a:xfrm>
            <a:prstGeom prst="rect">
              <a:avLst/>
            </a:prstGeom>
          </p:spPr>
          <p:txBody>
            <a:bodyPr anchor="t" rtlCol="false" tIns="0" lIns="0" bIns="0" rIns="0">
              <a:spAutoFit/>
            </a:bodyPr>
            <a:lstStyle/>
            <a:p>
              <a:pPr algn="l" marL="0" indent="0" lvl="1">
                <a:lnSpc>
                  <a:spcPts val="2946"/>
                </a:lnSpc>
                <a:spcBef>
                  <a:spcPct val="0"/>
                </a:spcBef>
              </a:pPr>
              <a:r>
                <a:rPr lang="en-US" b="true" sz="2104">
                  <a:solidFill>
                    <a:srgbClr val="304443"/>
                  </a:solidFill>
                  <a:latin typeface="Poppins Medium"/>
                  <a:ea typeface="Poppins Medium"/>
                  <a:cs typeface="Poppins Medium"/>
                  <a:sym typeface="Poppins Medium"/>
                </a:rPr>
                <a:t>CONGESTION CONTROL PROTOCOLS - OVERVIEW</a:t>
              </a:r>
            </a:p>
          </p:txBody>
        </p:sp>
        <p:sp>
          <p:nvSpPr>
            <p:cNvPr name="TextBox 48" id="48"/>
            <p:cNvSpPr txBox="true"/>
            <p:nvPr/>
          </p:nvSpPr>
          <p:spPr>
            <a:xfrm rot="0">
              <a:off x="0" y="995745"/>
              <a:ext cx="8558469" cy="2502731"/>
            </a:xfrm>
            <a:prstGeom prst="rect">
              <a:avLst/>
            </a:prstGeom>
          </p:spPr>
          <p:txBody>
            <a:bodyPr anchor="t" rtlCol="false" tIns="0" lIns="0" bIns="0" rIns="0">
              <a:spAutoFit/>
            </a:bodyPr>
            <a:lstStyle/>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CUBIC uses packet loss as its signal but responds with a aggressive cubic growth function, enabling it to rapidly reclaim lost bandwidth.</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 NewReno detects congestion upon packet loss and reacts by halving its congestion window before beginning a slow, linear recovery.</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BBR ignores traditional signals like loss and delay, instead using its own model of the network path to proactively pace packets and minimize queueing delay.</a:t>
              </a: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DCTCP relies on Explicit Congestion Notification (ECN) from the network and reduces its sending rate proportionally to the severity of the congestion, ensuring smooth and efficient control.</a:t>
              </a:r>
            </a:p>
          </p:txBody>
        </p:sp>
      </p:grpSp>
      <p:grpSp>
        <p:nvGrpSpPr>
          <p:cNvPr name="Group 49" id="49"/>
          <p:cNvGrpSpPr/>
          <p:nvPr/>
        </p:nvGrpSpPr>
        <p:grpSpPr>
          <a:xfrm rot="0">
            <a:off x="8527890" y="14185329"/>
            <a:ext cx="5767498" cy="1845145"/>
            <a:chOff x="0" y="0"/>
            <a:chExt cx="7689997" cy="2460193"/>
          </a:xfrm>
        </p:grpSpPr>
        <p:sp>
          <p:nvSpPr>
            <p:cNvPr name="TextBox 50" id="50"/>
            <p:cNvSpPr txBox="true"/>
            <p:nvPr/>
          </p:nvSpPr>
          <p:spPr>
            <a:xfrm rot="0">
              <a:off x="0" y="-57150"/>
              <a:ext cx="5953492" cy="498929"/>
            </a:xfrm>
            <a:prstGeom prst="rect">
              <a:avLst/>
            </a:prstGeom>
          </p:spPr>
          <p:txBody>
            <a:bodyPr anchor="t" rtlCol="false" tIns="0" lIns="0" bIns="0" rIns="0">
              <a:spAutoFit/>
            </a:bodyPr>
            <a:lstStyle/>
            <a:p>
              <a:pPr algn="l" marL="0" indent="0" lvl="1">
                <a:lnSpc>
                  <a:spcPts val="3067"/>
                </a:lnSpc>
                <a:spcBef>
                  <a:spcPct val="0"/>
                </a:spcBef>
              </a:pPr>
            </a:p>
          </p:txBody>
        </p:sp>
        <p:sp>
          <p:nvSpPr>
            <p:cNvPr name="TextBox 51" id="51"/>
            <p:cNvSpPr txBox="true"/>
            <p:nvPr/>
          </p:nvSpPr>
          <p:spPr>
            <a:xfrm rot="0">
              <a:off x="0" y="516015"/>
              <a:ext cx="7689997" cy="1944178"/>
            </a:xfrm>
            <a:prstGeom prst="rect">
              <a:avLst/>
            </a:prstGeom>
          </p:spPr>
          <p:txBody>
            <a:bodyPr anchor="t" rtlCol="false" tIns="0" lIns="0" bIns="0" rIns="0">
              <a:spAutoFit/>
            </a:bodyPr>
            <a:lstStyle/>
            <a:p>
              <a:pPr algn="l" marL="256254" indent="-128127" lvl="1">
                <a:lnSpc>
                  <a:spcPts val="1661"/>
                </a:lnSpc>
                <a:buFont typeface="Arial"/>
                <a:buChar char="•"/>
              </a:pPr>
              <a:r>
                <a:rPr lang="en-US" b="true" sz="1186">
                  <a:solidFill>
                    <a:srgbClr val="304443"/>
                  </a:solidFill>
                  <a:latin typeface="Poppins Medium"/>
                  <a:ea typeface="Poppins Medium"/>
                  <a:cs typeface="Poppins Medium"/>
                  <a:sym typeface="Poppins Medium"/>
                </a:rPr>
                <a:t>mixing different protocols when both have the same RTT results in inequality in the network. Although the relationship between the protocols didn’t change, the differences become more aparent in this senario in comparison to experament 1, and we see that protocols with better adjusting congestion window take over the throughput resulting in clear starvation.</a:t>
              </a:r>
            </a:p>
            <a:p>
              <a:pPr algn="l">
                <a:lnSpc>
                  <a:spcPts val="1661"/>
                </a:lnSpc>
              </a:pPr>
            </a:p>
          </p:txBody>
        </p:sp>
      </p:grpSp>
      <p:sp>
        <p:nvSpPr>
          <p:cNvPr name="TextBox 52" id="52"/>
          <p:cNvSpPr txBox="true"/>
          <p:nvPr/>
        </p:nvSpPr>
        <p:spPr>
          <a:xfrm rot="0">
            <a:off x="541485" y="9341355"/>
            <a:ext cx="5829061" cy="418242"/>
          </a:xfrm>
          <a:prstGeom prst="rect">
            <a:avLst/>
          </a:prstGeom>
        </p:spPr>
        <p:txBody>
          <a:bodyPr anchor="t" rtlCol="false" tIns="0" lIns="0" bIns="0" rIns="0">
            <a:spAutoFit/>
          </a:bodyPr>
          <a:lstStyle/>
          <a:p>
            <a:pPr algn="l" marL="0" indent="0" lvl="0">
              <a:lnSpc>
                <a:spcPts val="1671"/>
              </a:lnSpc>
              <a:spcBef>
                <a:spcPct val="0"/>
              </a:spcBef>
            </a:pPr>
            <a:r>
              <a:rPr lang="en-US" b="true" sz="1194">
                <a:solidFill>
                  <a:srgbClr val="304443"/>
                </a:solidFill>
                <a:latin typeface="Poppins Medium"/>
                <a:ea typeface="Poppins Medium"/>
                <a:cs typeface="Poppins Medium"/>
                <a:sym typeface="Poppins Medium"/>
              </a:rPr>
              <a:t> Jain's Fairness Index i</a:t>
            </a:r>
            <a:r>
              <a:rPr lang="en-US" b="true" sz="1194">
                <a:solidFill>
                  <a:srgbClr val="304443"/>
                </a:solidFill>
                <a:latin typeface="Poppins Medium"/>
                <a:ea typeface="Poppins Medium"/>
                <a:cs typeface="Poppins Medium"/>
                <a:sym typeface="Poppins Medium"/>
              </a:rPr>
              <a:t>s a quantitative metric that measures the equality of bandwidth distribution among competing flows. Jain’s Index Formula:</a:t>
            </a:r>
          </a:p>
        </p:txBody>
      </p:sp>
      <p:grpSp>
        <p:nvGrpSpPr>
          <p:cNvPr name="Group 53" id="53"/>
          <p:cNvGrpSpPr/>
          <p:nvPr/>
        </p:nvGrpSpPr>
        <p:grpSpPr>
          <a:xfrm rot="0">
            <a:off x="785535" y="10692000"/>
            <a:ext cx="8403878" cy="3523875"/>
            <a:chOff x="0" y="0"/>
            <a:chExt cx="11205171" cy="4698500"/>
          </a:xfrm>
        </p:grpSpPr>
        <p:sp>
          <p:nvSpPr>
            <p:cNvPr name="TextBox 54" id="54"/>
            <p:cNvSpPr txBox="true"/>
            <p:nvPr/>
          </p:nvSpPr>
          <p:spPr>
            <a:xfrm rot="0">
              <a:off x="0" y="-57150"/>
              <a:ext cx="8674893" cy="501650"/>
            </a:xfrm>
            <a:prstGeom prst="rect">
              <a:avLst/>
            </a:prstGeom>
          </p:spPr>
          <p:txBody>
            <a:bodyPr anchor="t" rtlCol="false" tIns="0" lIns="0" bIns="0" rIns="0">
              <a:spAutoFit/>
            </a:bodyPr>
            <a:lstStyle/>
            <a:p>
              <a:pPr algn="l" marL="0" indent="0" lvl="1">
                <a:lnSpc>
                  <a:spcPts val="3086"/>
                </a:lnSpc>
                <a:spcBef>
                  <a:spcPct val="0"/>
                </a:spcBef>
              </a:pPr>
              <a:r>
                <a:rPr lang="en-US" b="true" sz="2204">
                  <a:solidFill>
                    <a:srgbClr val="304443"/>
                  </a:solidFill>
                  <a:latin typeface="Poppins Medium"/>
                  <a:ea typeface="Poppins Medium"/>
                  <a:cs typeface="Poppins Medium"/>
                  <a:sym typeface="Poppins Medium"/>
                </a:rPr>
                <a:t>ASYMMETRY IN RTT</a:t>
              </a:r>
            </a:p>
          </p:txBody>
        </p:sp>
        <p:sp>
          <p:nvSpPr>
            <p:cNvPr name="TextBox 55" id="55"/>
            <p:cNvSpPr txBox="true"/>
            <p:nvPr/>
          </p:nvSpPr>
          <p:spPr>
            <a:xfrm rot="0">
              <a:off x="0" y="519369"/>
              <a:ext cx="11205171" cy="4179131"/>
            </a:xfrm>
            <a:prstGeom prst="rect">
              <a:avLst/>
            </a:prstGeom>
          </p:spPr>
          <p:txBody>
            <a:bodyPr anchor="t" rtlCol="false" tIns="0" lIns="0" bIns="0" rIns="0">
              <a:spAutoFit/>
            </a:bodyPr>
            <a:lstStyle/>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in the instance where both flows have the same protocol, </a:t>
              </a:r>
            </a:p>
            <a:p>
              <a:pPr algn="l">
                <a:lnSpc>
                  <a:spcPts val="1671"/>
                </a:lnSpc>
              </a:pPr>
              <a:r>
                <a:rPr lang="en-US" sz="1194" b="true">
                  <a:solidFill>
                    <a:srgbClr val="304443"/>
                  </a:solidFill>
                  <a:latin typeface="Poppins Medium"/>
                  <a:ea typeface="Poppins Medium"/>
                  <a:cs typeface="Poppins Medium"/>
                  <a:sym typeface="Poppins Medium"/>
                </a:rPr>
                <a:t>protocols with loss based congestion detection (new reno, cubic) tend to favor low rtt, such that flows with shorter RTT have higher throughput, causing inequality with distrepution, throughput symmetry occurs only near equal RTTs. Jain’s index remains close to 1, showing moderate fairness overall.</a:t>
              </a:r>
            </a:p>
            <a:p>
              <a:pPr algn="l">
                <a:lnSpc>
                  <a:spcPts val="1671"/>
                </a:lnSpc>
              </a:pPr>
              <a:r>
                <a:rPr lang="en-US" sz="1194" b="true">
                  <a:solidFill>
                    <a:srgbClr val="304443"/>
                  </a:solidFill>
                  <a:latin typeface="Poppins Medium"/>
                  <a:ea typeface="Poppins Medium"/>
                  <a:cs typeface="Poppins Medium"/>
                  <a:sym typeface="Poppins Medium"/>
                </a:rPr>
                <a:t>BBR has big diffrences in throughput when one of the flows has low RTT leading to a low jain’s index, but when it reachs 100ms RTT both flows share the bandwidth equally leading to perfect fairness.</a:t>
              </a:r>
            </a:p>
            <a:p>
              <a:pPr algn="l">
                <a:lnSpc>
                  <a:spcPts val="1671"/>
                </a:lnSpc>
              </a:pPr>
              <a:r>
                <a:rPr lang="en-US" sz="1194" b="true">
                  <a:solidFill>
                    <a:srgbClr val="304443"/>
                  </a:solidFill>
                  <a:latin typeface="Poppins Medium"/>
                  <a:ea typeface="Poppins Medium"/>
                  <a:cs typeface="Poppins Medium"/>
                  <a:sym typeface="Poppins Medium"/>
                </a:rPr>
                <a:t>Dctcp shows perfect fairness unrelated to it’s RTT.</a:t>
              </a:r>
            </a:p>
            <a:p>
              <a:pPr algn="l">
                <a:lnSpc>
                  <a:spcPts val="1671"/>
                </a:lnSpc>
              </a:pPr>
            </a:p>
            <a:p>
              <a:pPr algn="l" marL="257833" indent="-128917" lvl="1">
                <a:lnSpc>
                  <a:spcPts val="1671"/>
                </a:lnSpc>
                <a:buFont typeface="Arial"/>
                <a:buChar char="•"/>
              </a:pPr>
              <a:r>
                <a:rPr lang="en-US" b="true" sz="1194">
                  <a:solidFill>
                    <a:srgbClr val="304443"/>
                  </a:solidFill>
                  <a:latin typeface="Poppins Medium"/>
                  <a:ea typeface="Poppins Medium"/>
                  <a:cs typeface="Poppins Medium"/>
                  <a:sym typeface="Poppins Medium"/>
                </a:rPr>
                <a:t>I</a:t>
              </a:r>
              <a:r>
                <a:rPr lang="en-US" b="true" sz="1194">
                  <a:solidFill>
                    <a:srgbClr val="304443"/>
                  </a:solidFill>
                  <a:latin typeface="Poppins Medium"/>
                  <a:ea typeface="Poppins Medium"/>
                  <a:cs typeface="Poppins Medium"/>
                  <a:sym typeface="Poppins Medium"/>
                </a:rPr>
                <a:t>n mixed networks where flow 1 takes constant RTT of 100ms and flow 2 changes relativly: </a:t>
              </a:r>
            </a:p>
            <a:p>
              <a:pPr algn="l">
                <a:lnSpc>
                  <a:spcPts val="1671"/>
                </a:lnSpc>
              </a:pPr>
              <a:r>
                <a:rPr lang="en-US" sz="1194" b="true">
                  <a:solidFill>
                    <a:srgbClr val="304443"/>
                  </a:solidFill>
                  <a:latin typeface="Poppins Medium"/>
                  <a:ea typeface="Poppins Medium"/>
                  <a:cs typeface="Poppins Medium"/>
                  <a:sym typeface="Poppins Medium"/>
                </a:rPr>
                <a:t>D</a:t>
              </a:r>
              <a:r>
                <a:rPr lang="en-US" sz="1194" b="true">
                  <a:solidFill>
                    <a:srgbClr val="304443"/>
                  </a:solidFill>
                  <a:latin typeface="Poppins Medium"/>
                  <a:ea typeface="Poppins Medium"/>
                  <a:cs typeface="Poppins Medium"/>
                  <a:sym typeface="Poppins Medium"/>
                </a:rPr>
                <a:t>ctcp- dominates and takes most of the throughput in the network, exept with BBR where they manage to share the bandwidth fairly.</a:t>
              </a:r>
            </a:p>
            <a:p>
              <a:pPr algn="l">
                <a:lnSpc>
                  <a:spcPts val="1671"/>
                </a:lnSpc>
              </a:pPr>
              <a:r>
                <a:rPr lang="en-US" sz="1194" b="true">
                  <a:solidFill>
                    <a:srgbClr val="304443"/>
                  </a:solidFill>
                  <a:latin typeface="Poppins Medium"/>
                  <a:ea typeface="Poppins Medium"/>
                  <a:cs typeface="Poppins Medium"/>
                  <a:sym typeface="Poppins Medium"/>
                </a:rPr>
                <a:t>Cubic- takes higher throughput when it’s RTT is the </a:t>
              </a:r>
            </a:p>
            <a:p>
              <a:pPr algn="l">
                <a:lnSpc>
                  <a:spcPts val="1671"/>
                </a:lnSpc>
              </a:pPr>
              <a:r>
                <a:rPr lang="en-US" sz="1194" b="true">
                  <a:solidFill>
                    <a:srgbClr val="304443"/>
                  </a:solidFill>
                  <a:latin typeface="Poppins Medium"/>
                  <a:ea typeface="Poppins Medium"/>
                  <a:cs typeface="Poppins Medium"/>
                  <a:sym typeface="Poppins Medium"/>
                </a:rPr>
                <a:t>New Reno- gets starved when paired with other protocols espacialy when it’s RTT is higher than the other flow, due to it’s slow congestion window growth</a:t>
              </a:r>
            </a:p>
            <a:p>
              <a:pPr algn="l" marL="0" indent="0" lvl="0">
                <a:lnSpc>
                  <a:spcPts val="1671"/>
                </a:lnSpc>
                <a:spcBef>
                  <a:spcPct val="0"/>
                </a:spcBef>
              </a:pPr>
              <a:r>
                <a:rPr lang="en-US" b="true" sz="1194">
                  <a:solidFill>
                    <a:srgbClr val="304443"/>
                  </a:solidFill>
                  <a:latin typeface="Poppins Medium"/>
                  <a:ea typeface="Poppins Medium"/>
                  <a:cs typeface="Poppins Medium"/>
                  <a:sym typeface="Poppins Medium"/>
                </a:rPr>
                <a:t>BBR- struggles with low RTT, and performes more efficiently with RTT higher than 100ms.</a:t>
              </a:r>
            </a:p>
          </p:txBody>
        </p:sp>
      </p:grpSp>
      <p:grpSp>
        <p:nvGrpSpPr>
          <p:cNvPr name="Group 56" id="56"/>
          <p:cNvGrpSpPr/>
          <p:nvPr/>
        </p:nvGrpSpPr>
        <p:grpSpPr>
          <a:xfrm rot="0">
            <a:off x="4823166" y="14587350"/>
            <a:ext cx="3277875" cy="1813036"/>
            <a:chOff x="0" y="0"/>
            <a:chExt cx="4370499" cy="2417382"/>
          </a:xfrm>
        </p:grpSpPr>
        <p:sp>
          <p:nvSpPr>
            <p:cNvPr name="TextBox 57" id="57"/>
            <p:cNvSpPr txBox="true"/>
            <p:nvPr/>
          </p:nvSpPr>
          <p:spPr>
            <a:xfrm rot="0">
              <a:off x="0" y="-57150"/>
              <a:ext cx="3383582" cy="1014917"/>
            </a:xfrm>
            <a:prstGeom prst="rect">
              <a:avLst/>
            </a:prstGeom>
          </p:spPr>
          <p:txBody>
            <a:bodyPr anchor="t" rtlCol="false" tIns="0" lIns="0" bIns="0" rIns="0">
              <a:spAutoFit/>
            </a:bodyPr>
            <a:lstStyle/>
            <a:p>
              <a:pPr algn="l" marL="0" indent="0" lvl="1">
                <a:lnSpc>
                  <a:spcPts val="3067"/>
                </a:lnSpc>
                <a:spcBef>
                  <a:spcPct val="0"/>
                </a:spcBef>
              </a:pPr>
              <a:r>
                <a:rPr lang="en-US" b="true" sz="2191">
                  <a:solidFill>
                    <a:srgbClr val="304443"/>
                  </a:solidFill>
                  <a:latin typeface="Poppins Medium"/>
                  <a:ea typeface="Poppins Medium"/>
                  <a:cs typeface="Poppins Medium"/>
                  <a:sym typeface="Poppins Medium"/>
                </a:rPr>
                <a:t>SAME RTT FOR BOTH FLOWS</a:t>
              </a:r>
            </a:p>
          </p:txBody>
        </p:sp>
        <p:sp>
          <p:nvSpPr>
            <p:cNvPr name="TextBox 58" id="58"/>
            <p:cNvSpPr txBox="true"/>
            <p:nvPr/>
          </p:nvSpPr>
          <p:spPr>
            <a:xfrm rot="0">
              <a:off x="0" y="1032003"/>
              <a:ext cx="4370499" cy="1385378"/>
            </a:xfrm>
            <a:prstGeom prst="rect">
              <a:avLst/>
            </a:prstGeom>
          </p:spPr>
          <p:txBody>
            <a:bodyPr anchor="t" rtlCol="false" tIns="0" lIns="0" bIns="0" rIns="0">
              <a:spAutoFit/>
            </a:bodyPr>
            <a:lstStyle/>
            <a:p>
              <a:pPr algn="l" marL="256254" indent="-128127" lvl="1">
                <a:lnSpc>
                  <a:spcPts val="1661"/>
                </a:lnSpc>
                <a:buFont typeface="Arial"/>
                <a:buChar char="•"/>
              </a:pPr>
              <a:r>
                <a:rPr lang="en-US" b="true" sz="1186">
                  <a:solidFill>
                    <a:srgbClr val="304443"/>
                  </a:solidFill>
                  <a:latin typeface="Poppins Medium"/>
                  <a:ea typeface="Poppins Medium"/>
                  <a:cs typeface="Poppins Medium"/>
                  <a:sym typeface="Poppins Medium"/>
                </a:rPr>
                <a:t>In the instances where both flows have the same protocol, we see that  they share the bottleneck link evenly, and Jain’s fairness index stays constant and close to 1. </a:t>
              </a:r>
            </a:p>
          </p:txBody>
        </p:sp>
      </p:grpSp>
      <p:grpSp>
        <p:nvGrpSpPr>
          <p:cNvPr name="Group 59" id="59"/>
          <p:cNvGrpSpPr/>
          <p:nvPr/>
        </p:nvGrpSpPr>
        <p:grpSpPr>
          <a:xfrm rot="0">
            <a:off x="5587422" y="6600921"/>
            <a:ext cx="4370447" cy="486811"/>
            <a:chOff x="0" y="0"/>
            <a:chExt cx="5827262" cy="649082"/>
          </a:xfrm>
        </p:grpSpPr>
        <p:sp>
          <p:nvSpPr>
            <p:cNvPr name="TextBox 60" id="60"/>
            <p:cNvSpPr txBox="true"/>
            <p:nvPr/>
          </p:nvSpPr>
          <p:spPr>
            <a:xfrm rot="0">
              <a:off x="0" y="-47625"/>
              <a:ext cx="4043213" cy="413552"/>
            </a:xfrm>
            <a:prstGeom prst="rect">
              <a:avLst/>
            </a:prstGeom>
          </p:spPr>
          <p:txBody>
            <a:bodyPr anchor="t" rtlCol="false" tIns="0" lIns="0" bIns="0" rIns="0">
              <a:spAutoFit/>
            </a:bodyPr>
            <a:lstStyle/>
            <a:p>
              <a:pPr algn="l" marL="0" indent="0" lvl="1">
                <a:lnSpc>
                  <a:spcPts val="2541"/>
                </a:lnSpc>
                <a:spcBef>
                  <a:spcPct val="0"/>
                </a:spcBef>
              </a:pPr>
            </a:p>
          </p:txBody>
        </p:sp>
        <p:sp>
          <p:nvSpPr>
            <p:cNvPr name="TextBox 61" id="61"/>
            <p:cNvSpPr txBox="true"/>
            <p:nvPr/>
          </p:nvSpPr>
          <p:spPr>
            <a:xfrm rot="0">
              <a:off x="0" y="433316"/>
              <a:ext cx="5827262" cy="215766"/>
            </a:xfrm>
            <a:prstGeom prst="rect">
              <a:avLst/>
            </a:prstGeom>
          </p:spPr>
          <p:txBody>
            <a:bodyPr anchor="t" rtlCol="false" tIns="0" lIns="0" bIns="0" rIns="0">
              <a:spAutoFit/>
            </a:bodyPr>
            <a:lstStyle/>
            <a:p>
              <a:pPr algn="l">
                <a:lnSpc>
                  <a:spcPts val="1376"/>
                </a:lnSpc>
                <a:spcBef>
                  <a:spcPct val="0"/>
                </a:spcBef>
              </a:pPr>
              <a:r>
                <a:rPr lang="en-US" b="true" sz="983">
                  <a:solidFill>
                    <a:srgbClr val="304443"/>
                  </a:solidFill>
                  <a:latin typeface="Poppins Medium"/>
                  <a:ea typeface="Poppins Medium"/>
                  <a:cs typeface="Poppins Medium"/>
                  <a:sym typeface="Poppins Medium"/>
                </a:rPr>
                <a:t>dumbbell topology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DAG2uF-g8FA</dc:identifier>
  <dcterms:modified xsi:type="dcterms:W3CDTF">2011-08-01T06:04:30Z</dcterms:modified>
  <cp:revision>1</cp:revision>
  <dc:title>Fairness Poster</dc:title>
</cp:coreProperties>
</file>